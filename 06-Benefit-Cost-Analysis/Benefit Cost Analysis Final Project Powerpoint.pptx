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73" r:id="rId7"/>
    <p:sldId id="258" r:id="rId8"/>
    <p:sldId id="274" r:id="rId9"/>
    <p:sldId id="275" r:id="rId10"/>
    <p:sldId id="276" r:id="rId11"/>
    <p:sldId id="277" r:id="rId12"/>
    <p:sldId id="278" r:id="rId13"/>
    <p:sldId id="265" r:id="rId14"/>
    <p:sldId id="266" r:id="rId15"/>
    <p:sldId id="267" r:id="rId16"/>
    <p:sldId id="268" r:id="rId17"/>
    <p:sldId id="279" r:id="rId18"/>
    <p:sldId id="281" r:id="rId19"/>
    <p:sldId id="270" r:id="rId20"/>
    <p:sldId id="280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8BC0F3-01F3-6CDC-E636-36AC06FFEE3E}" v="31" dt="2023-11-30T16:32:29.517"/>
    <p1510:client id="{41E47D78-F35E-F8C8-E509-55F7ABF70E4F}" v="36" dt="2023-11-30T20:11:51.134"/>
    <p1510:client id="{5226210D-5187-87E1-D7D5-0767A5ED275B}" v="1" dt="2023-11-30T01:20:59.641"/>
    <p1510:client id="{D5BBE5A8-2205-E0E2-7AB8-B53154FE15AB}" v="6" dt="2023-11-30T19:58:20.553"/>
    <p1510:client id="{E6697C1A-8EBC-42E0-B9E3-82516E04FC06}" v="349" dt="2023-11-30T20:15:27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5AB78A-F54D-475C-81E3-B04D03C942A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A9D759-0CB2-4F96-9DAD-FFACCE166701}">
      <dgm:prSet/>
      <dgm:spPr/>
      <dgm:t>
        <a:bodyPr/>
        <a:lstStyle/>
        <a:p>
          <a:r>
            <a:rPr lang="en-US"/>
            <a:t>1962: The Dayton Company opens the first Target store in Roseville, Minnesota, adopting the Target name to distinguish it as a new discount retailer.</a:t>
          </a:r>
        </a:p>
      </dgm:t>
    </dgm:pt>
    <dgm:pt modelId="{CE741FC3-28BC-4603-9DBF-2B19799C624D}" type="parTrans" cxnId="{9A5D6827-DA0A-4C63-A70B-616F316D1B50}">
      <dgm:prSet/>
      <dgm:spPr/>
      <dgm:t>
        <a:bodyPr/>
        <a:lstStyle/>
        <a:p>
          <a:endParaRPr lang="en-US"/>
        </a:p>
      </dgm:t>
    </dgm:pt>
    <dgm:pt modelId="{E0428CF0-EE22-44B1-9217-2411FEABC23B}" type="sibTrans" cxnId="{9A5D6827-DA0A-4C63-A70B-616F316D1B50}">
      <dgm:prSet/>
      <dgm:spPr/>
      <dgm:t>
        <a:bodyPr/>
        <a:lstStyle/>
        <a:p>
          <a:endParaRPr lang="en-US"/>
        </a:p>
      </dgm:t>
    </dgm:pt>
    <dgm:pt modelId="{219B1F07-6C8E-42D5-8B47-CF771CD08B06}">
      <dgm:prSet/>
      <dgm:spPr/>
      <dgm:t>
        <a:bodyPr/>
        <a:lstStyle/>
        <a:p>
          <a:r>
            <a:rPr lang="en-US"/>
            <a:t>1995: The first </a:t>
          </a:r>
          <a:r>
            <a:rPr lang="en-US" err="1"/>
            <a:t>SuperTarget</a:t>
          </a:r>
          <a:r>
            <a:rPr lang="en-US"/>
            <a:t> store opens in Omaha, Nebraska, and Target.com is launched in 1999.</a:t>
          </a:r>
        </a:p>
      </dgm:t>
    </dgm:pt>
    <dgm:pt modelId="{45AFEA1D-6813-4BB9-9C80-689C298DBCE4}" type="parTrans" cxnId="{22FA4894-3D6E-4A9F-B14F-FEBBBA44EF78}">
      <dgm:prSet/>
      <dgm:spPr/>
      <dgm:t>
        <a:bodyPr/>
        <a:lstStyle/>
        <a:p>
          <a:endParaRPr lang="en-US"/>
        </a:p>
      </dgm:t>
    </dgm:pt>
    <dgm:pt modelId="{C186415E-A0D3-4970-9713-EAD437BC3680}" type="sibTrans" cxnId="{22FA4894-3D6E-4A9F-B14F-FEBBBA44EF78}">
      <dgm:prSet/>
      <dgm:spPr/>
      <dgm:t>
        <a:bodyPr/>
        <a:lstStyle/>
        <a:p>
          <a:endParaRPr lang="en-US"/>
        </a:p>
      </dgm:t>
    </dgm:pt>
    <dgm:pt modelId="{F64C06F9-157D-4B3E-B765-F43E80C4F7DB}">
      <dgm:prSet/>
      <dgm:spPr/>
      <dgm:t>
        <a:bodyPr/>
        <a:lstStyle/>
        <a:p>
          <a:r>
            <a:rPr lang="en-US"/>
            <a:t>2000: Dayton Hudson officially changes its name to Target Corporation.</a:t>
          </a:r>
        </a:p>
      </dgm:t>
    </dgm:pt>
    <dgm:pt modelId="{2167190E-26B9-4420-BDFA-F1EF8B66174B}" type="parTrans" cxnId="{428A7CAA-AD18-491A-ABA1-7A940826F323}">
      <dgm:prSet/>
      <dgm:spPr/>
      <dgm:t>
        <a:bodyPr/>
        <a:lstStyle/>
        <a:p>
          <a:endParaRPr lang="en-US"/>
        </a:p>
      </dgm:t>
    </dgm:pt>
    <dgm:pt modelId="{2D1CC85E-89AC-4AF8-9F4B-1EA3EA4771EC}" type="sibTrans" cxnId="{428A7CAA-AD18-491A-ABA1-7A940826F323}">
      <dgm:prSet/>
      <dgm:spPr/>
      <dgm:t>
        <a:bodyPr/>
        <a:lstStyle/>
        <a:p>
          <a:endParaRPr lang="en-US"/>
        </a:p>
      </dgm:t>
    </dgm:pt>
    <dgm:pt modelId="{52F32C40-D60A-40E6-8CE0-61EBF500CD2F}">
      <dgm:prSet/>
      <dgm:spPr/>
      <dgm:t>
        <a:bodyPr/>
        <a:lstStyle/>
        <a:p>
          <a:r>
            <a:rPr lang="en-US"/>
            <a:t>2005: Target Corporation becomes a major retailing powerhouse with $52.6 billion in revenues from 1,397 stores in 47 states.</a:t>
          </a:r>
        </a:p>
      </dgm:t>
    </dgm:pt>
    <dgm:pt modelId="{0A9DD5D7-5BF8-49E0-A219-CCAE388A3783}" type="parTrans" cxnId="{3E2169C4-C130-4094-A103-CA5B222594E6}">
      <dgm:prSet/>
      <dgm:spPr/>
      <dgm:t>
        <a:bodyPr/>
        <a:lstStyle/>
        <a:p>
          <a:endParaRPr lang="en-US"/>
        </a:p>
      </dgm:t>
    </dgm:pt>
    <dgm:pt modelId="{39A40189-B15C-49E5-A455-50735F5F3970}" type="sibTrans" cxnId="{3E2169C4-C130-4094-A103-CA5B222594E6}">
      <dgm:prSet/>
      <dgm:spPr/>
      <dgm:t>
        <a:bodyPr/>
        <a:lstStyle/>
        <a:p>
          <a:endParaRPr lang="en-US"/>
        </a:p>
      </dgm:t>
    </dgm:pt>
    <dgm:pt modelId="{B2B41D4B-6840-49C0-B491-4215E4CC5960}">
      <dgm:prSet/>
      <dgm:spPr/>
      <dgm:t>
        <a:bodyPr/>
        <a:lstStyle/>
        <a:p>
          <a:r>
            <a:rPr lang="en-US"/>
            <a:t>February 2000: Doug Scovanner becomes the CFO of Target Corporation.</a:t>
          </a:r>
        </a:p>
      </dgm:t>
    </dgm:pt>
    <dgm:pt modelId="{6FC713DA-A182-42CB-8FC7-6EA69E5F4C67}" type="parTrans" cxnId="{577850AE-BA7D-4612-8FF9-5C5F8A673DDC}">
      <dgm:prSet/>
      <dgm:spPr/>
      <dgm:t>
        <a:bodyPr/>
        <a:lstStyle/>
        <a:p>
          <a:endParaRPr lang="en-US"/>
        </a:p>
      </dgm:t>
    </dgm:pt>
    <dgm:pt modelId="{AB14C47D-C269-44B9-BE45-A563275CBA02}" type="sibTrans" cxnId="{577850AE-BA7D-4612-8FF9-5C5F8A673DDC}">
      <dgm:prSet/>
      <dgm:spPr/>
      <dgm:t>
        <a:bodyPr/>
        <a:lstStyle/>
        <a:p>
          <a:endParaRPr lang="en-US"/>
        </a:p>
      </dgm:t>
    </dgm:pt>
    <dgm:pt modelId="{69CF9CD0-BFE6-41A2-A5D7-9630412D5CC3}">
      <dgm:prSet/>
      <dgm:spPr/>
      <dgm:t>
        <a:bodyPr/>
        <a:lstStyle/>
        <a:p>
          <a:r>
            <a:rPr lang="en-US"/>
            <a:t>November 14, 2006: Doug </a:t>
          </a:r>
          <a:r>
            <a:rPr lang="en-US" err="1"/>
            <a:t>Scovanner</a:t>
          </a:r>
          <a:r>
            <a:rPr lang="en-US"/>
            <a:t> prepares for the November meeting of the Capital Expenditure Committee (CEC), reviewing 10 projects representing nearly $300 million in capital-expenditure requests.</a:t>
          </a:r>
        </a:p>
      </dgm:t>
    </dgm:pt>
    <dgm:pt modelId="{A7C64DF1-C769-4473-B708-04F85EDDC436}" type="parTrans" cxnId="{0CBE8FC9-3B8C-4604-AC76-8E6B51705F80}">
      <dgm:prSet/>
      <dgm:spPr/>
      <dgm:t>
        <a:bodyPr/>
        <a:lstStyle/>
        <a:p>
          <a:endParaRPr lang="en-US"/>
        </a:p>
      </dgm:t>
    </dgm:pt>
    <dgm:pt modelId="{666F8F31-993D-4848-9B50-00EFDB5163E9}" type="sibTrans" cxnId="{0CBE8FC9-3B8C-4604-AC76-8E6B51705F80}">
      <dgm:prSet/>
      <dgm:spPr/>
      <dgm:t>
        <a:bodyPr/>
        <a:lstStyle/>
        <a:p>
          <a:endParaRPr lang="en-US"/>
        </a:p>
      </dgm:t>
    </dgm:pt>
    <dgm:pt modelId="{1EE2915A-FB74-4AFE-AE6B-2221C86FBD1E}">
      <dgm:prSet/>
      <dgm:spPr/>
      <dgm:t>
        <a:bodyPr/>
        <a:lstStyle/>
        <a:p>
          <a:r>
            <a:rPr lang="en-US"/>
            <a:t>January 2007: Approaching the fiscal year-end, Target needs to determine capital expenditure plans for future store growth and development.</a:t>
          </a:r>
        </a:p>
      </dgm:t>
    </dgm:pt>
    <dgm:pt modelId="{DF5C11D5-41D5-4E62-A595-2DA8396738C9}" type="parTrans" cxnId="{81F7C765-C85D-418A-88EF-20CD5C94A36F}">
      <dgm:prSet/>
      <dgm:spPr/>
      <dgm:t>
        <a:bodyPr/>
        <a:lstStyle/>
        <a:p>
          <a:endParaRPr lang="en-US"/>
        </a:p>
      </dgm:t>
    </dgm:pt>
    <dgm:pt modelId="{17A530A7-70EF-496D-A001-B64B2E814FD1}" type="sibTrans" cxnId="{81F7C765-C85D-418A-88EF-20CD5C94A36F}">
      <dgm:prSet/>
      <dgm:spPr/>
      <dgm:t>
        <a:bodyPr/>
        <a:lstStyle/>
        <a:p>
          <a:endParaRPr lang="en-US"/>
        </a:p>
      </dgm:t>
    </dgm:pt>
    <dgm:pt modelId="{3D2F0F43-C9EA-466D-88B6-8880BDA73B94}">
      <dgm:prSet/>
      <dgm:spPr/>
      <dgm:t>
        <a:bodyPr/>
        <a:lstStyle/>
        <a:p>
          <a:r>
            <a:rPr lang="en-US"/>
            <a:t>November 2007: Gopher Place, a new P04 store, is scheduled to open in October 2007.</a:t>
          </a:r>
        </a:p>
      </dgm:t>
    </dgm:pt>
    <dgm:pt modelId="{7D849F79-63BA-4DF6-8E30-5F22BC72DD95}" type="parTrans" cxnId="{347D1C61-1BF6-4912-B064-7BDA987C9276}">
      <dgm:prSet/>
      <dgm:spPr/>
      <dgm:t>
        <a:bodyPr/>
        <a:lstStyle/>
        <a:p>
          <a:endParaRPr lang="en-US"/>
        </a:p>
      </dgm:t>
    </dgm:pt>
    <dgm:pt modelId="{04637EBF-3453-4AD9-B9DF-740B41A8D5B1}" type="sibTrans" cxnId="{347D1C61-1BF6-4912-B064-7BDA987C9276}">
      <dgm:prSet/>
      <dgm:spPr/>
      <dgm:t>
        <a:bodyPr/>
        <a:lstStyle/>
        <a:p>
          <a:endParaRPr lang="en-US"/>
        </a:p>
      </dgm:t>
    </dgm:pt>
    <dgm:pt modelId="{AA53D4FD-0946-4464-A786-BF5C01AFA169}">
      <dgm:prSet/>
      <dgm:spPr/>
      <dgm:t>
        <a:bodyPr/>
        <a:lstStyle/>
        <a:p>
          <a:r>
            <a:rPr lang="en-US"/>
            <a:t>March 2007: The Barn, a new P04 store in a small rural area, is scheduled to open.</a:t>
          </a:r>
        </a:p>
      </dgm:t>
    </dgm:pt>
    <dgm:pt modelId="{44128CD2-3218-46E7-A3E9-A0D3FE807C39}" type="parTrans" cxnId="{47B411D9-798E-4C4E-8CFA-6FF7E048ACB2}">
      <dgm:prSet/>
      <dgm:spPr/>
      <dgm:t>
        <a:bodyPr/>
        <a:lstStyle/>
        <a:p>
          <a:endParaRPr lang="en-US"/>
        </a:p>
      </dgm:t>
    </dgm:pt>
    <dgm:pt modelId="{3DC56D28-5DE4-40CD-B115-2A9F26702772}" type="sibTrans" cxnId="{47B411D9-798E-4C4E-8CFA-6FF7E048ACB2}">
      <dgm:prSet/>
      <dgm:spPr/>
      <dgm:t>
        <a:bodyPr/>
        <a:lstStyle/>
        <a:p>
          <a:endParaRPr lang="en-US"/>
        </a:p>
      </dgm:t>
    </dgm:pt>
    <dgm:pt modelId="{202499FE-4509-4856-9363-8628897753AF}">
      <dgm:prSet/>
      <dgm:spPr/>
      <dgm:t>
        <a:bodyPr/>
        <a:lstStyle/>
        <a:p>
          <a:r>
            <a:rPr lang="en-US"/>
            <a:t>October 2007: Goldie's Square, a SuperTarget store, is scheduled to open.</a:t>
          </a:r>
        </a:p>
      </dgm:t>
    </dgm:pt>
    <dgm:pt modelId="{A9783A48-46F8-4D9B-AA9D-63891BF3A91D}" type="parTrans" cxnId="{D9A84C7C-D7C9-4DB0-8EB9-9335A015E073}">
      <dgm:prSet/>
      <dgm:spPr/>
      <dgm:t>
        <a:bodyPr/>
        <a:lstStyle/>
        <a:p>
          <a:endParaRPr lang="en-US"/>
        </a:p>
      </dgm:t>
    </dgm:pt>
    <dgm:pt modelId="{C3B10944-7A39-4CE4-962E-A666AF857F51}" type="sibTrans" cxnId="{D9A84C7C-D7C9-4DB0-8EB9-9335A015E073}">
      <dgm:prSet/>
      <dgm:spPr/>
      <dgm:t>
        <a:bodyPr/>
        <a:lstStyle/>
        <a:p>
          <a:endParaRPr lang="en-US"/>
        </a:p>
      </dgm:t>
    </dgm:pt>
    <dgm:pt modelId="{92723329-23D4-4611-A62E-12CC3497A199}">
      <dgm:prSet/>
      <dgm:spPr/>
      <dgm:t>
        <a:bodyPr/>
        <a:lstStyle/>
        <a:p>
          <a:r>
            <a:rPr lang="en-US"/>
            <a:t>March 2007: Stadium Remodel, a remodel of an existing SuperTarget store, is scheduled to open.</a:t>
          </a:r>
        </a:p>
      </dgm:t>
    </dgm:pt>
    <dgm:pt modelId="{4FA943C5-9157-494F-913C-9DAB197AAB8B}" type="parTrans" cxnId="{1B6BD16F-79D8-4D6A-8C33-D0B79AC91B07}">
      <dgm:prSet/>
      <dgm:spPr/>
      <dgm:t>
        <a:bodyPr/>
        <a:lstStyle/>
        <a:p>
          <a:endParaRPr lang="en-US"/>
        </a:p>
      </dgm:t>
    </dgm:pt>
    <dgm:pt modelId="{08A659AD-5542-4DB6-9106-E53D6BC08FDC}" type="sibTrans" cxnId="{1B6BD16F-79D8-4D6A-8C33-D0B79AC91B07}">
      <dgm:prSet/>
      <dgm:spPr/>
      <dgm:t>
        <a:bodyPr/>
        <a:lstStyle/>
        <a:p>
          <a:endParaRPr lang="en-US"/>
        </a:p>
      </dgm:t>
    </dgm:pt>
    <dgm:pt modelId="{08332AA2-356F-4ED4-8AFD-846D888AE3F2}" type="pres">
      <dgm:prSet presAssocID="{285AB78A-F54D-475C-81E3-B04D03C942AD}" presName="Name0" presStyleCnt="0">
        <dgm:presLayoutVars>
          <dgm:dir/>
          <dgm:resizeHandles val="exact"/>
        </dgm:presLayoutVars>
      </dgm:prSet>
      <dgm:spPr/>
    </dgm:pt>
    <dgm:pt modelId="{5BC51F19-5C3A-4B8A-ACAA-D5C6B8F7F8E3}" type="pres">
      <dgm:prSet presAssocID="{69A9D759-0CB2-4F96-9DAD-FFACCE166701}" presName="node" presStyleLbl="node1" presStyleIdx="0" presStyleCnt="11">
        <dgm:presLayoutVars>
          <dgm:bulletEnabled val="1"/>
        </dgm:presLayoutVars>
      </dgm:prSet>
      <dgm:spPr/>
    </dgm:pt>
    <dgm:pt modelId="{279F9D7B-DD47-408D-BFDB-CA99DAFF0325}" type="pres">
      <dgm:prSet presAssocID="{E0428CF0-EE22-44B1-9217-2411FEABC23B}" presName="sibTrans" presStyleLbl="sibTrans1D1" presStyleIdx="0" presStyleCnt="10"/>
      <dgm:spPr/>
    </dgm:pt>
    <dgm:pt modelId="{BA42F6F4-EF20-4A0A-9665-45C85F781070}" type="pres">
      <dgm:prSet presAssocID="{E0428CF0-EE22-44B1-9217-2411FEABC23B}" presName="connectorText" presStyleLbl="sibTrans1D1" presStyleIdx="0" presStyleCnt="10"/>
      <dgm:spPr/>
    </dgm:pt>
    <dgm:pt modelId="{44ECCE14-1EB9-41CF-8327-4FD3FE2FCA35}" type="pres">
      <dgm:prSet presAssocID="{219B1F07-6C8E-42D5-8B47-CF771CD08B06}" presName="node" presStyleLbl="node1" presStyleIdx="1" presStyleCnt="11">
        <dgm:presLayoutVars>
          <dgm:bulletEnabled val="1"/>
        </dgm:presLayoutVars>
      </dgm:prSet>
      <dgm:spPr/>
    </dgm:pt>
    <dgm:pt modelId="{F85D69F9-93B5-4B69-95EA-40BE90FB1945}" type="pres">
      <dgm:prSet presAssocID="{C186415E-A0D3-4970-9713-EAD437BC3680}" presName="sibTrans" presStyleLbl="sibTrans1D1" presStyleIdx="1" presStyleCnt="10"/>
      <dgm:spPr/>
    </dgm:pt>
    <dgm:pt modelId="{34321EA1-EEF3-4474-BB18-2F78CCF32D86}" type="pres">
      <dgm:prSet presAssocID="{C186415E-A0D3-4970-9713-EAD437BC3680}" presName="connectorText" presStyleLbl="sibTrans1D1" presStyleIdx="1" presStyleCnt="10"/>
      <dgm:spPr/>
    </dgm:pt>
    <dgm:pt modelId="{24FAC15B-4A5B-413B-8B16-D3F60F88142B}" type="pres">
      <dgm:prSet presAssocID="{F64C06F9-157D-4B3E-B765-F43E80C4F7DB}" presName="node" presStyleLbl="node1" presStyleIdx="2" presStyleCnt="11">
        <dgm:presLayoutVars>
          <dgm:bulletEnabled val="1"/>
        </dgm:presLayoutVars>
      </dgm:prSet>
      <dgm:spPr/>
    </dgm:pt>
    <dgm:pt modelId="{AFB3DB73-0D24-4371-98DC-7F5DB60196E9}" type="pres">
      <dgm:prSet presAssocID="{2D1CC85E-89AC-4AF8-9F4B-1EA3EA4771EC}" presName="sibTrans" presStyleLbl="sibTrans1D1" presStyleIdx="2" presStyleCnt="10"/>
      <dgm:spPr/>
    </dgm:pt>
    <dgm:pt modelId="{FA6607BB-A5BC-4F26-B3AC-17574DF6C55F}" type="pres">
      <dgm:prSet presAssocID="{2D1CC85E-89AC-4AF8-9F4B-1EA3EA4771EC}" presName="connectorText" presStyleLbl="sibTrans1D1" presStyleIdx="2" presStyleCnt="10"/>
      <dgm:spPr/>
    </dgm:pt>
    <dgm:pt modelId="{141AA9A4-1531-484D-8043-B175D23CA80E}" type="pres">
      <dgm:prSet presAssocID="{52F32C40-D60A-40E6-8CE0-61EBF500CD2F}" presName="node" presStyleLbl="node1" presStyleIdx="3" presStyleCnt="11">
        <dgm:presLayoutVars>
          <dgm:bulletEnabled val="1"/>
        </dgm:presLayoutVars>
      </dgm:prSet>
      <dgm:spPr/>
    </dgm:pt>
    <dgm:pt modelId="{A6ACB7C8-CF0A-4CAF-861A-830B552F0728}" type="pres">
      <dgm:prSet presAssocID="{39A40189-B15C-49E5-A455-50735F5F3970}" presName="sibTrans" presStyleLbl="sibTrans1D1" presStyleIdx="3" presStyleCnt="10"/>
      <dgm:spPr/>
    </dgm:pt>
    <dgm:pt modelId="{9F94F870-2493-47F4-A044-2D1FAC0FEA4F}" type="pres">
      <dgm:prSet presAssocID="{39A40189-B15C-49E5-A455-50735F5F3970}" presName="connectorText" presStyleLbl="sibTrans1D1" presStyleIdx="3" presStyleCnt="10"/>
      <dgm:spPr/>
    </dgm:pt>
    <dgm:pt modelId="{374BF183-30D4-4538-8DD3-94DBE0FD2C00}" type="pres">
      <dgm:prSet presAssocID="{B2B41D4B-6840-49C0-B491-4215E4CC5960}" presName="node" presStyleLbl="node1" presStyleIdx="4" presStyleCnt="11">
        <dgm:presLayoutVars>
          <dgm:bulletEnabled val="1"/>
        </dgm:presLayoutVars>
      </dgm:prSet>
      <dgm:spPr/>
    </dgm:pt>
    <dgm:pt modelId="{FEDBE16F-84C0-4CEE-AD11-8ED506B8218A}" type="pres">
      <dgm:prSet presAssocID="{AB14C47D-C269-44B9-BE45-A563275CBA02}" presName="sibTrans" presStyleLbl="sibTrans1D1" presStyleIdx="4" presStyleCnt="10"/>
      <dgm:spPr/>
    </dgm:pt>
    <dgm:pt modelId="{2BD9490D-23ED-4A5E-861D-5B323112A7CF}" type="pres">
      <dgm:prSet presAssocID="{AB14C47D-C269-44B9-BE45-A563275CBA02}" presName="connectorText" presStyleLbl="sibTrans1D1" presStyleIdx="4" presStyleCnt="10"/>
      <dgm:spPr/>
    </dgm:pt>
    <dgm:pt modelId="{F3088EE5-F472-4C15-B61C-CC3DFEC09A31}" type="pres">
      <dgm:prSet presAssocID="{69CF9CD0-BFE6-41A2-A5D7-9630412D5CC3}" presName="node" presStyleLbl="node1" presStyleIdx="5" presStyleCnt="11" custScaleY="116037">
        <dgm:presLayoutVars>
          <dgm:bulletEnabled val="1"/>
        </dgm:presLayoutVars>
      </dgm:prSet>
      <dgm:spPr/>
    </dgm:pt>
    <dgm:pt modelId="{30D76600-53CB-4193-9CBB-257865F50BC5}" type="pres">
      <dgm:prSet presAssocID="{666F8F31-993D-4848-9B50-00EFDB5163E9}" presName="sibTrans" presStyleLbl="sibTrans1D1" presStyleIdx="5" presStyleCnt="10"/>
      <dgm:spPr/>
    </dgm:pt>
    <dgm:pt modelId="{466B1BDC-33E7-4B49-B928-5E491748C3B6}" type="pres">
      <dgm:prSet presAssocID="{666F8F31-993D-4848-9B50-00EFDB5163E9}" presName="connectorText" presStyleLbl="sibTrans1D1" presStyleIdx="5" presStyleCnt="10"/>
      <dgm:spPr/>
    </dgm:pt>
    <dgm:pt modelId="{72119F26-BB02-41CD-AE2C-5498681B2855}" type="pres">
      <dgm:prSet presAssocID="{1EE2915A-FB74-4AFE-AE6B-2221C86FBD1E}" presName="node" presStyleLbl="node1" presStyleIdx="6" presStyleCnt="11">
        <dgm:presLayoutVars>
          <dgm:bulletEnabled val="1"/>
        </dgm:presLayoutVars>
      </dgm:prSet>
      <dgm:spPr/>
    </dgm:pt>
    <dgm:pt modelId="{CC580DB7-F795-458C-AE59-EB350CDE44D6}" type="pres">
      <dgm:prSet presAssocID="{17A530A7-70EF-496D-A001-B64B2E814FD1}" presName="sibTrans" presStyleLbl="sibTrans1D1" presStyleIdx="6" presStyleCnt="10"/>
      <dgm:spPr/>
    </dgm:pt>
    <dgm:pt modelId="{591A2FD1-07A3-4ECD-A290-0101A9C9CC88}" type="pres">
      <dgm:prSet presAssocID="{17A530A7-70EF-496D-A001-B64B2E814FD1}" presName="connectorText" presStyleLbl="sibTrans1D1" presStyleIdx="6" presStyleCnt="10"/>
      <dgm:spPr/>
    </dgm:pt>
    <dgm:pt modelId="{F27662DF-8A14-406D-938E-A5BBD1370375}" type="pres">
      <dgm:prSet presAssocID="{3D2F0F43-C9EA-466D-88B6-8880BDA73B94}" presName="node" presStyleLbl="node1" presStyleIdx="7" presStyleCnt="11">
        <dgm:presLayoutVars>
          <dgm:bulletEnabled val="1"/>
        </dgm:presLayoutVars>
      </dgm:prSet>
      <dgm:spPr/>
    </dgm:pt>
    <dgm:pt modelId="{EA0918B0-5A38-4EDF-B8E2-49B8DD535223}" type="pres">
      <dgm:prSet presAssocID="{04637EBF-3453-4AD9-B9DF-740B41A8D5B1}" presName="sibTrans" presStyleLbl="sibTrans1D1" presStyleIdx="7" presStyleCnt="10"/>
      <dgm:spPr/>
    </dgm:pt>
    <dgm:pt modelId="{C531CDBC-FD34-4C4F-8D96-964C0E76FE7B}" type="pres">
      <dgm:prSet presAssocID="{04637EBF-3453-4AD9-B9DF-740B41A8D5B1}" presName="connectorText" presStyleLbl="sibTrans1D1" presStyleIdx="7" presStyleCnt="10"/>
      <dgm:spPr/>
    </dgm:pt>
    <dgm:pt modelId="{831666C5-4BC0-4569-8451-9113AB38C6B4}" type="pres">
      <dgm:prSet presAssocID="{AA53D4FD-0946-4464-A786-BF5C01AFA169}" presName="node" presStyleLbl="node1" presStyleIdx="8" presStyleCnt="11">
        <dgm:presLayoutVars>
          <dgm:bulletEnabled val="1"/>
        </dgm:presLayoutVars>
      </dgm:prSet>
      <dgm:spPr/>
    </dgm:pt>
    <dgm:pt modelId="{817A6125-6318-4A33-B0C5-4BC539932A80}" type="pres">
      <dgm:prSet presAssocID="{3DC56D28-5DE4-40CD-B115-2A9F26702772}" presName="sibTrans" presStyleLbl="sibTrans1D1" presStyleIdx="8" presStyleCnt="10"/>
      <dgm:spPr/>
    </dgm:pt>
    <dgm:pt modelId="{43AB18D4-8580-4C19-ACFB-EB23B12B9A6A}" type="pres">
      <dgm:prSet presAssocID="{3DC56D28-5DE4-40CD-B115-2A9F26702772}" presName="connectorText" presStyleLbl="sibTrans1D1" presStyleIdx="8" presStyleCnt="10"/>
      <dgm:spPr/>
    </dgm:pt>
    <dgm:pt modelId="{1ADDA68D-AA8D-4AF6-9256-31F3C7A77BC7}" type="pres">
      <dgm:prSet presAssocID="{202499FE-4509-4856-9363-8628897753AF}" presName="node" presStyleLbl="node1" presStyleIdx="9" presStyleCnt="11">
        <dgm:presLayoutVars>
          <dgm:bulletEnabled val="1"/>
        </dgm:presLayoutVars>
      </dgm:prSet>
      <dgm:spPr/>
    </dgm:pt>
    <dgm:pt modelId="{5BACDE55-3E67-4418-A432-32EC7007B6F3}" type="pres">
      <dgm:prSet presAssocID="{C3B10944-7A39-4CE4-962E-A666AF857F51}" presName="sibTrans" presStyleLbl="sibTrans1D1" presStyleIdx="9" presStyleCnt="10"/>
      <dgm:spPr/>
    </dgm:pt>
    <dgm:pt modelId="{BBF78B3A-5E6A-49F7-9E58-C51DA58F3280}" type="pres">
      <dgm:prSet presAssocID="{C3B10944-7A39-4CE4-962E-A666AF857F51}" presName="connectorText" presStyleLbl="sibTrans1D1" presStyleIdx="9" presStyleCnt="10"/>
      <dgm:spPr/>
    </dgm:pt>
    <dgm:pt modelId="{78D911D6-D406-4268-AE95-6B3ACD1B5403}" type="pres">
      <dgm:prSet presAssocID="{92723329-23D4-4611-A62E-12CC3497A199}" presName="node" presStyleLbl="node1" presStyleIdx="10" presStyleCnt="11">
        <dgm:presLayoutVars>
          <dgm:bulletEnabled val="1"/>
        </dgm:presLayoutVars>
      </dgm:prSet>
      <dgm:spPr/>
    </dgm:pt>
  </dgm:ptLst>
  <dgm:cxnLst>
    <dgm:cxn modelId="{E2551B00-133E-4AE9-B9F0-29F3C46EF8B7}" type="presOf" srcId="{C3B10944-7A39-4CE4-962E-A666AF857F51}" destId="{BBF78B3A-5E6A-49F7-9E58-C51DA58F3280}" srcOrd="1" destOrd="0" presId="urn:microsoft.com/office/officeart/2016/7/layout/RepeatingBendingProcessNew"/>
    <dgm:cxn modelId="{DFE51F05-C71C-466D-9EFD-7C7AF47C571F}" type="presOf" srcId="{3D2F0F43-C9EA-466D-88B6-8880BDA73B94}" destId="{F27662DF-8A14-406D-938E-A5BBD1370375}" srcOrd="0" destOrd="0" presId="urn:microsoft.com/office/officeart/2016/7/layout/RepeatingBendingProcessNew"/>
    <dgm:cxn modelId="{C6FF7A0B-1937-4E4F-B64A-F94C227697BF}" type="presOf" srcId="{666F8F31-993D-4848-9B50-00EFDB5163E9}" destId="{466B1BDC-33E7-4B49-B928-5E491748C3B6}" srcOrd="1" destOrd="0" presId="urn:microsoft.com/office/officeart/2016/7/layout/RepeatingBendingProcessNew"/>
    <dgm:cxn modelId="{6FA60213-C217-46E6-9ECD-FF32477C2E12}" type="presOf" srcId="{285AB78A-F54D-475C-81E3-B04D03C942AD}" destId="{08332AA2-356F-4ED4-8AFD-846D888AE3F2}" srcOrd="0" destOrd="0" presId="urn:microsoft.com/office/officeart/2016/7/layout/RepeatingBendingProcessNew"/>
    <dgm:cxn modelId="{4D705224-CB2D-435C-8974-5628B218DE6C}" type="presOf" srcId="{92723329-23D4-4611-A62E-12CC3497A199}" destId="{78D911D6-D406-4268-AE95-6B3ACD1B5403}" srcOrd="0" destOrd="0" presId="urn:microsoft.com/office/officeart/2016/7/layout/RepeatingBendingProcessNew"/>
    <dgm:cxn modelId="{627CB426-01F1-412A-9ED9-694D2F673A6F}" type="presOf" srcId="{2D1CC85E-89AC-4AF8-9F4B-1EA3EA4771EC}" destId="{FA6607BB-A5BC-4F26-B3AC-17574DF6C55F}" srcOrd="1" destOrd="0" presId="urn:microsoft.com/office/officeart/2016/7/layout/RepeatingBendingProcessNew"/>
    <dgm:cxn modelId="{9A5D6827-DA0A-4C63-A70B-616F316D1B50}" srcId="{285AB78A-F54D-475C-81E3-B04D03C942AD}" destId="{69A9D759-0CB2-4F96-9DAD-FFACCE166701}" srcOrd="0" destOrd="0" parTransId="{CE741FC3-28BC-4603-9DBF-2B19799C624D}" sibTransId="{E0428CF0-EE22-44B1-9217-2411FEABC23B}"/>
    <dgm:cxn modelId="{1B6DBF29-C803-4B1F-B5E8-EC8DAC5540E8}" type="presOf" srcId="{E0428CF0-EE22-44B1-9217-2411FEABC23B}" destId="{279F9D7B-DD47-408D-BFDB-CA99DAFF0325}" srcOrd="0" destOrd="0" presId="urn:microsoft.com/office/officeart/2016/7/layout/RepeatingBendingProcessNew"/>
    <dgm:cxn modelId="{A7EB0234-9D53-4C2C-BF8B-F1A186172D0A}" type="presOf" srcId="{AB14C47D-C269-44B9-BE45-A563275CBA02}" destId="{2BD9490D-23ED-4A5E-861D-5B323112A7CF}" srcOrd="1" destOrd="0" presId="urn:microsoft.com/office/officeart/2016/7/layout/RepeatingBendingProcessNew"/>
    <dgm:cxn modelId="{1E379A5C-9C35-4BD8-A0D0-533E2010BECF}" type="presOf" srcId="{69CF9CD0-BFE6-41A2-A5D7-9630412D5CC3}" destId="{F3088EE5-F472-4C15-B61C-CC3DFEC09A31}" srcOrd="0" destOrd="0" presId="urn:microsoft.com/office/officeart/2016/7/layout/RepeatingBendingProcessNew"/>
    <dgm:cxn modelId="{347D1C61-1BF6-4912-B064-7BDA987C9276}" srcId="{285AB78A-F54D-475C-81E3-B04D03C942AD}" destId="{3D2F0F43-C9EA-466D-88B6-8880BDA73B94}" srcOrd="7" destOrd="0" parTransId="{7D849F79-63BA-4DF6-8E30-5F22BC72DD95}" sibTransId="{04637EBF-3453-4AD9-B9DF-740B41A8D5B1}"/>
    <dgm:cxn modelId="{92D18B63-D0DF-4885-A742-BB0A82B9DEF2}" type="presOf" srcId="{04637EBF-3453-4AD9-B9DF-740B41A8D5B1}" destId="{EA0918B0-5A38-4EDF-B8E2-49B8DD535223}" srcOrd="0" destOrd="0" presId="urn:microsoft.com/office/officeart/2016/7/layout/RepeatingBendingProcessNew"/>
    <dgm:cxn modelId="{81F7C765-C85D-418A-88EF-20CD5C94A36F}" srcId="{285AB78A-F54D-475C-81E3-B04D03C942AD}" destId="{1EE2915A-FB74-4AFE-AE6B-2221C86FBD1E}" srcOrd="6" destOrd="0" parTransId="{DF5C11D5-41D5-4E62-A595-2DA8396738C9}" sibTransId="{17A530A7-70EF-496D-A001-B64B2E814FD1}"/>
    <dgm:cxn modelId="{3DA7B549-CD6D-4FEF-8525-775692BE3B9D}" type="presOf" srcId="{1EE2915A-FB74-4AFE-AE6B-2221C86FBD1E}" destId="{72119F26-BB02-41CD-AE2C-5498681B2855}" srcOrd="0" destOrd="0" presId="urn:microsoft.com/office/officeart/2016/7/layout/RepeatingBendingProcessNew"/>
    <dgm:cxn modelId="{CC76C969-2214-473D-853F-61745E1AC8BC}" type="presOf" srcId="{39A40189-B15C-49E5-A455-50735F5F3970}" destId="{A6ACB7C8-CF0A-4CAF-861A-830B552F0728}" srcOrd="0" destOrd="0" presId="urn:microsoft.com/office/officeart/2016/7/layout/RepeatingBendingProcessNew"/>
    <dgm:cxn modelId="{4E1CFB6B-FB2C-4637-B9CE-6745AF8D4E2F}" type="presOf" srcId="{3DC56D28-5DE4-40CD-B115-2A9F26702772}" destId="{43AB18D4-8580-4C19-ACFB-EB23B12B9A6A}" srcOrd="1" destOrd="0" presId="urn:microsoft.com/office/officeart/2016/7/layout/RepeatingBendingProcessNew"/>
    <dgm:cxn modelId="{5EED454F-55F3-4BC7-959C-248A5CA293AC}" type="presOf" srcId="{C186415E-A0D3-4970-9713-EAD437BC3680}" destId="{F85D69F9-93B5-4B69-95EA-40BE90FB1945}" srcOrd="0" destOrd="0" presId="urn:microsoft.com/office/officeart/2016/7/layout/RepeatingBendingProcessNew"/>
    <dgm:cxn modelId="{1B6BD16F-79D8-4D6A-8C33-D0B79AC91B07}" srcId="{285AB78A-F54D-475C-81E3-B04D03C942AD}" destId="{92723329-23D4-4611-A62E-12CC3497A199}" srcOrd="10" destOrd="0" parTransId="{4FA943C5-9157-494F-913C-9DAB197AAB8B}" sibTransId="{08A659AD-5542-4DB6-9106-E53D6BC08FDC}"/>
    <dgm:cxn modelId="{ABD56671-A6EE-4106-AE2E-B63DB92FA2F3}" type="presOf" srcId="{219B1F07-6C8E-42D5-8B47-CF771CD08B06}" destId="{44ECCE14-1EB9-41CF-8327-4FD3FE2FCA35}" srcOrd="0" destOrd="0" presId="urn:microsoft.com/office/officeart/2016/7/layout/RepeatingBendingProcessNew"/>
    <dgm:cxn modelId="{0B8FEF51-D71A-4E37-8C4E-B8D8B9EED774}" type="presOf" srcId="{AA53D4FD-0946-4464-A786-BF5C01AFA169}" destId="{831666C5-4BC0-4569-8451-9113AB38C6B4}" srcOrd="0" destOrd="0" presId="urn:microsoft.com/office/officeart/2016/7/layout/RepeatingBendingProcessNew"/>
    <dgm:cxn modelId="{55308459-724D-486B-95D1-42D756905174}" type="presOf" srcId="{17A530A7-70EF-496D-A001-B64B2E814FD1}" destId="{CC580DB7-F795-458C-AE59-EB350CDE44D6}" srcOrd="0" destOrd="0" presId="urn:microsoft.com/office/officeart/2016/7/layout/RepeatingBendingProcessNew"/>
    <dgm:cxn modelId="{D9A84C7C-D7C9-4DB0-8EB9-9335A015E073}" srcId="{285AB78A-F54D-475C-81E3-B04D03C942AD}" destId="{202499FE-4509-4856-9363-8628897753AF}" srcOrd="9" destOrd="0" parTransId="{A9783A48-46F8-4D9B-AA9D-63891BF3A91D}" sibTransId="{C3B10944-7A39-4CE4-962E-A666AF857F51}"/>
    <dgm:cxn modelId="{9763108C-1B44-48BF-918B-6384A6F11210}" type="presOf" srcId="{202499FE-4509-4856-9363-8628897753AF}" destId="{1ADDA68D-AA8D-4AF6-9256-31F3C7A77BC7}" srcOrd="0" destOrd="0" presId="urn:microsoft.com/office/officeart/2016/7/layout/RepeatingBendingProcessNew"/>
    <dgm:cxn modelId="{22FA4894-3D6E-4A9F-B14F-FEBBBA44EF78}" srcId="{285AB78A-F54D-475C-81E3-B04D03C942AD}" destId="{219B1F07-6C8E-42D5-8B47-CF771CD08B06}" srcOrd="1" destOrd="0" parTransId="{45AFEA1D-6813-4BB9-9C80-689C298DBCE4}" sibTransId="{C186415E-A0D3-4970-9713-EAD437BC3680}"/>
    <dgm:cxn modelId="{365DF694-AD49-4D1D-B3D9-F2A7F6468015}" type="presOf" srcId="{17A530A7-70EF-496D-A001-B64B2E814FD1}" destId="{591A2FD1-07A3-4ECD-A290-0101A9C9CC88}" srcOrd="1" destOrd="0" presId="urn:microsoft.com/office/officeart/2016/7/layout/RepeatingBendingProcessNew"/>
    <dgm:cxn modelId="{C4409F97-6514-4C75-84A8-22361822E2DA}" type="presOf" srcId="{C3B10944-7A39-4CE4-962E-A666AF857F51}" destId="{5BACDE55-3E67-4418-A432-32EC7007B6F3}" srcOrd="0" destOrd="0" presId="urn:microsoft.com/office/officeart/2016/7/layout/RepeatingBendingProcessNew"/>
    <dgm:cxn modelId="{C79FC399-5132-4978-8A3F-3B45EE710BB3}" type="presOf" srcId="{F64C06F9-157D-4B3E-B765-F43E80C4F7DB}" destId="{24FAC15B-4A5B-413B-8B16-D3F60F88142B}" srcOrd="0" destOrd="0" presId="urn:microsoft.com/office/officeart/2016/7/layout/RepeatingBendingProcessNew"/>
    <dgm:cxn modelId="{8A1F719A-0630-4C4A-96D7-8B73E440B784}" type="presOf" srcId="{B2B41D4B-6840-49C0-B491-4215E4CC5960}" destId="{374BF183-30D4-4538-8DD3-94DBE0FD2C00}" srcOrd="0" destOrd="0" presId="urn:microsoft.com/office/officeart/2016/7/layout/RepeatingBendingProcessNew"/>
    <dgm:cxn modelId="{C4201CA6-49AC-4FA2-BEC0-65F953BD18D3}" type="presOf" srcId="{39A40189-B15C-49E5-A455-50735F5F3970}" destId="{9F94F870-2493-47F4-A044-2D1FAC0FEA4F}" srcOrd="1" destOrd="0" presId="urn:microsoft.com/office/officeart/2016/7/layout/RepeatingBendingProcessNew"/>
    <dgm:cxn modelId="{4450ECA7-895F-4F18-BEB7-D6165545DC22}" type="presOf" srcId="{52F32C40-D60A-40E6-8CE0-61EBF500CD2F}" destId="{141AA9A4-1531-484D-8043-B175D23CA80E}" srcOrd="0" destOrd="0" presId="urn:microsoft.com/office/officeart/2016/7/layout/RepeatingBendingProcessNew"/>
    <dgm:cxn modelId="{428A7CAA-AD18-491A-ABA1-7A940826F323}" srcId="{285AB78A-F54D-475C-81E3-B04D03C942AD}" destId="{F64C06F9-157D-4B3E-B765-F43E80C4F7DB}" srcOrd="2" destOrd="0" parTransId="{2167190E-26B9-4420-BDFA-F1EF8B66174B}" sibTransId="{2D1CC85E-89AC-4AF8-9F4B-1EA3EA4771EC}"/>
    <dgm:cxn modelId="{577850AE-BA7D-4612-8FF9-5C5F8A673DDC}" srcId="{285AB78A-F54D-475C-81E3-B04D03C942AD}" destId="{B2B41D4B-6840-49C0-B491-4215E4CC5960}" srcOrd="4" destOrd="0" parTransId="{6FC713DA-A182-42CB-8FC7-6EA69E5F4C67}" sibTransId="{AB14C47D-C269-44B9-BE45-A563275CBA02}"/>
    <dgm:cxn modelId="{F7E279AE-6CEE-4051-8E39-36DE74974DEC}" type="presOf" srcId="{3DC56D28-5DE4-40CD-B115-2A9F26702772}" destId="{817A6125-6318-4A33-B0C5-4BC539932A80}" srcOrd="0" destOrd="0" presId="urn:microsoft.com/office/officeart/2016/7/layout/RepeatingBendingProcessNew"/>
    <dgm:cxn modelId="{3E2169C4-C130-4094-A103-CA5B222594E6}" srcId="{285AB78A-F54D-475C-81E3-B04D03C942AD}" destId="{52F32C40-D60A-40E6-8CE0-61EBF500CD2F}" srcOrd="3" destOrd="0" parTransId="{0A9DD5D7-5BF8-49E0-A219-CCAE388A3783}" sibTransId="{39A40189-B15C-49E5-A455-50735F5F3970}"/>
    <dgm:cxn modelId="{1C0F28C8-A9BA-4C10-BF8A-DEE7D11CB8BF}" type="presOf" srcId="{AB14C47D-C269-44B9-BE45-A563275CBA02}" destId="{FEDBE16F-84C0-4CEE-AD11-8ED506B8218A}" srcOrd="0" destOrd="0" presId="urn:microsoft.com/office/officeart/2016/7/layout/RepeatingBendingProcessNew"/>
    <dgm:cxn modelId="{5FBD8EC9-CA54-45B4-8F41-12CF8391F6D2}" type="presOf" srcId="{69A9D759-0CB2-4F96-9DAD-FFACCE166701}" destId="{5BC51F19-5C3A-4B8A-ACAA-D5C6B8F7F8E3}" srcOrd="0" destOrd="0" presId="urn:microsoft.com/office/officeart/2016/7/layout/RepeatingBendingProcessNew"/>
    <dgm:cxn modelId="{0CBE8FC9-3B8C-4604-AC76-8E6B51705F80}" srcId="{285AB78A-F54D-475C-81E3-B04D03C942AD}" destId="{69CF9CD0-BFE6-41A2-A5D7-9630412D5CC3}" srcOrd="5" destOrd="0" parTransId="{A7C64DF1-C769-4473-B708-04F85EDDC436}" sibTransId="{666F8F31-993D-4848-9B50-00EFDB5163E9}"/>
    <dgm:cxn modelId="{47B411D9-798E-4C4E-8CFA-6FF7E048ACB2}" srcId="{285AB78A-F54D-475C-81E3-B04D03C942AD}" destId="{AA53D4FD-0946-4464-A786-BF5C01AFA169}" srcOrd="8" destOrd="0" parTransId="{44128CD2-3218-46E7-A3E9-A0D3FE807C39}" sibTransId="{3DC56D28-5DE4-40CD-B115-2A9F26702772}"/>
    <dgm:cxn modelId="{43C111DA-1289-4075-84DC-2FFA377E1D8E}" type="presOf" srcId="{2D1CC85E-89AC-4AF8-9F4B-1EA3EA4771EC}" destId="{AFB3DB73-0D24-4371-98DC-7F5DB60196E9}" srcOrd="0" destOrd="0" presId="urn:microsoft.com/office/officeart/2016/7/layout/RepeatingBendingProcessNew"/>
    <dgm:cxn modelId="{978A36E5-E28C-47E4-BD96-C3986C37A287}" type="presOf" srcId="{04637EBF-3453-4AD9-B9DF-740B41A8D5B1}" destId="{C531CDBC-FD34-4C4F-8D96-964C0E76FE7B}" srcOrd="1" destOrd="0" presId="urn:microsoft.com/office/officeart/2016/7/layout/RepeatingBendingProcessNew"/>
    <dgm:cxn modelId="{C03A21FA-8009-49E1-86A1-EC3888C081A6}" type="presOf" srcId="{666F8F31-993D-4848-9B50-00EFDB5163E9}" destId="{30D76600-53CB-4193-9CBB-257865F50BC5}" srcOrd="0" destOrd="0" presId="urn:microsoft.com/office/officeart/2016/7/layout/RepeatingBendingProcessNew"/>
    <dgm:cxn modelId="{39AB11FB-113E-43B8-942F-66F426CFC06D}" type="presOf" srcId="{E0428CF0-EE22-44B1-9217-2411FEABC23B}" destId="{BA42F6F4-EF20-4A0A-9665-45C85F781070}" srcOrd="1" destOrd="0" presId="urn:microsoft.com/office/officeart/2016/7/layout/RepeatingBendingProcessNew"/>
    <dgm:cxn modelId="{B3CE0BFE-B2F6-42C3-8ADA-3A3AC85C3977}" type="presOf" srcId="{C186415E-A0D3-4970-9713-EAD437BC3680}" destId="{34321EA1-EEF3-4474-BB18-2F78CCF32D86}" srcOrd="1" destOrd="0" presId="urn:microsoft.com/office/officeart/2016/7/layout/RepeatingBendingProcessNew"/>
    <dgm:cxn modelId="{1D93FA74-98A6-4925-83F4-62B5C031037F}" type="presParOf" srcId="{08332AA2-356F-4ED4-8AFD-846D888AE3F2}" destId="{5BC51F19-5C3A-4B8A-ACAA-D5C6B8F7F8E3}" srcOrd="0" destOrd="0" presId="urn:microsoft.com/office/officeart/2016/7/layout/RepeatingBendingProcessNew"/>
    <dgm:cxn modelId="{50FD32F7-3414-4953-8FBE-E9B939F1B046}" type="presParOf" srcId="{08332AA2-356F-4ED4-8AFD-846D888AE3F2}" destId="{279F9D7B-DD47-408D-BFDB-CA99DAFF0325}" srcOrd="1" destOrd="0" presId="urn:microsoft.com/office/officeart/2016/7/layout/RepeatingBendingProcessNew"/>
    <dgm:cxn modelId="{1BBC39E7-1847-4CDB-A497-607ECD3130C4}" type="presParOf" srcId="{279F9D7B-DD47-408D-BFDB-CA99DAFF0325}" destId="{BA42F6F4-EF20-4A0A-9665-45C85F781070}" srcOrd="0" destOrd="0" presId="urn:microsoft.com/office/officeart/2016/7/layout/RepeatingBendingProcessNew"/>
    <dgm:cxn modelId="{EC96F7A4-2425-473D-8C95-F483822197F9}" type="presParOf" srcId="{08332AA2-356F-4ED4-8AFD-846D888AE3F2}" destId="{44ECCE14-1EB9-41CF-8327-4FD3FE2FCA35}" srcOrd="2" destOrd="0" presId="urn:microsoft.com/office/officeart/2016/7/layout/RepeatingBendingProcessNew"/>
    <dgm:cxn modelId="{284C363B-D057-490F-A3B6-71432D72AC24}" type="presParOf" srcId="{08332AA2-356F-4ED4-8AFD-846D888AE3F2}" destId="{F85D69F9-93B5-4B69-95EA-40BE90FB1945}" srcOrd="3" destOrd="0" presId="urn:microsoft.com/office/officeart/2016/7/layout/RepeatingBendingProcessNew"/>
    <dgm:cxn modelId="{5BD200B1-AF71-4CB3-A3FE-B9DE80C75829}" type="presParOf" srcId="{F85D69F9-93B5-4B69-95EA-40BE90FB1945}" destId="{34321EA1-EEF3-4474-BB18-2F78CCF32D86}" srcOrd="0" destOrd="0" presId="urn:microsoft.com/office/officeart/2016/7/layout/RepeatingBendingProcessNew"/>
    <dgm:cxn modelId="{36CA6C81-B674-404C-99BE-EE23EBA3B484}" type="presParOf" srcId="{08332AA2-356F-4ED4-8AFD-846D888AE3F2}" destId="{24FAC15B-4A5B-413B-8B16-D3F60F88142B}" srcOrd="4" destOrd="0" presId="urn:microsoft.com/office/officeart/2016/7/layout/RepeatingBendingProcessNew"/>
    <dgm:cxn modelId="{71C7E5D3-363D-48E9-AC4D-D88B18653922}" type="presParOf" srcId="{08332AA2-356F-4ED4-8AFD-846D888AE3F2}" destId="{AFB3DB73-0D24-4371-98DC-7F5DB60196E9}" srcOrd="5" destOrd="0" presId="urn:microsoft.com/office/officeart/2016/7/layout/RepeatingBendingProcessNew"/>
    <dgm:cxn modelId="{A19BD1CC-760A-465D-AE3E-CA1D6C1AD2B1}" type="presParOf" srcId="{AFB3DB73-0D24-4371-98DC-7F5DB60196E9}" destId="{FA6607BB-A5BC-4F26-B3AC-17574DF6C55F}" srcOrd="0" destOrd="0" presId="urn:microsoft.com/office/officeart/2016/7/layout/RepeatingBendingProcessNew"/>
    <dgm:cxn modelId="{D69D5387-573B-46CF-8CFB-4B244B413303}" type="presParOf" srcId="{08332AA2-356F-4ED4-8AFD-846D888AE3F2}" destId="{141AA9A4-1531-484D-8043-B175D23CA80E}" srcOrd="6" destOrd="0" presId="urn:microsoft.com/office/officeart/2016/7/layout/RepeatingBendingProcessNew"/>
    <dgm:cxn modelId="{11C57DF8-D8DB-463F-995C-8F4A83AB749E}" type="presParOf" srcId="{08332AA2-356F-4ED4-8AFD-846D888AE3F2}" destId="{A6ACB7C8-CF0A-4CAF-861A-830B552F0728}" srcOrd="7" destOrd="0" presId="urn:microsoft.com/office/officeart/2016/7/layout/RepeatingBendingProcessNew"/>
    <dgm:cxn modelId="{499B0090-2077-450A-B067-51C8EA378C06}" type="presParOf" srcId="{A6ACB7C8-CF0A-4CAF-861A-830B552F0728}" destId="{9F94F870-2493-47F4-A044-2D1FAC0FEA4F}" srcOrd="0" destOrd="0" presId="urn:microsoft.com/office/officeart/2016/7/layout/RepeatingBendingProcessNew"/>
    <dgm:cxn modelId="{E0DDFDD4-E0BF-4FC8-8998-9926C15A1304}" type="presParOf" srcId="{08332AA2-356F-4ED4-8AFD-846D888AE3F2}" destId="{374BF183-30D4-4538-8DD3-94DBE0FD2C00}" srcOrd="8" destOrd="0" presId="urn:microsoft.com/office/officeart/2016/7/layout/RepeatingBendingProcessNew"/>
    <dgm:cxn modelId="{9DA814EF-1052-4B1C-BD6B-DDE546377AA9}" type="presParOf" srcId="{08332AA2-356F-4ED4-8AFD-846D888AE3F2}" destId="{FEDBE16F-84C0-4CEE-AD11-8ED506B8218A}" srcOrd="9" destOrd="0" presId="urn:microsoft.com/office/officeart/2016/7/layout/RepeatingBendingProcessNew"/>
    <dgm:cxn modelId="{476D0C68-348D-4E17-99F3-6FA005D9946A}" type="presParOf" srcId="{FEDBE16F-84C0-4CEE-AD11-8ED506B8218A}" destId="{2BD9490D-23ED-4A5E-861D-5B323112A7CF}" srcOrd="0" destOrd="0" presId="urn:microsoft.com/office/officeart/2016/7/layout/RepeatingBendingProcessNew"/>
    <dgm:cxn modelId="{46498419-835F-494D-B431-0A043ABB53F5}" type="presParOf" srcId="{08332AA2-356F-4ED4-8AFD-846D888AE3F2}" destId="{F3088EE5-F472-4C15-B61C-CC3DFEC09A31}" srcOrd="10" destOrd="0" presId="urn:microsoft.com/office/officeart/2016/7/layout/RepeatingBendingProcessNew"/>
    <dgm:cxn modelId="{768F90FA-234B-4251-8B0D-B60E2535623D}" type="presParOf" srcId="{08332AA2-356F-4ED4-8AFD-846D888AE3F2}" destId="{30D76600-53CB-4193-9CBB-257865F50BC5}" srcOrd="11" destOrd="0" presId="urn:microsoft.com/office/officeart/2016/7/layout/RepeatingBendingProcessNew"/>
    <dgm:cxn modelId="{5D472A04-58DD-40DA-8580-BBBFDDA5BCEA}" type="presParOf" srcId="{30D76600-53CB-4193-9CBB-257865F50BC5}" destId="{466B1BDC-33E7-4B49-B928-5E491748C3B6}" srcOrd="0" destOrd="0" presId="urn:microsoft.com/office/officeart/2016/7/layout/RepeatingBendingProcessNew"/>
    <dgm:cxn modelId="{E249DC5C-1965-485E-B759-11150757721A}" type="presParOf" srcId="{08332AA2-356F-4ED4-8AFD-846D888AE3F2}" destId="{72119F26-BB02-41CD-AE2C-5498681B2855}" srcOrd="12" destOrd="0" presId="urn:microsoft.com/office/officeart/2016/7/layout/RepeatingBendingProcessNew"/>
    <dgm:cxn modelId="{82594CF3-7F2E-4F93-840B-894F6BF95B49}" type="presParOf" srcId="{08332AA2-356F-4ED4-8AFD-846D888AE3F2}" destId="{CC580DB7-F795-458C-AE59-EB350CDE44D6}" srcOrd="13" destOrd="0" presId="urn:microsoft.com/office/officeart/2016/7/layout/RepeatingBendingProcessNew"/>
    <dgm:cxn modelId="{EE09ADD9-33B0-407A-BB78-348C8935D380}" type="presParOf" srcId="{CC580DB7-F795-458C-AE59-EB350CDE44D6}" destId="{591A2FD1-07A3-4ECD-A290-0101A9C9CC88}" srcOrd="0" destOrd="0" presId="urn:microsoft.com/office/officeart/2016/7/layout/RepeatingBendingProcessNew"/>
    <dgm:cxn modelId="{5E91120F-C66D-427D-8AD8-B2A777FBD4AF}" type="presParOf" srcId="{08332AA2-356F-4ED4-8AFD-846D888AE3F2}" destId="{F27662DF-8A14-406D-938E-A5BBD1370375}" srcOrd="14" destOrd="0" presId="urn:microsoft.com/office/officeart/2016/7/layout/RepeatingBendingProcessNew"/>
    <dgm:cxn modelId="{BA5C34C4-EBA8-43AC-916D-EB9851585A84}" type="presParOf" srcId="{08332AA2-356F-4ED4-8AFD-846D888AE3F2}" destId="{EA0918B0-5A38-4EDF-B8E2-49B8DD535223}" srcOrd="15" destOrd="0" presId="urn:microsoft.com/office/officeart/2016/7/layout/RepeatingBendingProcessNew"/>
    <dgm:cxn modelId="{89FFDBA7-8AE9-4AE7-B3B1-32ECFB9CCDB9}" type="presParOf" srcId="{EA0918B0-5A38-4EDF-B8E2-49B8DD535223}" destId="{C531CDBC-FD34-4C4F-8D96-964C0E76FE7B}" srcOrd="0" destOrd="0" presId="urn:microsoft.com/office/officeart/2016/7/layout/RepeatingBendingProcessNew"/>
    <dgm:cxn modelId="{E825AED6-8A38-429E-9FB1-19D7A0B43A0E}" type="presParOf" srcId="{08332AA2-356F-4ED4-8AFD-846D888AE3F2}" destId="{831666C5-4BC0-4569-8451-9113AB38C6B4}" srcOrd="16" destOrd="0" presId="urn:microsoft.com/office/officeart/2016/7/layout/RepeatingBendingProcessNew"/>
    <dgm:cxn modelId="{7A4C21AD-4148-4BDF-A80D-A9CFB163A128}" type="presParOf" srcId="{08332AA2-356F-4ED4-8AFD-846D888AE3F2}" destId="{817A6125-6318-4A33-B0C5-4BC539932A80}" srcOrd="17" destOrd="0" presId="urn:microsoft.com/office/officeart/2016/7/layout/RepeatingBendingProcessNew"/>
    <dgm:cxn modelId="{FCC89D6A-62B9-4A52-9EF0-8F5D1E1530D7}" type="presParOf" srcId="{817A6125-6318-4A33-B0C5-4BC539932A80}" destId="{43AB18D4-8580-4C19-ACFB-EB23B12B9A6A}" srcOrd="0" destOrd="0" presId="urn:microsoft.com/office/officeart/2016/7/layout/RepeatingBendingProcessNew"/>
    <dgm:cxn modelId="{326A17C3-9C0D-43A2-8D7D-4C71A0477C99}" type="presParOf" srcId="{08332AA2-356F-4ED4-8AFD-846D888AE3F2}" destId="{1ADDA68D-AA8D-4AF6-9256-31F3C7A77BC7}" srcOrd="18" destOrd="0" presId="urn:microsoft.com/office/officeart/2016/7/layout/RepeatingBendingProcessNew"/>
    <dgm:cxn modelId="{9E91E998-3CB1-4B92-8FF7-D9B1D4B3DC5E}" type="presParOf" srcId="{08332AA2-356F-4ED4-8AFD-846D888AE3F2}" destId="{5BACDE55-3E67-4418-A432-32EC7007B6F3}" srcOrd="19" destOrd="0" presId="urn:microsoft.com/office/officeart/2016/7/layout/RepeatingBendingProcessNew"/>
    <dgm:cxn modelId="{12F4D7D3-4AC0-493F-8725-360C60D9BC86}" type="presParOf" srcId="{5BACDE55-3E67-4418-A432-32EC7007B6F3}" destId="{BBF78B3A-5E6A-49F7-9E58-C51DA58F3280}" srcOrd="0" destOrd="0" presId="urn:microsoft.com/office/officeart/2016/7/layout/RepeatingBendingProcessNew"/>
    <dgm:cxn modelId="{954DCAD8-4106-4543-A281-A2A606CA9175}" type="presParOf" srcId="{08332AA2-356F-4ED4-8AFD-846D888AE3F2}" destId="{78D911D6-D406-4268-AE95-6B3ACD1B5403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F9D7B-DD47-408D-BFDB-CA99DAFF0325}">
      <dsp:nvSpPr>
        <dsp:cNvPr id="0" name=""/>
        <dsp:cNvSpPr/>
      </dsp:nvSpPr>
      <dsp:spPr>
        <a:xfrm>
          <a:off x="2152576" y="805676"/>
          <a:ext cx="4633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31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71885" y="848924"/>
        <a:ext cx="24695" cy="4943"/>
      </dsp:txXfrm>
    </dsp:sp>
    <dsp:sp modelId="{5BC51F19-5C3A-4B8A-ACAA-D5C6B8F7F8E3}">
      <dsp:nvSpPr>
        <dsp:cNvPr id="0" name=""/>
        <dsp:cNvSpPr/>
      </dsp:nvSpPr>
      <dsp:spPr>
        <a:xfrm>
          <a:off x="6929" y="207162"/>
          <a:ext cx="2147447" cy="12884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27" tIns="110454" rIns="105227" bIns="11045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1962: The Dayton Company opens the first Target store in Roseville, Minnesota, adopting the Target name to distinguish it as a new discount retailer.</a:t>
          </a:r>
        </a:p>
      </dsp:txBody>
      <dsp:txXfrm>
        <a:off x="6929" y="207162"/>
        <a:ext cx="2147447" cy="1288468"/>
      </dsp:txXfrm>
    </dsp:sp>
    <dsp:sp modelId="{F85D69F9-93B5-4B69-95EA-40BE90FB1945}">
      <dsp:nvSpPr>
        <dsp:cNvPr id="0" name=""/>
        <dsp:cNvSpPr/>
      </dsp:nvSpPr>
      <dsp:spPr>
        <a:xfrm>
          <a:off x="4793937" y="805676"/>
          <a:ext cx="4633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31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13245" y="848924"/>
        <a:ext cx="24695" cy="4943"/>
      </dsp:txXfrm>
    </dsp:sp>
    <dsp:sp modelId="{44ECCE14-1EB9-41CF-8327-4FD3FE2FCA35}">
      <dsp:nvSpPr>
        <dsp:cNvPr id="0" name=""/>
        <dsp:cNvSpPr/>
      </dsp:nvSpPr>
      <dsp:spPr>
        <a:xfrm>
          <a:off x="2648289" y="207162"/>
          <a:ext cx="2147447" cy="12884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27" tIns="110454" rIns="105227" bIns="11045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1995: The first </a:t>
          </a:r>
          <a:r>
            <a:rPr lang="en-US" sz="1200" kern="1200" err="1"/>
            <a:t>SuperTarget</a:t>
          </a:r>
          <a:r>
            <a:rPr lang="en-US" sz="1200" kern="1200"/>
            <a:t> store opens in Omaha, Nebraska, and Target.com is launched in 1999.</a:t>
          </a:r>
        </a:p>
      </dsp:txBody>
      <dsp:txXfrm>
        <a:off x="2648289" y="207162"/>
        <a:ext cx="2147447" cy="1288468"/>
      </dsp:txXfrm>
    </dsp:sp>
    <dsp:sp modelId="{AFB3DB73-0D24-4371-98DC-7F5DB60196E9}">
      <dsp:nvSpPr>
        <dsp:cNvPr id="0" name=""/>
        <dsp:cNvSpPr/>
      </dsp:nvSpPr>
      <dsp:spPr>
        <a:xfrm>
          <a:off x="7435297" y="805676"/>
          <a:ext cx="4633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31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654606" y="848924"/>
        <a:ext cx="24695" cy="4943"/>
      </dsp:txXfrm>
    </dsp:sp>
    <dsp:sp modelId="{24FAC15B-4A5B-413B-8B16-D3F60F88142B}">
      <dsp:nvSpPr>
        <dsp:cNvPr id="0" name=""/>
        <dsp:cNvSpPr/>
      </dsp:nvSpPr>
      <dsp:spPr>
        <a:xfrm>
          <a:off x="5289649" y="207162"/>
          <a:ext cx="2147447" cy="12884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27" tIns="110454" rIns="105227" bIns="11045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2000: Dayton Hudson officially changes its name to Target Corporation.</a:t>
          </a:r>
        </a:p>
      </dsp:txBody>
      <dsp:txXfrm>
        <a:off x="5289649" y="207162"/>
        <a:ext cx="2147447" cy="1288468"/>
      </dsp:txXfrm>
    </dsp:sp>
    <dsp:sp modelId="{A6ACB7C8-CF0A-4CAF-861A-830B552F0728}">
      <dsp:nvSpPr>
        <dsp:cNvPr id="0" name=""/>
        <dsp:cNvSpPr/>
      </dsp:nvSpPr>
      <dsp:spPr>
        <a:xfrm>
          <a:off x="1080652" y="1493830"/>
          <a:ext cx="7924081" cy="566628"/>
        </a:xfrm>
        <a:custGeom>
          <a:avLst/>
          <a:gdLst/>
          <a:ahLst/>
          <a:cxnLst/>
          <a:rect l="0" t="0" r="0" b="0"/>
          <a:pathLst>
            <a:path>
              <a:moveTo>
                <a:pt x="7924081" y="0"/>
              </a:moveTo>
              <a:lnTo>
                <a:pt x="7924081" y="300414"/>
              </a:lnTo>
              <a:lnTo>
                <a:pt x="0" y="300414"/>
              </a:lnTo>
              <a:lnTo>
                <a:pt x="0" y="566628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44029" y="1774672"/>
        <a:ext cx="397327" cy="4943"/>
      </dsp:txXfrm>
    </dsp:sp>
    <dsp:sp modelId="{141AA9A4-1531-484D-8043-B175D23CA80E}">
      <dsp:nvSpPr>
        <dsp:cNvPr id="0" name=""/>
        <dsp:cNvSpPr/>
      </dsp:nvSpPr>
      <dsp:spPr>
        <a:xfrm>
          <a:off x="7931010" y="207162"/>
          <a:ext cx="2147447" cy="12884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27" tIns="110454" rIns="105227" bIns="11045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2005: Target Corporation becomes a major retailing powerhouse with $52.6 billion in revenues from 1,397 stores in 47 states.</a:t>
          </a:r>
        </a:p>
      </dsp:txBody>
      <dsp:txXfrm>
        <a:off x="7931010" y="207162"/>
        <a:ext cx="2147447" cy="1288468"/>
      </dsp:txXfrm>
    </dsp:sp>
    <dsp:sp modelId="{FEDBE16F-84C0-4CEE-AD11-8ED506B8218A}">
      <dsp:nvSpPr>
        <dsp:cNvPr id="0" name=""/>
        <dsp:cNvSpPr/>
      </dsp:nvSpPr>
      <dsp:spPr>
        <a:xfrm>
          <a:off x="2152576" y="2691373"/>
          <a:ext cx="4633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31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71885" y="2734621"/>
        <a:ext cx="24695" cy="4943"/>
      </dsp:txXfrm>
    </dsp:sp>
    <dsp:sp modelId="{374BF183-30D4-4538-8DD3-94DBE0FD2C00}">
      <dsp:nvSpPr>
        <dsp:cNvPr id="0" name=""/>
        <dsp:cNvSpPr/>
      </dsp:nvSpPr>
      <dsp:spPr>
        <a:xfrm>
          <a:off x="6929" y="2092859"/>
          <a:ext cx="2147447" cy="12884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27" tIns="110454" rIns="105227" bIns="11045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February 2000: Doug Scovanner becomes the CFO of Target Corporation.</a:t>
          </a:r>
        </a:p>
      </dsp:txBody>
      <dsp:txXfrm>
        <a:off x="6929" y="2092859"/>
        <a:ext cx="2147447" cy="1288468"/>
      </dsp:txXfrm>
    </dsp:sp>
    <dsp:sp modelId="{30D76600-53CB-4193-9CBB-257865F50BC5}">
      <dsp:nvSpPr>
        <dsp:cNvPr id="0" name=""/>
        <dsp:cNvSpPr/>
      </dsp:nvSpPr>
      <dsp:spPr>
        <a:xfrm>
          <a:off x="4793937" y="2691373"/>
          <a:ext cx="4633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31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13245" y="2734621"/>
        <a:ext cx="24695" cy="4943"/>
      </dsp:txXfrm>
    </dsp:sp>
    <dsp:sp modelId="{F3088EE5-F472-4C15-B61C-CC3DFEC09A31}">
      <dsp:nvSpPr>
        <dsp:cNvPr id="0" name=""/>
        <dsp:cNvSpPr/>
      </dsp:nvSpPr>
      <dsp:spPr>
        <a:xfrm>
          <a:off x="2648289" y="1989543"/>
          <a:ext cx="2147447" cy="14951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27" tIns="110454" rIns="105227" bIns="11045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November 14, 2006: Doug </a:t>
          </a:r>
          <a:r>
            <a:rPr lang="en-US" sz="1200" kern="1200" err="1"/>
            <a:t>Scovanner</a:t>
          </a:r>
          <a:r>
            <a:rPr lang="en-US" sz="1200" kern="1200"/>
            <a:t> prepares for the November meeting of the Capital Expenditure Committee (CEC), reviewing 10 projects representing nearly $300 million in capital-expenditure requests.</a:t>
          </a:r>
        </a:p>
      </dsp:txBody>
      <dsp:txXfrm>
        <a:off x="2648289" y="1989543"/>
        <a:ext cx="2147447" cy="1495100"/>
      </dsp:txXfrm>
    </dsp:sp>
    <dsp:sp modelId="{CC580DB7-F795-458C-AE59-EB350CDE44D6}">
      <dsp:nvSpPr>
        <dsp:cNvPr id="0" name=""/>
        <dsp:cNvSpPr/>
      </dsp:nvSpPr>
      <dsp:spPr>
        <a:xfrm>
          <a:off x="7435297" y="2691373"/>
          <a:ext cx="4633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31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654606" y="2734621"/>
        <a:ext cx="24695" cy="4943"/>
      </dsp:txXfrm>
    </dsp:sp>
    <dsp:sp modelId="{72119F26-BB02-41CD-AE2C-5498681B2855}">
      <dsp:nvSpPr>
        <dsp:cNvPr id="0" name=""/>
        <dsp:cNvSpPr/>
      </dsp:nvSpPr>
      <dsp:spPr>
        <a:xfrm>
          <a:off x="5289649" y="2092859"/>
          <a:ext cx="2147447" cy="12884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27" tIns="110454" rIns="105227" bIns="11045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January 2007: Approaching the fiscal year-end, Target needs to determine capital expenditure plans for future store growth and development.</a:t>
          </a:r>
        </a:p>
      </dsp:txBody>
      <dsp:txXfrm>
        <a:off x="5289649" y="2092859"/>
        <a:ext cx="2147447" cy="1288468"/>
      </dsp:txXfrm>
    </dsp:sp>
    <dsp:sp modelId="{EA0918B0-5A38-4EDF-B8E2-49B8DD535223}">
      <dsp:nvSpPr>
        <dsp:cNvPr id="0" name=""/>
        <dsp:cNvSpPr/>
      </dsp:nvSpPr>
      <dsp:spPr>
        <a:xfrm>
          <a:off x="1080652" y="3379527"/>
          <a:ext cx="7924081" cy="566628"/>
        </a:xfrm>
        <a:custGeom>
          <a:avLst/>
          <a:gdLst/>
          <a:ahLst/>
          <a:cxnLst/>
          <a:rect l="0" t="0" r="0" b="0"/>
          <a:pathLst>
            <a:path>
              <a:moveTo>
                <a:pt x="7924081" y="0"/>
              </a:moveTo>
              <a:lnTo>
                <a:pt x="7924081" y="300414"/>
              </a:lnTo>
              <a:lnTo>
                <a:pt x="0" y="300414"/>
              </a:lnTo>
              <a:lnTo>
                <a:pt x="0" y="566628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44029" y="3660370"/>
        <a:ext cx="397327" cy="4943"/>
      </dsp:txXfrm>
    </dsp:sp>
    <dsp:sp modelId="{F27662DF-8A14-406D-938E-A5BBD1370375}">
      <dsp:nvSpPr>
        <dsp:cNvPr id="0" name=""/>
        <dsp:cNvSpPr/>
      </dsp:nvSpPr>
      <dsp:spPr>
        <a:xfrm>
          <a:off x="7931010" y="2092859"/>
          <a:ext cx="2147447" cy="12884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27" tIns="110454" rIns="105227" bIns="11045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November 2007: Gopher Place, a new P04 store, is scheduled to open in October 2007.</a:t>
          </a:r>
        </a:p>
      </dsp:txBody>
      <dsp:txXfrm>
        <a:off x="7931010" y="2092859"/>
        <a:ext cx="2147447" cy="1288468"/>
      </dsp:txXfrm>
    </dsp:sp>
    <dsp:sp modelId="{817A6125-6318-4A33-B0C5-4BC539932A80}">
      <dsp:nvSpPr>
        <dsp:cNvPr id="0" name=""/>
        <dsp:cNvSpPr/>
      </dsp:nvSpPr>
      <dsp:spPr>
        <a:xfrm>
          <a:off x="2152576" y="4577070"/>
          <a:ext cx="4633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31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71885" y="4620318"/>
        <a:ext cx="24695" cy="4943"/>
      </dsp:txXfrm>
    </dsp:sp>
    <dsp:sp modelId="{831666C5-4BC0-4569-8451-9113AB38C6B4}">
      <dsp:nvSpPr>
        <dsp:cNvPr id="0" name=""/>
        <dsp:cNvSpPr/>
      </dsp:nvSpPr>
      <dsp:spPr>
        <a:xfrm>
          <a:off x="6929" y="3978556"/>
          <a:ext cx="2147447" cy="12884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27" tIns="110454" rIns="105227" bIns="11045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March 2007: The Barn, a new P04 store in a small rural area, is scheduled to open.</a:t>
          </a:r>
        </a:p>
      </dsp:txBody>
      <dsp:txXfrm>
        <a:off x="6929" y="3978556"/>
        <a:ext cx="2147447" cy="1288468"/>
      </dsp:txXfrm>
    </dsp:sp>
    <dsp:sp modelId="{5BACDE55-3E67-4418-A432-32EC7007B6F3}">
      <dsp:nvSpPr>
        <dsp:cNvPr id="0" name=""/>
        <dsp:cNvSpPr/>
      </dsp:nvSpPr>
      <dsp:spPr>
        <a:xfrm>
          <a:off x="4793937" y="4577070"/>
          <a:ext cx="4633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31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13245" y="4620318"/>
        <a:ext cx="24695" cy="4943"/>
      </dsp:txXfrm>
    </dsp:sp>
    <dsp:sp modelId="{1ADDA68D-AA8D-4AF6-9256-31F3C7A77BC7}">
      <dsp:nvSpPr>
        <dsp:cNvPr id="0" name=""/>
        <dsp:cNvSpPr/>
      </dsp:nvSpPr>
      <dsp:spPr>
        <a:xfrm>
          <a:off x="2648289" y="3978556"/>
          <a:ext cx="2147447" cy="12884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27" tIns="110454" rIns="105227" bIns="11045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October 2007: Goldie's Square, a SuperTarget store, is scheduled to open.</a:t>
          </a:r>
        </a:p>
      </dsp:txBody>
      <dsp:txXfrm>
        <a:off x="2648289" y="3978556"/>
        <a:ext cx="2147447" cy="1288468"/>
      </dsp:txXfrm>
    </dsp:sp>
    <dsp:sp modelId="{78D911D6-D406-4268-AE95-6B3ACD1B5403}">
      <dsp:nvSpPr>
        <dsp:cNvPr id="0" name=""/>
        <dsp:cNvSpPr/>
      </dsp:nvSpPr>
      <dsp:spPr>
        <a:xfrm>
          <a:off x="5289649" y="3978556"/>
          <a:ext cx="2147447" cy="12884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27" tIns="110454" rIns="105227" bIns="11045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March 2007: Stadium Remodel, a remodel of an existing SuperTarget store, is scheduled to open.</a:t>
          </a:r>
        </a:p>
      </dsp:txBody>
      <dsp:txXfrm>
        <a:off x="5289649" y="3978556"/>
        <a:ext cx="2147447" cy="12884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30T20:07:41.12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56855 8572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30T20:03:09.85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12669 21574 16383 0 0,'3'0'0'0'0,"4"0"0"0"0,4 0 0 0 0,3 0 0 0 0,2 0 0 0 0,1 0 0 0 0,2 0 0 0 0,-1 0 0 0 0,0 0 0 0 0,1 0 0 0 0,-1 0 0 0 0,0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0,-3 3 0 0 0,-2 1 0 0 0,1 0 0 0 0,1-1 0 0 0,0-1 0 0 0,1 0 0 0 0,1-2 0 0 0,1 1 0 0 0,-1-1 0 0 0,1-1 0 0 0,0 1 0 0 0,0 0 0 0 0,-1 0 0 0 0,1 0 0 0 0,0 0 0 0 0,0 0 0 0 0,-1 0 0 0 0,1 0 0 0 0,-1 0 0 0 0,1 0 0 0 0,0 0 0 0 0,-1 0 0 0 0,1 0 0 0 0,0 0 0 0 0,-1 0 0 0 0,1 0 0 0 0,0 0 0 0 0,-1 0 0 0 0,1 0 0 0 0,-1 0 0 0 0,1 0 0 0 0,0 0 0 0 0,-1 0 0 0 0,1 0 0 0 0,0 0 0 0 0,-1 0 0 0 0,1 0 0 0 0,0 0 0 0 0,-4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30T20:03:11.62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19183 21644 16383 0 0,'3'0'0'0'0,"4"0"0"0"0,4 0 0 0 0,2 0 0 0 0,3 0 0 0 0,2 0 0 0 0,0 0 0 0 0,0 0 0 0 0,1 0 0 0 0,-1 0 0 0 0,0 0 0 0 0,0 0 0 0 0,0 0 0 0 0,0 0 0 0 0,-1 0 0 0 0,1 0 0 0 0,0 0 0 0 0,-1 0 0 0 0,1 0 0 0 0,-1 0 0 0 0,1 0 0 0 0,0 0 0 0 0,-1 0 0 0 0,1 0 0 0 0,0 0 0 0 0,-1 0 0 0 0,1 0 0 0 0,-1 0 0 0 0,1 0 0 0 0,0 0 0 0 0,-1 0 0 0 0,1 0 0 0 0,-3-3 0 0 0,-2-1 0 0 0,1 1 0 0 0,1 0 0 0 0,0 0 0 0 0,1 2 0 0 0,1 0 0 0 0,1 1 0 0 0,-4-3 0 0 0,0-1 0 0 0,0 0 0 0 0,1 2 0 0 0,0 0 0 0 0,2 0 0 0 0,0 2 0 0 0,0-1 0 0 0,1 1 0 0 0,0 0 0 0 0,-1 1 0 0 0,1-1 0 0 0,0 0 0 0 0,0 0 0 0 0,-1 0 0 0 0,1 0 0 0 0,0 0 0 0 0,-1 0 0 0 0,1 0 0 0 0,-3-3 0 0 0,-2-1 0 0 0,1 0 0 0 0,1 1 0 0 0,0 1 0 0 0,1 1 0 0 0,1 0 0 0 0,1 1 0 0 0,-1 0 0 0 0,1 0 0 0 0,0 0 0 0 0,0 0 0 0 0,-1 0 0 0 0,1 0 0 0 0,0 0 0 0 0,0 0 0 0 0,-1 0 0 0 0,1 0 0 0 0,0 0 0 0 0,-1 0 0 0 0,1 0 0 0 0,-1 0 0 0 0,1 0 0 0 0,0 0 0 0 0,-4-3 0 0 0,0-1 0 0 0,0 1 0 0 0,0 0 0 0 0,2 0 0 0 0,0 2 0 0 0,1 0 0 0 0,0 1 0 0 0,1 0 0 0 0,0 0 0 0 0,0 0 0 0 0,-1 1 0 0 0,1-1 0 0 0,0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0,-4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30T20:04:05.17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17699 17014 16383 0 0,'3'0'0'0'0,"4"0"0"0"0,4 0 0 0 0,3 0 0 0 0,2 0 0 0 0,1 0 0 0 0,1 0 0 0 0,1 0 0 0 0,-1 0 0 0 0,0 0 0 0 0,0 0 0 0 0,0 0 0 0 0,0 0 0 0 0,0 0 0 0 0,0 0 0 0 0,-1 0 0 0 0,1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0,0 0 0 0 0,-1 0 0 0 0,1 0 0 0 0,-1 0 0 0 0,1 0 0 0 0,0 0 0 0 0,-1 0 0 0 0,1 0 0 0 0,0 0 0 0 0,-1 0 0 0 0,1 0 0 0 0,0 0 0 0 0,-1 0 0 0 0,1 0 0 0 0,-1 0 0 0 0,1 0 0 0 0,0 0 0 0 0,-4-3 0 0 0,0-1 0 0 0,0 1 0 0 0,0 0 0 0 0,2 0 0 0 0,0 2 0 0 0,1 0 0 0 0,0 1 0 0 0,1 0 0 0 0,0 0 0 0 0,0 0 0 0 0,-1 0 0 0 0,1 1 0 0 0,0-1 0 0 0,0 0 0 0 0,-1 0 0 0 0,1 0 0 0 0,0 0 0 0 0,-1 0 0 0 0,1 0 0 0 0,0 0 0 0 0,-1 0 0 0 0,1 0 0 0 0,-1 0 0 0 0,1 0 0 0 0,0 0 0 0 0,-1 0 0 0 0,1 0 0 0 0,0 0 0 0 0,-1 0 0 0 0,1 0 0 0 0,0 0 0 0 0,-1 0 0 0 0,1 0 0 0 0,-1 0 0 0 0,1 0 0 0 0,0 0 0 0 0,-1 0 0 0 0,1 0 0 0 0,0 0 0 0 0,-4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30T20:04:14.63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20111 14558 16383 0 0,'-3'0'0'0'0,"-4"0"0"0"0,-4 0 0 0 0,-3 0 0 0 0,-2 0 0 0 0,-1 0 0 0 0,-1 0 0 0 0,-1 0 0 0 0,1 0 0 0 0,0 0 0 0 0,0 0 0 0 0,0 0 0 0 0,0 0 0 0 0,0 0 0 0 0,1 0 0 0 0,-1 0 0 0 0,0 0 0 0 0,1 0 0 0 0,-1 0 0 0 0,0 0 0 0 0,1 0 0 0 0,2 3 0 0 0,2 1 0 0 0,-1 0 0 0 0,-1-1 0 0 0,0-1 0 0 0,-2-1 0 0 0,0 0 0 0 0,0-1 0 0 0,-1 0 0 0 0,1 0 0 0 0,-1 0 0 0 0,0 0 0 0 0,0 0 0 0 0,1-1 0 0 0,-1 1 0 0 0,0 0 0 0 0,1 0 0 0 0,-1 0 0 0 0,0 0 0 0 0,1 0 0 0 0,-1 0 0 0 0,0 0 0 0 0,1 0 0 0 0,-1 0 0 0 0,0 0 0 0 0,1 0 0 0 0,-1 0 0 0 0,1 0 0 0 0,-1 0 0 0 0,0 0 0 0 0,1 0 0 0 0,-1 0 0 0 0,0 0 0 0 0,1 0 0 0 0,-1 0 0 0 0,3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30T20:04:43.63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26878 20090 16383 0 0,'3'0'0'0'0,"4"0"0"0"0,4 0 0 0 0,3 0 0 0 0,2 0 0 0 0,1 0 0 0 0,1 0 0 0 0,1 0 0 0 0,-1 0 0 0 0,1 0 0 0 0,-1 0 0 0 0,0 0 0 0 0,-1 0 0 0 0,1 0 0 0 0,0 0 0 0 0,-1 0 0 0 0,1 0 0 0 0,0 0 0 0 0,-4 3 0 0 0,0 1 0 0 0,0 0 0 0 0,0-1 0 0 0,2-1 0 0 0,0 0 0 0 0,1-1 0 0 0,0-1 0 0 0,1 0 0 0 0,0 0 0 0 0,-1-1 0 0 0,1 1 0 0 0,0 0 0 0 0,0 0 0 0 0,-1 0 0 0 0,1 0 0 0 0,0 0 0 0 0,-1 0 0 0 0,1 0 0 0 0,0 0 0 0 0,-1 0 0 0 0,1 0 0 0 0,0 0 0 0 0,-1 0 0 0 0,-2 3 0 0 0,-1 1 0 0 0,-1 0 0 0 0,2-1 0 0 0,0-1 0 0 0,2-1 0 0 0,0 0 0 0 0,0-1 0 0 0,1 0 0 0 0,-1 0 0 0 0,1 0 0 0 0,0 0 0 0 0,0 0 0 0 0,-1 0 0 0 0,1 0 0 0 0,0 0 0 0 0,-1 0 0 0 0,1 0 0 0 0,-3 3 0 0 0,-2 1 0 0 0,1-1 0 0 0,1 1 0 0 0,0-2 0 0 0,2-1 0 0 0,-1 0 0 0 0,2-1 0 0 0,-1 0 0 0 0,1 0 0 0 0,0 0 0 0 0,0 0 0 0 0,0-1 0 0 0,-1 1 0 0 0,1 0 0 0 0,0 0 0 0 0,-1 0 0 0 0,1 0 0 0 0,0 0 0 0 0,-1 0 0 0 0,1 0 0 0 0,-1 0 0 0 0,1 0 0 0 0,0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0,-1 0 0 0 0,1 0 0 0 0,0 0 0 0 0,-1 0 0 0 0,-5 0 0 0 0,-8 0 0 0 0,-8 0 0 0 0,-6 0 0 0 0,-5 0 0 0 0,1 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30T20:04:43.63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26853 19839 16383 0 0,'3'0'0'0'0,"4"0"0"0"0,4 0 0 0 0,3 0 0 0 0,2 0 0 0 0,1 0 0 0 0,1 0 0 0 0,1 0 0 0 0,-1 0 0 0 0,0 0 0 0 0,0 0 0 0 0,0 0 0 0 0,0 0 0 0 0,0 0 0 0 0,0 0 0 0 0,-1 0 0 0 0,1 0 0 0 0,-1 0 0 0 0,1 0 0 0 0,0 0 0 0 0,-1 0 0 0 0,1 0 0 0 0,0 0 0 0 0,-1 0 0 0 0,1 0 0 0 0,-1 0 0 0 0,1 0 0 0 0,0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0,-3 3 0 0 0,-2 1 0 0 0,1 0 0 0 0,1-1 0 0 0,0-1 0 0 0,1-1 0 0 0,1 0 0 0 0,1-1 0 0 0,-1 0 0 0 0,1 0 0 0 0,0 0 0 0 0,0 0 0 0 0,0 0 0 0 0,-1 0 0 0 0,1 0 0 0 0,0 0 0 0 0,-1 0 0 0 0,1 0 0 0 0,0 0 0 0 0,-1 0 0 0 0,1 0 0 0 0,-1 0 0 0 0,1 0 0 0 0,0 0 0 0 0,-1 0 0 0 0,1 0 0 0 0,0 0 0 0 0,-1 0 0 0 0,1 0 0 0 0,0 0 0 0 0,-1 0 0 0 0,1 0 0 0 0,-4 3 0 0 0,0 1 0 0 0,0-1 0 0 0,1 0 0 0 0,0 0 0 0 0,1-2 0 0 0,1 0 0 0 0,1-1 0 0 0,-1 0 0 0 0,1 0 0 0 0,-3 3 0 0 0,-1 0 0 0 0,0 1 0 0 0,0-1 0 0 0,2-1 0 0 0,0 0 0 0 0,1-2 0 0 0,0 1 0 0 0,1-1 0 0 0,0-1 0 0 0,-1 1 0 0 0,1 0 0 0 0,0 0 0 0 0,0 0 0 0 0,-1 0 0 0 0,1 0 0 0 0,0 0 0 0 0,-1 0 0 0 0,1 0 0 0 0,0 0 0 0 0,-1 0 0 0 0,1 0 0 0 0,0 0 0 0 0,-1 0 0 0 0,1 0 0 0 0,0 0 0 0 0,-1 0 0 0 0,-2 0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30T20:04:52.61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26325 6201 16383 0 0,'3'0'0'0'0,"4"0"0"0"0,4 0 0 0 0,3 0 0 0 0,2 0 0 0 0,1 0 0 0 0,1 0 0 0 0,1 0 0 0 0,-1 0 0 0 0,0 0 0 0 0,0 0 0 0 0,0 0 0 0 0,0 0 0 0 0,0 0 0 0 0,-1 0 0 0 0,1 0 0 0 0,0 0 0 0 0,-1 0 0 0 0,1 0 0 0 0,0 0 0 0 0,-1 0 0 0 0,1 0 0 0 0,-1 0 0 0 0,1 0 0 0 0,0 0 0 0 0,-1 0 0 0 0,-2-3 0 0 0,-1-1 0 0 0,-1 0 0 0 0,2 1 0 0 0,1 1 0 0 0,0 0 0 0 0,1 1 0 0 0,0 1 0 0 0,1 0 0 0 0,-1 0 0 0 0,1 0 0 0 0,0 1 0 0 0,0-1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0,0 0 0 0 0,-1 0 0 0 0,1 0 0 0 0,-1 0 0 0 0,1 0 0 0 0,0 0 0 0 0,-1 0 0 0 0,1 0 0 0 0,0 0 0 0 0,-1 0 0 0 0,1 0 0 0 0,0 0 0 0 0,-1 0 0 0 0,1 0 0 0 0,-1 0 0 0 0,1 0 0 0 0,-3 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30T20:04:52.61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26325 6603 16383 0 0,'3'0'0'0'0,"4"0"0"0"0,4 0 0 0 0,3 0 0 0 0,2 0 0 0 0,1 0 0 0 0,1 0 0 0 0,1 0 0 0 0,-1 0 0 0 0,0 0 0 0 0,0 0 0 0 0,0 0 0 0 0,0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0,0 0 0 0 0,-1 0 0 0 0,1 0 0 0 0,-1 0 0 0 0,1 0 0 0 0,0 0 0 0 0,-1 0 0 0 0,1 0 0 0 0,0 0 0 0 0,-1 0 0 0 0,1 0 0 0 0,0 0 0 0 0,-1-3 0 0 0,1-1 0 0 0,-1 0 0 0 0,1 1 0 0 0,0 1 0 0 0,-1 1 0 0 0,1 0 0 0 0,0 1 0 0 0,-1 0 0 0 0,1 0 0 0 0,0 0 0 0 0,-1 0 0 0 0,1 0 0 0 0,-1 0 0 0 0,1 0 0 0 0,0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0,0 0 0 0 0,-1 0 0 0 0,1 0 0 0 0,0 0 0 0 0,-1 0 0 0 0,1 0 0 0 0,-1 0 0 0 0,1 0 0 0 0,0 0 0 0 0,-1 0 0 0 0,1 0 0 0 0,-3 3 0 0 0,-2 1 0 0 0,1 0 0 0 0,1-1 0 0 0,0-1 0 0 0,1 0 0 0 0,1-2 0 0 0,1 1 0 0 0,-1-1 0 0 0,1 0 0 0 0,0-1 0 0 0,0 1 0 0 0,0 0 0 0 0,-1 0 0 0 0,1 0 0 0 0,0 0 0 0 0,-1 0 0 0 0,1 0 0 0 0,0 0 0 0 0,-1 0 0 0 0,1 0 0 0 0,-1 0 0 0 0,1 0 0 0 0,0 0 0 0 0,-1 0 0 0 0,-2 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30T20:08:36.15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20352 8069 16383 0 0,'-3'0'0'0'0,"-4"0"0"0"0,-4 0 0 0 0,-3 0 0 0 0,-2 0 0 0 0,-1 0 0 0 0,-2 3 0 0 0,1 1 0 0 0,0 0 0 0 0,-1-1 0 0 0,1-1 0 0 0,0 0 0 0 0,1-1 0 0 0,-1-1 0 0 0,0 0 0 0 0,1 0 0 0 0,-1 0 0 0 0,0-1 0 0 0,1 1 0 0 0,-1 0 0 0 0,0 0 0 0 0,1 0 0 0 0,-1 0 0 0 0,1 0 0 0 0,-1 0 0 0 0,0 0 0 0 0,1 0 0 0 0,-1 0 0 0 0,0 0 0 0 0,1 0 0 0 0,-1 0 0 0 0,0 0 0 0 0,1 0 0 0 0,2 0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2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9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4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82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3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84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96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05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92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163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customXml" Target="../ink/ink7.xml"/><Relationship Id="rId18" Type="http://schemas.openxmlformats.org/officeDocument/2006/relationships/image" Target="../media/image20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17.png"/><Relationship Id="rId17" Type="http://schemas.openxmlformats.org/officeDocument/2006/relationships/customXml" Target="../ink/ink9.xml"/><Relationship Id="rId2" Type="http://schemas.openxmlformats.org/officeDocument/2006/relationships/image" Target="../media/image12.pn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10" Type="http://schemas.openxmlformats.org/officeDocument/2006/relationships/image" Target="../media/image16.png"/><Relationship Id="rId19" Type="http://schemas.openxmlformats.org/officeDocument/2006/relationships/customXml" Target="../ink/ink10.xml"/><Relationship Id="rId4" Type="http://schemas.openxmlformats.org/officeDocument/2006/relationships/image" Target="../media/image13.png"/><Relationship Id="rId9" Type="http://schemas.openxmlformats.org/officeDocument/2006/relationships/customXml" Target="../ink/ink5.xml"/><Relationship Id="rId1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DBA639-2A71-4A60-A71A-FF1836F5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E208A8B-5EBD-4532-BE72-26414FA7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5D09196-B338-4AB5-A71B-CFD5FFCA6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F50B4463-128A-4677-A285-C017E6C54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D9B95CD-F023-4DFA-9678-1E02713F7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1DDF47A8-BE7B-43F3-A500-F5A4656D8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DD394DE-76FB-42F8-85F2-FD436F423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B95F2EFB-87E6-4400-AAF3-7EB8B4F15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D463476-2BC7-418C-9D6F-51444B11A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24011122-2495-478A-81BF-ABBDEA1DA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C79E87C5-E5B3-476B-B539-FC9CF4A33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56029CA-2B38-434D-9044-5FF3A1ECD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514CFB6-E8DB-43DC-B1CD-9CC2D4B2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BD8C1FC8-E550-45BE-9F30-822BAB378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D1646B5D-A7B7-41EC-9591-0E0C0F4F94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2118E93-481E-4843-987E-378187AA3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7038464-F4E2-47EC-A87F-18469191E3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B3BBEB1-E146-408F-95B7-EE2F269D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765B285-56EC-47FC-B116-274EBBD61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CB4A6191-6913-42EA-905E-8A174AE2C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8ADEEF92-F481-475A-845C-5E940F0D5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9C506D7-84CB-4057-A44A-465313E7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2173916" y="2448612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Oval 32">
            <a:extLst>
              <a:ext uri="{FF2B5EF4-FFF2-40B4-BE49-F238E27FC236}">
                <a16:creationId xmlns:a16="http://schemas.microsoft.com/office/drawing/2014/main" id="{7842FC68-61FD-4700-8A22-BB8B07188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4579" y="691977"/>
            <a:ext cx="7761923" cy="5343064"/>
          </a:xfrm>
          <a:custGeom>
            <a:avLst/>
            <a:gdLst>
              <a:gd name="connsiteX0" fmla="*/ 0 w 6428838"/>
              <a:gd name="connsiteY0" fmla="*/ 2579031 h 5158062"/>
              <a:gd name="connsiteX1" fmla="*/ 3214419 w 6428838"/>
              <a:gd name="connsiteY1" fmla="*/ 0 h 5158062"/>
              <a:gd name="connsiteX2" fmla="*/ 6428838 w 6428838"/>
              <a:gd name="connsiteY2" fmla="*/ 2579031 h 5158062"/>
              <a:gd name="connsiteX3" fmla="*/ 3214419 w 6428838"/>
              <a:gd name="connsiteY3" fmla="*/ 5158062 h 5158062"/>
              <a:gd name="connsiteX4" fmla="*/ 0 w 6428838"/>
              <a:gd name="connsiteY4" fmla="*/ 2579031 h 5158062"/>
              <a:gd name="connsiteX0" fmla="*/ 3321 w 6432159"/>
              <a:gd name="connsiteY0" fmla="*/ 2647125 h 5226156"/>
              <a:gd name="connsiteX1" fmla="*/ 2789723 w 6432159"/>
              <a:gd name="connsiteY1" fmla="*/ 0 h 5226156"/>
              <a:gd name="connsiteX2" fmla="*/ 6432159 w 6432159"/>
              <a:gd name="connsiteY2" fmla="*/ 2647125 h 5226156"/>
              <a:gd name="connsiteX3" fmla="*/ 3217740 w 6432159"/>
              <a:gd name="connsiteY3" fmla="*/ 5226156 h 5226156"/>
              <a:gd name="connsiteX4" fmla="*/ 3321 w 6432159"/>
              <a:gd name="connsiteY4" fmla="*/ 2647125 h 5226156"/>
              <a:gd name="connsiteX0" fmla="*/ 1953 w 6566979"/>
              <a:gd name="connsiteY0" fmla="*/ 2695803 h 5226224"/>
              <a:gd name="connsiteX1" fmla="*/ 2924543 w 6566979"/>
              <a:gd name="connsiteY1" fmla="*/ 39 h 5226224"/>
              <a:gd name="connsiteX2" fmla="*/ 6566979 w 6566979"/>
              <a:gd name="connsiteY2" fmla="*/ 2647164 h 5226224"/>
              <a:gd name="connsiteX3" fmla="*/ 3352560 w 6566979"/>
              <a:gd name="connsiteY3" fmla="*/ 5226195 h 5226224"/>
              <a:gd name="connsiteX4" fmla="*/ 1953 w 6566979"/>
              <a:gd name="connsiteY4" fmla="*/ 2695803 h 5226224"/>
              <a:gd name="connsiteX0" fmla="*/ 8982 w 6574008"/>
              <a:gd name="connsiteY0" fmla="*/ 2695803 h 5226313"/>
              <a:gd name="connsiteX1" fmla="*/ 2931572 w 6574008"/>
              <a:gd name="connsiteY1" fmla="*/ 39 h 5226313"/>
              <a:gd name="connsiteX2" fmla="*/ 6574008 w 6574008"/>
              <a:gd name="connsiteY2" fmla="*/ 2647164 h 5226313"/>
              <a:gd name="connsiteX3" fmla="*/ 3359589 w 6574008"/>
              <a:gd name="connsiteY3" fmla="*/ 5226195 h 5226313"/>
              <a:gd name="connsiteX4" fmla="*/ 8982 w 6574008"/>
              <a:gd name="connsiteY4" fmla="*/ 2695803 h 5226313"/>
              <a:gd name="connsiteX0" fmla="*/ 11929 w 6576955"/>
              <a:gd name="connsiteY0" fmla="*/ 2695953 h 5226463"/>
              <a:gd name="connsiteX1" fmla="*/ 2934519 w 6576955"/>
              <a:gd name="connsiteY1" fmla="*/ 189 h 5226463"/>
              <a:gd name="connsiteX2" fmla="*/ 6576955 w 6576955"/>
              <a:gd name="connsiteY2" fmla="*/ 2647314 h 5226463"/>
              <a:gd name="connsiteX3" fmla="*/ 3362536 w 6576955"/>
              <a:gd name="connsiteY3" fmla="*/ 5226345 h 5226463"/>
              <a:gd name="connsiteX4" fmla="*/ 11929 w 6576955"/>
              <a:gd name="connsiteY4" fmla="*/ 2695953 h 5226463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92159"/>
              <a:gd name="connsiteX1" fmla="*/ 2931852 w 6963394"/>
              <a:gd name="connsiteY1" fmla="*/ 10033 h 5292159"/>
              <a:gd name="connsiteX2" fmla="*/ 6963394 w 6963394"/>
              <a:gd name="connsiteY2" fmla="*/ 3318639 h 5292159"/>
              <a:gd name="connsiteX3" fmla="*/ 3359869 w 6963394"/>
              <a:gd name="connsiteY3" fmla="*/ 5236189 h 5292159"/>
              <a:gd name="connsiteX4" fmla="*/ 9262 w 6963394"/>
              <a:gd name="connsiteY4" fmla="*/ 2705797 h 5292159"/>
              <a:gd name="connsiteX0" fmla="*/ 9262 w 6963394"/>
              <a:gd name="connsiteY0" fmla="*/ 2705797 h 5259961"/>
              <a:gd name="connsiteX1" fmla="*/ 2931852 w 6963394"/>
              <a:gd name="connsiteY1" fmla="*/ 10033 h 5259961"/>
              <a:gd name="connsiteX2" fmla="*/ 6963394 w 6963394"/>
              <a:gd name="connsiteY2" fmla="*/ 3318639 h 5259961"/>
              <a:gd name="connsiteX3" fmla="*/ 3359869 w 6963394"/>
              <a:gd name="connsiteY3" fmla="*/ 5236189 h 5259961"/>
              <a:gd name="connsiteX4" fmla="*/ 9262 w 6963394"/>
              <a:gd name="connsiteY4" fmla="*/ 2705797 h 5259961"/>
              <a:gd name="connsiteX0" fmla="*/ 9557 w 7352795"/>
              <a:gd name="connsiteY0" fmla="*/ 2707501 h 5252013"/>
              <a:gd name="connsiteX1" fmla="*/ 2932147 w 7352795"/>
              <a:gd name="connsiteY1" fmla="*/ 11737 h 5252013"/>
              <a:gd name="connsiteX2" fmla="*/ 7352795 w 7352795"/>
              <a:gd name="connsiteY2" fmla="*/ 3378709 h 5252013"/>
              <a:gd name="connsiteX3" fmla="*/ 3360164 w 7352795"/>
              <a:gd name="connsiteY3" fmla="*/ 5237893 h 5252013"/>
              <a:gd name="connsiteX4" fmla="*/ 9557 w 7352795"/>
              <a:gd name="connsiteY4" fmla="*/ 2707501 h 5252013"/>
              <a:gd name="connsiteX0" fmla="*/ 8078 w 7789061"/>
              <a:gd name="connsiteY0" fmla="*/ 2744796 h 5249051"/>
              <a:gd name="connsiteX1" fmla="*/ 3368413 w 7789061"/>
              <a:gd name="connsiteY1" fmla="*/ 10121 h 5249051"/>
              <a:gd name="connsiteX2" fmla="*/ 7789061 w 7789061"/>
              <a:gd name="connsiteY2" fmla="*/ 3377093 h 5249051"/>
              <a:gd name="connsiteX3" fmla="*/ 3796430 w 7789061"/>
              <a:gd name="connsiteY3" fmla="*/ 5236277 h 5249051"/>
              <a:gd name="connsiteX4" fmla="*/ 8078 w 7789061"/>
              <a:gd name="connsiteY4" fmla="*/ 2744796 h 5249051"/>
              <a:gd name="connsiteX0" fmla="*/ 8078 w 7789061"/>
              <a:gd name="connsiteY0" fmla="*/ 2744796 h 5271741"/>
              <a:gd name="connsiteX1" fmla="*/ 3368413 w 7789061"/>
              <a:gd name="connsiteY1" fmla="*/ 10121 h 5271741"/>
              <a:gd name="connsiteX2" fmla="*/ 7789061 w 7789061"/>
              <a:gd name="connsiteY2" fmla="*/ 3377093 h 5271741"/>
              <a:gd name="connsiteX3" fmla="*/ 3796430 w 7789061"/>
              <a:gd name="connsiteY3" fmla="*/ 5236277 h 5271741"/>
              <a:gd name="connsiteX4" fmla="*/ 8078 w 7789061"/>
              <a:gd name="connsiteY4" fmla="*/ 2744796 h 5271741"/>
              <a:gd name="connsiteX0" fmla="*/ 1055 w 7782038"/>
              <a:gd name="connsiteY0" fmla="*/ 2738806 h 5438018"/>
              <a:gd name="connsiteX1" fmla="*/ 3361390 w 7782038"/>
              <a:gd name="connsiteY1" fmla="*/ 4131 h 5438018"/>
              <a:gd name="connsiteX2" fmla="*/ 7782038 w 7782038"/>
              <a:gd name="connsiteY2" fmla="*/ 3371103 h 5438018"/>
              <a:gd name="connsiteX3" fmla="*/ 3692130 w 7782038"/>
              <a:gd name="connsiteY3" fmla="*/ 5415113 h 5438018"/>
              <a:gd name="connsiteX4" fmla="*/ 1055 w 7782038"/>
              <a:gd name="connsiteY4" fmla="*/ 2738806 h 5438018"/>
              <a:gd name="connsiteX0" fmla="*/ 28883 w 7809866"/>
              <a:gd name="connsiteY0" fmla="*/ 2742147 h 5441359"/>
              <a:gd name="connsiteX1" fmla="*/ 3389218 w 7809866"/>
              <a:gd name="connsiteY1" fmla="*/ 7472 h 5441359"/>
              <a:gd name="connsiteX2" fmla="*/ 7809866 w 7809866"/>
              <a:gd name="connsiteY2" fmla="*/ 3374444 h 5441359"/>
              <a:gd name="connsiteX3" fmla="*/ 3719958 w 7809866"/>
              <a:gd name="connsiteY3" fmla="*/ 5418454 h 5441359"/>
              <a:gd name="connsiteX4" fmla="*/ 28883 w 7809866"/>
              <a:gd name="connsiteY4" fmla="*/ 2742147 h 5441359"/>
              <a:gd name="connsiteX0" fmla="*/ 36549 w 7817532"/>
              <a:gd name="connsiteY0" fmla="*/ 2751085 h 5450297"/>
              <a:gd name="connsiteX1" fmla="*/ 3396884 w 7817532"/>
              <a:gd name="connsiteY1" fmla="*/ 16410 h 5450297"/>
              <a:gd name="connsiteX2" fmla="*/ 7817532 w 7817532"/>
              <a:gd name="connsiteY2" fmla="*/ 3383382 h 5450297"/>
              <a:gd name="connsiteX3" fmla="*/ 3727624 w 7817532"/>
              <a:gd name="connsiteY3" fmla="*/ 5427392 h 5450297"/>
              <a:gd name="connsiteX4" fmla="*/ 36549 w 7817532"/>
              <a:gd name="connsiteY4" fmla="*/ 2751085 h 545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7532" h="5450297">
                <a:moveTo>
                  <a:pt x="36549" y="2751085"/>
                </a:moveTo>
                <a:cubicBezTo>
                  <a:pt x="-281221" y="925127"/>
                  <a:pt x="1526121" y="-147339"/>
                  <a:pt x="3396884" y="16410"/>
                </a:cubicBezTo>
                <a:cubicBezTo>
                  <a:pt x="5267647" y="180159"/>
                  <a:pt x="7817532" y="1453184"/>
                  <a:pt x="7817532" y="3383382"/>
                </a:cubicBezTo>
                <a:cubicBezTo>
                  <a:pt x="7700800" y="5342763"/>
                  <a:pt x="5024455" y="5532775"/>
                  <a:pt x="3727624" y="5427392"/>
                </a:cubicBezTo>
                <a:cubicBezTo>
                  <a:pt x="2430794" y="5322009"/>
                  <a:pt x="354319" y="4577043"/>
                  <a:pt x="36549" y="2751085"/>
                </a:cubicBezTo>
                <a:close/>
              </a:path>
            </a:pathLst>
          </a:custGeom>
          <a:ln w="152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D27D57-2222-65F2-F0DC-32E005D87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6277" y="2061838"/>
            <a:ext cx="6959446" cy="1662475"/>
          </a:xfrm>
        </p:spPr>
        <p:txBody>
          <a:bodyPr>
            <a:normAutofit/>
          </a:bodyPr>
          <a:lstStyle/>
          <a:p>
            <a:r>
              <a:rPr lang="en-US" sz="4800">
                <a:latin typeface="+mn-lt"/>
                <a:cs typeface="Calibri Light"/>
              </a:rPr>
              <a:t>Target Corporation</a:t>
            </a:r>
            <a:endParaRPr lang="en-US" sz="480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A58A6-EBAF-9629-4715-2E9BEC486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8938" y="3783690"/>
            <a:ext cx="5414125" cy="119671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cs typeface="Calibri"/>
              </a:rPr>
              <a:t>By: Henry Gillis, Nicholas Ricci, Simon Pringle, and Pressley Hendrix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0067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16846-7220-4AF5-1906-3F2B4CF73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539" y="13839"/>
            <a:ext cx="4114594" cy="843579"/>
          </a:xfrm>
        </p:spPr>
        <p:txBody>
          <a:bodyPr anchor="t">
            <a:normAutofit fontScale="90000"/>
          </a:bodyPr>
          <a:lstStyle/>
          <a:p>
            <a:r>
              <a:rPr lang="en-US" sz="3600">
                <a:solidFill>
                  <a:schemeClr val="accent1"/>
                </a:solidFill>
                <a:latin typeface="+mn-lt"/>
                <a:cs typeface="Calibri Light"/>
              </a:rPr>
              <a:t>Executive Summary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0DF2F-C7C1-06F8-9E40-118DAFF02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642" y="698501"/>
            <a:ext cx="10067070" cy="6145212"/>
          </a:xfrm>
        </p:spPr>
        <p:txBody>
          <a:bodyPr anchor="t">
            <a:normAutofit fontScale="62500" lnSpcReduction="20000"/>
          </a:bodyPr>
          <a:lstStyle/>
          <a:p>
            <a:r>
              <a:rPr lang="en-US" sz="4000"/>
              <a:t>Target employs a meticulous approach to capital project decisions led by the Capital Expenditure Committee (CEC).</a:t>
            </a:r>
          </a:p>
          <a:p>
            <a:r>
              <a:rPr lang="en-US" sz="4000"/>
              <a:t>Factors include strategic alignment, brand awareness, competitive dynamics, and customer preferences.</a:t>
            </a:r>
          </a:p>
          <a:p>
            <a:r>
              <a:rPr lang="en-US" sz="4000"/>
              <a:t>The CEC scrutinizes 10 projects, anticipating fiscal year-end decisions on projects worth nearly $300 million.</a:t>
            </a:r>
          </a:p>
          <a:p>
            <a:r>
              <a:rPr lang="en-US" sz="4000"/>
              <a:t>Target aims for annual opening of approximately 100 new stores.</a:t>
            </a:r>
          </a:p>
          <a:p>
            <a:r>
              <a:rPr lang="en-US" sz="4000"/>
              <a:t>Rigorous scrutiny involves understanding market dynamics and customer demographics.</a:t>
            </a:r>
          </a:p>
          <a:p>
            <a:r>
              <a:rPr lang="en-US" sz="4000"/>
              <a:t> Differentiates from competitors like Wal-Mart and Costco by offering a holistic shopping experience.</a:t>
            </a:r>
          </a:p>
          <a:p>
            <a:r>
              <a:rPr lang="en-US" sz="4000"/>
              <a:t> Commitment to brand awareness evident through substantial advertising expenditures.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53259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16846-7220-4AF5-1906-3F2B4CF73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403" y="13839"/>
            <a:ext cx="5181984" cy="920231"/>
          </a:xfrm>
        </p:spPr>
        <p:txBody>
          <a:bodyPr anchor="t">
            <a:normAutofit fontScale="90000"/>
          </a:bodyPr>
          <a:lstStyle/>
          <a:p>
            <a:r>
              <a:rPr lang="en-US" sz="3600">
                <a:solidFill>
                  <a:schemeClr val="accent1"/>
                </a:solidFill>
                <a:latin typeface="+mn-lt"/>
                <a:cs typeface="Calibri Light"/>
              </a:rPr>
              <a:t>Executive Summary (Continued)</a:t>
            </a:r>
            <a:br>
              <a:rPr lang="en-US" sz="3600">
                <a:solidFill>
                  <a:schemeClr val="accent1"/>
                </a:solidFill>
                <a:latin typeface="+mn-lt"/>
                <a:cs typeface="Calibri Light"/>
              </a:rPr>
            </a:br>
            <a:endParaRPr lang="en-US" sz="3600">
              <a:solidFill>
                <a:schemeClr val="accent1"/>
              </a:solidFill>
              <a:latin typeface="+mn-lt"/>
              <a:cs typeface="Calibri Light"/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0DF2F-C7C1-06F8-9E40-118DAFF02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642" y="1196007"/>
            <a:ext cx="10067070" cy="5509593"/>
          </a:xfrm>
        </p:spPr>
        <p:txBody>
          <a:bodyPr anchor="t">
            <a:normAutofit lnSpcReduction="10000"/>
          </a:bodyPr>
          <a:lstStyle/>
          <a:p>
            <a:r>
              <a:rPr lang="en-US" sz="2700"/>
              <a:t>CEC conducts a rigorous evaluation considering financial analyses, sensitivity assessments, and long-term implications.</a:t>
            </a:r>
          </a:p>
          <a:p>
            <a:r>
              <a:rPr lang="en-US" sz="2700"/>
              <a:t>Factors such as tax incentives, demographics, and potential competition integral to decision-making.</a:t>
            </a:r>
          </a:p>
          <a:p>
            <a:r>
              <a:rPr lang="en-US" sz="2700"/>
              <a:t>CFO Doug </a:t>
            </a:r>
            <a:r>
              <a:rPr lang="en-US" sz="2700" err="1"/>
              <a:t>Scovanner</a:t>
            </a:r>
            <a:r>
              <a:rPr lang="en-US" sz="2700"/>
              <a:t> prioritizes five projects, considering NPVs, short-term gains, and long-term growth.</a:t>
            </a:r>
          </a:p>
          <a:p>
            <a:r>
              <a:rPr lang="en-US" sz="2700"/>
              <a:t>Target emerges as a company committed to strategic, customer-centric, and financially sound decision-making, positioned for continued success and growth in the dynamic retail industry.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43695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0E4E4-9386-8785-E192-D4BEAACC2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700" y="-2"/>
            <a:ext cx="6230857" cy="845576"/>
          </a:xfrm>
        </p:spPr>
        <p:txBody>
          <a:bodyPr anchor="t">
            <a:normAutofit fontScale="90000"/>
          </a:bodyPr>
          <a:lstStyle/>
          <a:p>
            <a:r>
              <a:rPr lang="en-US" sz="3600">
                <a:solidFill>
                  <a:schemeClr val="accent1"/>
                </a:solidFill>
                <a:latin typeface="+mn-lt"/>
              </a:rPr>
              <a:t>Target Timeline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084D26D4-1A45-749E-8B3D-E5470DEA5D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358948"/>
              </p:ext>
            </p:extLst>
          </p:nvPr>
        </p:nvGraphicFramePr>
        <p:xfrm>
          <a:off x="2000250" y="1234844"/>
          <a:ext cx="10085387" cy="5474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1278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person in a suit and tie&#10;&#10;Description automatically generated">
            <a:extLst>
              <a:ext uri="{FF2B5EF4-FFF2-40B4-BE49-F238E27FC236}">
                <a16:creationId xmlns:a16="http://schemas.microsoft.com/office/drawing/2014/main" id="{3E2C0BD8-E0C2-FB4F-0197-7982BE8C1A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7656"/>
          <a:stretch/>
        </p:blipFill>
        <p:spPr>
          <a:xfrm>
            <a:off x="7059561" y="786581"/>
            <a:ext cx="5034117" cy="6071419"/>
          </a:xfrm>
          <a:prstGeom prst="rect">
            <a:avLst/>
          </a:prstGeom>
          <a:ln w="1270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6CAF8B-FDA6-7649-BCC0-285F78766871}"/>
              </a:ext>
            </a:extLst>
          </p:cNvPr>
          <p:cNvSpPr txBox="1"/>
          <p:nvPr/>
        </p:nvSpPr>
        <p:spPr>
          <a:xfrm>
            <a:off x="4621161" y="191107"/>
            <a:ext cx="297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Doug </a:t>
            </a:r>
            <a:r>
              <a:rPr lang="en-US" sz="2800" err="1">
                <a:solidFill>
                  <a:srgbClr val="FF0000"/>
                </a:solidFill>
              </a:rPr>
              <a:t>Scovanner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8C49A-380C-258E-AE6A-0930733D2A7B}"/>
              </a:ext>
            </a:extLst>
          </p:cNvPr>
          <p:cNvSpPr txBox="1"/>
          <p:nvPr/>
        </p:nvSpPr>
        <p:spPr>
          <a:xfrm>
            <a:off x="1" y="703629"/>
            <a:ext cx="770849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Known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/>
              <a:t>Financial Leadership: As Target Corporation's CFO, Doug </a:t>
            </a:r>
            <a:r>
              <a:rPr lang="en-US" sz="1600" err="1"/>
              <a:t>Scovanner</a:t>
            </a:r>
            <a:r>
              <a:rPr lang="en-US" sz="1600"/>
              <a:t> led financial planning and decision-making.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/>
              <a:t>Strategic Decision-making: His role in the CEC showcased a meticulous approach aligning financial decisions with Target's growth.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/>
              <a:t>Commitment to Shareholder Value: Prioritized decisions contributing to sustained growth and maximizing shareholder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Notable Management Decisions: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/>
              <a:t>Project Prioritization: Crucially selected and prioritized capital projects aligned with Target's growth and financial goals.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/>
              <a:t>Balancing Short-term and Long-term Goals:** Balanced short-term gains with long-term growth, considering the competitive retail landscape.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/>
              <a:t>Financial Rigor: Emphasized rigorous evaluation processes, ensuring financial soundness through detailed analyses and sensitivity assessments.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/>
              <a:t>Response to Market Dynamics: Addressed market dynamics, including competition and changes in consumer preferences, strategically positioning against industry giants.</a:t>
            </a:r>
          </a:p>
        </p:txBody>
      </p:sp>
    </p:spTree>
    <p:extLst>
      <p:ext uri="{BB962C8B-B14F-4D97-AF65-F5344CB8AC3E}">
        <p14:creationId xmlns:p14="http://schemas.microsoft.com/office/powerpoint/2010/main" val="837309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6CAF8B-FDA6-7649-BCC0-285F78766871}"/>
              </a:ext>
            </a:extLst>
          </p:cNvPr>
          <p:cNvSpPr txBox="1"/>
          <p:nvPr/>
        </p:nvSpPr>
        <p:spPr>
          <a:xfrm>
            <a:off x="4606413" y="180409"/>
            <a:ext cx="297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Bob Ulrich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8C49A-380C-258E-AE6A-0930733D2A7B}"/>
              </a:ext>
            </a:extLst>
          </p:cNvPr>
          <p:cNvSpPr txBox="1"/>
          <p:nvPr/>
        </p:nvSpPr>
        <p:spPr>
          <a:xfrm>
            <a:off x="0" y="703629"/>
            <a:ext cx="7708491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Known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Strategic Visionary: Bob Ulrich was recognized for his strategic vision as the Chairman and CEO of Target Corporation.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Leadership During Growth: Led Target Stores as CEO in 1987, contributing significantly to the company's growth.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Operational Efficiency: Emphasized operational efficiency and effectiveness in managing Target's expansion.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Notable Management Decisions: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Brand Differentiation: Focused on brand differentiation, positioning Target as a unique and stylish shopping experience.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Expansion Strategies: Oversaw the expansion of Target, opening new stores and adapting to changing retail landscapes.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Customer-Centric Approach: Emphasized a customer-centric approach, understanding and catering to evolving consumer preferences.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/>
              <a:t>Diversification: Explored diversification strategies, including the launch of </a:t>
            </a:r>
            <a:r>
              <a:rPr lang="en-US" sz="1700" err="1"/>
              <a:t>SuperTarget</a:t>
            </a:r>
            <a:r>
              <a:rPr lang="en-US" sz="1700"/>
              <a:t> stores and the Target.com website.</a:t>
            </a:r>
          </a:p>
        </p:txBody>
      </p:sp>
      <p:pic>
        <p:nvPicPr>
          <p:cNvPr id="5" name="Content Placeholder 4" descr="A person in a blue shirt and tie&#10;&#10;Description automatically generated">
            <a:extLst>
              <a:ext uri="{FF2B5EF4-FFF2-40B4-BE49-F238E27FC236}">
                <a16:creationId xmlns:a16="http://schemas.microsoft.com/office/drawing/2014/main" id="{91D9DC1B-066B-79CA-328A-9094F7BFC7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1753"/>
          <a:stretch/>
        </p:blipFill>
        <p:spPr>
          <a:xfrm>
            <a:off x="7708490" y="227"/>
            <a:ext cx="4483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22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6CAF8B-FDA6-7649-BCC0-285F78766871}"/>
              </a:ext>
            </a:extLst>
          </p:cNvPr>
          <p:cNvSpPr txBox="1"/>
          <p:nvPr/>
        </p:nvSpPr>
        <p:spPr>
          <a:xfrm>
            <a:off x="3785420" y="180409"/>
            <a:ext cx="3431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Gregg </a:t>
            </a:r>
            <a:r>
              <a:rPr lang="en-US" sz="2800" err="1">
                <a:solidFill>
                  <a:srgbClr val="FF0000"/>
                </a:solidFill>
              </a:rPr>
              <a:t>Steinhafel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8C49A-380C-258E-AE6A-0930733D2A7B}"/>
              </a:ext>
            </a:extLst>
          </p:cNvPr>
          <p:cNvSpPr txBox="1"/>
          <p:nvPr/>
        </p:nvSpPr>
        <p:spPr>
          <a:xfrm>
            <a:off x="1" y="703629"/>
            <a:ext cx="770849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Known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Long-Term Dedication: Gregg </a:t>
            </a:r>
            <a:r>
              <a:rPr lang="en-US" err="1"/>
              <a:t>Steinhafel</a:t>
            </a:r>
            <a:r>
              <a:rPr lang="en-US"/>
              <a:t> was known for his long-term dedication to Target Corporation, starting as a merchandising trainee in 1979.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Rise Through Ranks: Demonstrated leadership by rising through the ranks, eventually becoming the President of Target Stores.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Brand Advocacy: Actively advocated for and contributed to the Target brand's success.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 Notable Management Decisions: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Merchandising Expertise: Applied merchandising expertise to enhance the product offerings and shopping experience at Target.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Presidential Leadership: Led Target Stores as President, shaping the company's direction during his tenure.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Strategic Initiatives: Played a key role in implementing strategic initiatives, aligning with Target's commitment to a unique and affordable retail experience.</a:t>
            </a:r>
          </a:p>
        </p:txBody>
      </p:sp>
      <p:pic>
        <p:nvPicPr>
          <p:cNvPr id="2" name="Content Placeholder 4" descr="A person in a suit and tie&#10;&#10;Description automatically generated">
            <a:extLst>
              <a:ext uri="{FF2B5EF4-FFF2-40B4-BE49-F238E27FC236}">
                <a16:creationId xmlns:a16="http://schemas.microsoft.com/office/drawing/2014/main" id="{B09B68C2-DE6C-3605-B935-9FC92460B7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"/>
          <a:stretch/>
        </p:blipFill>
        <p:spPr>
          <a:xfrm>
            <a:off x="7708490" y="227"/>
            <a:ext cx="4483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861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6CAF8B-FDA6-7649-BCC0-285F78766871}"/>
              </a:ext>
            </a:extLst>
          </p:cNvPr>
          <p:cNvSpPr txBox="1"/>
          <p:nvPr/>
        </p:nvSpPr>
        <p:spPr>
          <a:xfrm>
            <a:off x="4611329" y="180409"/>
            <a:ext cx="3097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Troy </a:t>
            </a:r>
            <a:r>
              <a:rPr lang="en-US" sz="2800" err="1">
                <a:solidFill>
                  <a:srgbClr val="FF0000"/>
                </a:solidFill>
              </a:rPr>
              <a:t>Risch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8C49A-380C-258E-AE6A-0930733D2A7B}"/>
              </a:ext>
            </a:extLst>
          </p:cNvPr>
          <p:cNvSpPr txBox="1"/>
          <p:nvPr/>
        </p:nvSpPr>
        <p:spPr>
          <a:xfrm>
            <a:off x="1" y="703629"/>
            <a:ext cx="770849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Known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Rapid Career Advancement: Troy </a:t>
            </a:r>
            <a:r>
              <a:rPr lang="en-US" err="1"/>
              <a:t>Risch</a:t>
            </a:r>
            <a:r>
              <a:rPr lang="en-US"/>
              <a:t> was recognized for his rapid career advancement, being promoted to Executive Vice President in September 2006.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Leadership in Stores: Demonstrated leadership within Target Corporation, particularly in the stores division.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Strategic Contributions: Made strategic contributions to the company's growth and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Notable Management Decisions: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EVP Role: Successfully assumed the role of Executive Vice President, showcasing his capabilities in a high-ranking leadership position.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Operational Excellence: Contributed to operational excellence within Target's stores, focusing on enhancing the customer experience.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Strategic Decision-Making: Participated in strategic decision-making processes, aligning with Target's goals and objectives.</a:t>
            </a:r>
          </a:p>
        </p:txBody>
      </p:sp>
      <p:pic>
        <p:nvPicPr>
          <p:cNvPr id="5" name="Content Placeholder 4" descr="A person in a suit smiling&#10;&#10;Description automatically generated">
            <a:extLst>
              <a:ext uri="{FF2B5EF4-FFF2-40B4-BE49-F238E27FC236}">
                <a16:creationId xmlns:a16="http://schemas.microsoft.com/office/drawing/2014/main" id="{D62D0277-A39C-2694-66FA-AC8A7B15F0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55" r="8194" b="2"/>
          <a:stretch/>
        </p:blipFill>
        <p:spPr>
          <a:xfrm>
            <a:off x="7708490" y="227"/>
            <a:ext cx="4483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52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6CAF8B-FDA6-7649-BCC0-285F78766871}"/>
              </a:ext>
            </a:extLst>
          </p:cNvPr>
          <p:cNvSpPr txBox="1"/>
          <p:nvPr/>
        </p:nvSpPr>
        <p:spPr>
          <a:xfrm>
            <a:off x="4611329" y="180409"/>
            <a:ext cx="3097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John Griffith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8C49A-380C-258E-AE6A-0930733D2A7B}"/>
              </a:ext>
            </a:extLst>
          </p:cNvPr>
          <p:cNvSpPr txBox="1"/>
          <p:nvPr/>
        </p:nvSpPr>
        <p:spPr>
          <a:xfrm>
            <a:off x="1" y="703629"/>
            <a:ext cx="7708490" cy="610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Known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50"/>
              <a:t>Leadership in Property Development: John Griffith was known for his leadership in the area of Property Development, rising to the position of Executive Vice President.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5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50"/>
              <a:t>Long-Term Commitment: Demonstrated a long-term commitment to Target, having been promoted to EVP in February 2005 from the position of Senior Vice President of Property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5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50"/>
              <a:t>Strategic Vision: Provided strategic vision and direction in the development and management of Target's properties.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/>
              <a:t> </a:t>
            </a:r>
            <a:r>
              <a:rPr lang="en-US" sz="2000"/>
              <a:t>Notable Management Decisions: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50"/>
              <a:t>Promotion to EVP: Successfully transitioned from Senior Vice President to Executive Vice President, showcasing his leadership abilities and contributions.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5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50"/>
              <a:t>Strategic Property Investments: Contributed to the strategic selection and development of properties, aligning with Target's overall growth strategy.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5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50"/>
              <a:t>Operational Excellence: Focused on operational excellence within the Property Development division, ensuring the efficient execution of projects.</a:t>
            </a:r>
          </a:p>
        </p:txBody>
      </p:sp>
      <p:pic>
        <p:nvPicPr>
          <p:cNvPr id="2" name="Content Placeholder 4" descr="A close-up of a person smiling&#10;&#10;Description automatically generated">
            <a:extLst>
              <a:ext uri="{FF2B5EF4-FFF2-40B4-BE49-F238E27FC236}">
                <a16:creationId xmlns:a16="http://schemas.microsoft.com/office/drawing/2014/main" id="{71D44D03-D80C-56BC-FA89-51B68FE351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4" r="30504"/>
          <a:stretch/>
        </p:blipFill>
        <p:spPr>
          <a:xfrm>
            <a:off x="7708490" y="227"/>
            <a:ext cx="4483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6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0FB7E-753A-082D-606A-5C10FE16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235" y="-41405"/>
            <a:ext cx="6230857" cy="818157"/>
          </a:xfrm>
        </p:spPr>
        <p:txBody>
          <a:bodyPr anchor="t">
            <a:normAutofit fontScale="90000"/>
          </a:bodyPr>
          <a:lstStyle/>
          <a:p>
            <a:r>
              <a:rPr lang="en-US" sz="3600">
                <a:solidFill>
                  <a:schemeClr val="accent1"/>
                </a:solidFill>
                <a:latin typeface="+mn-lt"/>
              </a:rPr>
              <a:t>Exhibit 2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FCAA5F5E-EC49-02FA-7F58-556ECC79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56" y="734502"/>
            <a:ext cx="7585257" cy="609246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58B09E-5115-44E2-D57A-FBDAFF8B262C}"/>
              </a:ext>
            </a:extLst>
          </p:cNvPr>
          <p:cNvSpPr txBox="1"/>
          <p:nvPr/>
        </p:nvSpPr>
        <p:spPr>
          <a:xfrm>
            <a:off x="7646675" y="817169"/>
            <a:ext cx="452926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Market Dominance:</a:t>
            </a:r>
          </a:p>
          <a:p>
            <a:r>
              <a:rPr lang="en-US" sz="1300" dirty="0"/>
              <a:t>  Wal-Mart and Target lead in market capitalization and revenue.</a:t>
            </a:r>
          </a:p>
          <a:p>
            <a:r>
              <a:rPr lang="en-US" sz="1300" dirty="0"/>
              <a:t>  Signifies their strong positions in the retail industry.</a:t>
            </a:r>
          </a:p>
          <a:p>
            <a:endParaRPr lang="en-US" sz="1300" dirty="0"/>
          </a:p>
          <a:p>
            <a:r>
              <a:rPr lang="en-US" sz="1300" dirty="0"/>
              <a:t>Profitability:</a:t>
            </a:r>
          </a:p>
          <a:p>
            <a:r>
              <a:rPr lang="en-US" sz="1300" dirty="0"/>
              <a:t> Costco and Wal-Mart show moderate to higher EPS, reflecting strong profitability.</a:t>
            </a:r>
          </a:p>
          <a:p>
            <a:r>
              <a:rPr lang="en-US" sz="1300" dirty="0"/>
              <a:t> Target's EPS of $2.73 indicates solid financial performance.</a:t>
            </a:r>
          </a:p>
          <a:p>
            <a:endParaRPr lang="en-US" sz="1300" dirty="0"/>
          </a:p>
          <a:p>
            <a:r>
              <a:rPr lang="en-US" sz="1300" dirty="0"/>
              <a:t>Debt Levels:</a:t>
            </a:r>
          </a:p>
          <a:p>
            <a:r>
              <a:rPr lang="en-US" sz="1300" dirty="0"/>
              <a:t> Target maintains relatively lower debt compared to Walmart, ensuring a more balanced capital structure.</a:t>
            </a:r>
          </a:p>
          <a:p>
            <a:r>
              <a:rPr lang="en-US" sz="1300" dirty="0"/>
              <a:t> Bed Bath &amp; Beyond exhibit’s the lowest debt level.</a:t>
            </a:r>
          </a:p>
          <a:p>
            <a:endParaRPr lang="en-US" sz="1300" dirty="0"/>
          </a:p>
          <a:p>
            <a:r>
              <a:rPr lang="en-US" sz="1300" dirty="0"/>
              <a:t>Credit Ratings:</a:t>
            </a:r>
          </a:p>
          <a:p>
            <a:r>
              <a:rPr lang="en-US" sz="1300" dirty="0"/>
              <a:t> Wal-Mart holds a high credit rating (AA), signifying very low credit risk.</a:t>
            </a:r>
          </a:p>
          <a:p>
            <a:r>
              <a:rPr lang="en-US" sz="1300" dirty="0"/>
              <a:t> Target and Costco maintain strong credit ratings.</a:t>
            </a:r>
          </a:p>
          <a:p>
            <a:endParaRPr lang="en-US" sz="1300" dirty="0"/>
          </a:p>
          <a:p>
            <a:r>
              <a:rPr lang="en-US" sz="1300" dirty="0"/>
              <a:t>Market Sensitivity (Beta):</a:t>
            </a:r>
          </a:p>
          <a:p>
            <a:r>
              <a:rPr lang="en-US" sz="1300" dirty="0"/>
              <a:t> Wal-Mart has a relatively lower beta indicating lower volatility.</a:t>
            </a:r>
          </a:p>
          <a:p>
            <a:r>
              <a:rPr lang="en-US" sz="1300" dirty="0"/>
              <a:t> Best Buy and Bed Bath &amp; Beyond show higher market sensitivity.</a:t>
            </a:r>
          </a:p>
          <a:p>
            <a:endParaRPr lang="en-US" sz="1300" dirty="0"/>
          </a:p>
          <a:p>
            <a:r>
              <a:rPr lang="en-US" sz="1300" dirty="0"/>
              <a:t>Analysis Period:</a:t>
            </a:r>
          </a:p>
          <a:p>
            <a:r>
              <a:rPr lang="en-US" sz="1300" dirty="0"/>
              <a:t> Metrics are as of Jan or Feb 2006, ensuring a consistent basis for comparison.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E10A20-44A2-C02C-B140-C7044B28128D}"/>
                  </a:ext>
                </a:extLst>
              </p14:cNvPr>
              <p14:cNvContentPartPr/>
              <p14:nvPr/>
            </p14:nvContentPartPr>
            <p14:xfrm>
              <a:off x="13120092" y="1970848"/>
              <a:ext cx="6680" cy="6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E10A20-44A2-C02C-B140-C7044B2812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52092" y="634848"/>
                <a:ext cx="1336000" cy="26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3690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0FB7E-753A-082D-606A-5C10FE16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799" y="157754"/>
            <a:ext cx="6230857" cy="765687"/>
          </a:xfrm>
        </p:spPr>
        <p:txBody>
          <a:bodyPr anchor="t">
            <a:normAutofit fontScale="90000"/>
          </a:bodyPr>
          <a:lstStyle/>
          <a:p>
            <a:r>
              <a:rPr lang="en-US" sz="3600">
                <a:solidFill>
                  <a:schemeClr val="accent1"/>
                </a:solidFill>
                <a:latin typeface="+mn-lt"/>
              </a:rPr>
              <a:t>Exhibit 3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report&#10;&#10;Description automatically generated">
            <a:extLst>
              <a:ext uri="{FF2B5EF4-FFF2-40B4-BE49-F238E27FC236}">
                <a16:creationId xmlns:a16="http://schemas.microsoft.com/office/drawing/2014/main" id="{2F2FE9DC-F16F-367C-A6CF-4A4996654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80570"/>
            <a:ext cx="5545393" cy="5863144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81DE53-DF1B-C51F-F587-6C2FE590695B}"/>
              </a:ext>
            </a:extLst>
          </p:cNvPr>
          <p:cNvSpPr txBox="1"/>
          <p:nvPr/>
        </p:nvSpPr>
        <p:spPr>
          <a:xfrm>
            <a:off x="5544752" y="920750"/>
            <a:ext cx="661708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Revenue Growth: Target Corporation experienced growth in net revenues from $46.8 billion in the fiscal year ending January 29, 2005, to $52.6 billion in the fiscal year ending January 28, 2006.</a:t>
            </a:r>
          </a:p>
          <a:p>
            <a:endParaRPr lang="en-US" sz="1600" dirty="0"/>
          </a:p>
          <a:p>
            <a:r>
              <a:rPr lang="en-US" sz="1600" dirty="0"/>
              <a:t>Profitability: Gross income in 2006 was $16.3 billion, indicating profitability after deducting the cost of goods sold ($34.9 billion).</a:t>
            </a:r>
          </a:p>
          <a:p>
            <a:endParaRPr lang="en-US" sz="1600" dirty="0"/>
          </a:p>
          <a:p>
            <a:r>
              <a:rPr lang="en-US" sz="1600" dirty="0"/>
              <a:t>Operating Expenses: Selling, general, and administrative expenses amounted to $12 billion in 2006, contributing to the overall cost structure.</a:t>
            </a:r>
          </a:p>
          <a:p>
            <a:endParaRPr lang="en-US" sz="1600" dirty="0"/>
          </a:p>
          <a:p>
            <a:r>
              <a:rPr lang="en-US" sz="1600" dirty="0"/>
              <a:t>Earnings and Taxes: Earnings before interest and taxes (EBTI) were $4.3 billion in 2006, with a net interest expense of $463 million. The company reported a pre-tax income of $3.9 billion and income taxes of $1.5 billion.</a:t>
            </a:r>
          </a:p>
          <a:p>
            <a:endParaRPr lang="en-US" sz="1600" dirty="0"/>
          </a:p>
          <a:p>
            <a:r>
              <a:rPr lang="en-US" sz="1600" dirty="0"/>
              <a:t>Capital Expenditures: The company invested $3.3 billion in capital expenditures in 2006, representing 6.3% of sales, reflecting a commitment to business expansion and improvement.</a:t>
            </a:r>
          </a:p>
          <a:p>
            <a:endParaRPr lang="en-US" sz="1600" dirty="0"/>
          </a:p>
          <a:p>
            <a:r>
              <a:rPr lang="en-US" sz="1600" dirty="0"/>
              <a:t>Net Income: Target Corporation reported a net income of $2.4 billion before considering extra items, showcasing financial stability and positive performance during this period.</a:t>
            </a:r>
          </a:p>
        </p:txBody>
      </p:sp>
    </p:spTree>
    <p:extLst>
      <p:ext uri="{BB962C8B-B14F-4D97-AF65-F5344CB8AC3E}">
        <p14:creationId xmlns:p14="http://schemas.microsoft.com/office/powerpoint/2010/main" val="2051924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0FB7E-753A-082D-606A-5C10FE16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799" y="138112"/>
            <a:ext cx="6230857" cy="888445"/>
          </a:xfrm>
        </p:spPr>
        <p:txBody>
          <a:bodyPr anchor="t">
            <a:normAutofit fontScale="90000"/>
          </a:bodyPr>
          <a:lstStyle/>
          <a:p>
            <a:r>
              <a:rPr lang="en-US" sz="3600">
                <a:solidFill>
                  <a:schemeClr val="accent1"/>
                </a:solidFill>
                <a:latin typeface="+mn-lt"/>
              </a:rPr>
              <a:t>Exhibit 4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report&#10;&#10;Description automatically generated">
            <a:extLst>
              <a:ext uri="{FF2B5EF4-FFF2-40B4-BE49-F238E27FC236}">
                <a16:creationId xmlns:a16="http://schemas.microsoft.com/office/drawing/2014/main" id="{02D528F5-BC54-96CE-FE82-CE663F40C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" y="1164669"/>
            <a:ext cx="6856796" cy="571728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9A3A10-BAA0-67EC-B0F3-43E3CB4AFDA9}"/>
              </a:ext>
            </a:extLst>
          </p:cNvPr>
          <p:cNvSpPr txBox="1"/>
          <p:nvPr/>
        </p:nvSpPr>
        <p:spPr>
          <a:xfrm>
            <a:off x="6894266" y="1098763"/>
            <a:ext cx="5160081" cy="5909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b="1" i="0" dirty="0">
                <a:effectLst/>
              </a:rPr>
              <a:t>Assets:</a:t>
            </a:r>
            <a:endParaRPr lang="en-US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Steady Growth: Total assets increased from $31.4 billion (2004) to $35 billion (</a:t>
            </a:r>
            <a:r>
              <a:rPr lang="en-US" dirty="0"/>
              <a:t>2006</a:t>
            </a:r>
            <a:r>
              <a:rPr lang="en-US" b="0" i="0" dirty="0">
                <a:effectLst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Balanced Composition: Assets reflect a mix of current and long-term assets.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 algn="l"/>
            <a:r>
              <a:rPr lang="en-US" b="1" i="0" dirty="0">
                <a:effectLst/>
              </a:rPr>
              <a:t>Liabilities:</a:t>
            </a:r>
            <a:endParaRPr lang="en-US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Manageable Current Liabilities: Current liabilities remained stable.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Long-Term Debt Stability: Slight increase in long-term debt, but at a reasonable level.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 algn="l"/>
            <a:r>
              <a:rPr lang="en-US" b="1" i="0" dirty="0">
                <a:effectLst/>
              </a:rPr>
              <a:t>Shareholders' Equity:</a:t>
            </a:r>
            <a:endParaRPr lang="en-US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Equity Growth: Shareholders' equity increased positively.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 algn="l"/>
            <a:r>
              <a:rPr lang="en-US" b="1" i="0" dirty="0">
                <a:effectLst/>
              </a:rPr>
              <a:t>Trend Indicators:</a:t>
            </a:r>
            <a:endParaRPr lang="en-US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Consistent Capital Expenditure: Capital expenditures remained stable as a percentage of sales.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98365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0FB7E-753A-082D-606A-5C10FE16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484" y="187280"/>
            <a:ext cx="6230857" cy="746790"/>
          </a:xfrm>
        </p:spPr>
        <p:txBody>
          <a:bodyPr anchor="t">
            <a:normAutofit fontScale="90000"/>
          </a:bodyPr>
          <a:lstStyle/>
          <a:p>
            <a:r>
              <a:rPr lang="en-US" sz="3600">
                <a:solidFill>
                  <a:schemeClr val="accent1"/>
                </a:solidFill>
                <a:latin typeface="+mn-lt"/>
              </a:rPr>
              <a:t>Exhibit 7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document&#10;&#10;Description automatically generated">
            <a:extLst>
              <a:ext uri="{FF2B5EF4-FFF2-40B4-BE49-F238E27FC236}">
                <a16:creationId xmlns:a16="http://schemas.microsoft.com/office/drawing/2014/main" id="{11C52C26-3837-8192-4F6A-7FC7256142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8" y="956587"/>
            <a:ext cx="8256533" cy="593513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AC9C75-201D-4D8A-3FC3-C4422A51D380}"/>
              </a:ext>
            </a:extLst>
          </p:cNvPr>
          <p:cNvSpPr txBox="1"/>
          <p:nvPr/>
        </p:nvSpPr>
        <p:spPr>
          <a:xfrm>
            <a:off x="8242238" y="934070"/>
            <a:ext cx="3938006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</a:rPr>
              <a:t>The Barn </a:t>
            </a:r>
            <a:r>
              <a:rPr lang="en-US" sz="1400" b="1" dirty="0"/>
              <a:t>Compared to Other Projects: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b="1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</a:rPr>
              <a:t>Pros: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</a:rPr>
              <a:t>Highest IRR: Strong potential for profitability.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</a:rPr>
              <a:t>New Market Opportunity: No nearby stores, minimizing competition.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</a:rPr>
              <a:t>Favorable NPV: Indicates positive financial returns.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b="1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</a:rPr>
              <a:t>Cons: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</a:rPr>
              <a:t>Development History: Past failed efforts raise concerns.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</a:rPr>
              <a:t>Limited Population Growth: Challenges with minimal growth.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</a:rPr>
              <a:t>Competition: Faces competition from key markets.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b="1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</a:rPr>
              <a:t>Investment: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Lowest</a:t>
            </a:r>
            <a:r>
              <a:rPr lang="en-US" sz="1400" b="1" i="0" dirty="0">
                <a:effectLst/>
              </a:rPr>
              <a:t> investment of $13,000.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b="1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</a:rPr>
              <a:t>10% Sales Decline Impact: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Will lose $4,066 from NPV</a:t>
            </a:r>
            <a:endParaRPr lang="en-US" sz="1400" b="1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b="1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</a:rPr>
              <a:t>% of Adults 4+ Years in College: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</a:rPr>
              <a:t>17%, positioning moderately in education level.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50386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0FB7E-753A-082D-606A-5C10FE16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743" y="48973"/>
            <a:ext cx="6230857" cy="639001"/>
          </a:xfrm>
        </p:spPr>
        <p:txBody>
          <a:bodyPr anchor="t">
            <a:normAutofit fontScale="90000"/>
          </a:bodyPr>
          <a:lstStyle/>
          <a:p>
            <a:r>
              <a:rPr lang="en-US" sz="3600">
                <a:solidFill>
                  <a:schemeClr val="accent1"/>
                </a:solidFill>
                <a:latin typeface="+mn-lt"/>
              </a:rPr>
              <a:t>Exhibit 7 Qualitative Analysis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 descr="A table with many numbers and words&#10;&#10;Description automatically generated with medium confidence">
            <a:extLst>
              <a:ext uri="{FF2B5EF4-FFF2-40B4-BE49-F238E27FC236}">
                <a16:creationId xmlns:a16="http://schemas.microsoft.com/office/drawing/2014/main" id="{928A73F7-29DB-D6AA-AE48-29DC67A5C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614124"/>
            <a:ext cx="10180637" cy="619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128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0FB7E-753A-082D-606A-5C10FE16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8728" y="-1588"/>
            <a:ext cx="2643107" cy="731786"/>
          </a:xfrm>
        </p:spPr>
        <p:txBody>
          <a:bodyPr anchor="t">
            <a:normAutofit fontScale="90000"/>
          </a:bodyPr>
          <a:lstStyle/>
          <a:p>
            <a:r>
              <a:rPr lang="en-US" sz="3600">
                <a:solidFill>
                  <a:schemeClr val="bg1"/>
                </a:solidFill>
                <a:latin typeface="+mn-lt"/>
              </a:rPr>
              <a:t>Exhibit 8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Content Placeholder 6" descr="A screenshot of a project request&#10;&#10;Description automatically generated">
            <a:extLst>
              <a:ext uri="{FF2B5EF4-FFF2-40B4-BE49-F238E27FC236}">
                <a16:creationId xmlns:a16="http://schemas.microsoft.com/office/drawing/2014/main" id="{23B72C97-0386-9D64-0822-415E156DA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3914" y="163513"/>
            <a:ext cx="9279073" cy="664816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CB0A10C-35F4-F086-B7C2-63D47F0E6C3E}"/>
                  </a:ext>
                </a:extLst>
              </p14:cNvPr>
              <p14:cNvContentPartPr/>
              <p14:nvPr/>
            </p14:nvContentPartPr>
            <p14:xfrm>
              <a:off x="1963142" y="5253798"/>
              <a:ext cx="793043" cy="66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CB0A10C-35F4-F086-B7C2-63D47F0E6C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7160" y="5186998"/>
                <a:ext cx="864647" cy="1399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1B47670-ED73-F641-9B0C-265ECC1A8DCD}"/>
                  </a:ext>
                </a:extLst>
              </p14:cNvPr>
              <p14:cNvContentPartPr/>
              <p14:nvPr/>
            </p14:nvContentPartPr>
            <p14:xfrm>
              <a:off x="3607792" y="5253522"/>
              <a:ext cx="907343" cy="25676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1B47670-ED73-F641-9B0C-265ECC1A8DC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71801" y="5182200"/>
                <a:ext cx="978966" cy="167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EF18284-5579-13B6-E4A0-28004707EEC7}"/>
                  </a:ext>
                </a:extLst>
              </p14:cNvPr>
              <p14:cNvContentPartPr/>
              <p14:nvPr/>
            </p14:nvContentPartPr>
            <p14:xfrm>
              <a:off x="3233142" y="4097821"/>
              <a:ext cx="716844" cy="66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EF18284-5579-13B6-E4A0-28004707EEC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97156" y="4027505"/>
                <a:ext cx="788456" cy="1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BD5CA06-4C0F-B36B-F4C2-3A2BEF36D8E8}"/>
                  </a:ext>
                </a:extLst>
              </p14:cNvPr>
              <p14:cNvContentPartPr/>
              <p14:nvPr/>
            </p14:nvContentPartPr>
            <p14:xfrm>
              <a:off x="3602148" y="3482148"/>
              <a:ext cx="342193" cy="66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BD5CA06-4C0F-B36B-F4C2-3A2BEF36D8E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66203" y="3411832"/>
                <a:ext cx="413723" cy="1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2CEF9CF-2FE0-A4DD-A43D-E2C91B648645}"/>
                  </a:ext>
                </a:extLst>
              </p14:cNvPr>
              <p14:cNvContentPartPr/>
              <p14:nvPr/>
            </p14:nvContentPartPr>
            <p14:xfrm>
              <a:off x="5550892" y="4879147"/>
              <a:ext cx="742484" cy="19327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2CEF9CF-2FE0-A4DD-A43D-E2C91B64864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14919" y="4808867"/>
                <a:ext cx="814070" cy="1595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21C919F-0B89-B8B6-99AB-896E7F0638DC}"/>
                  </a:ext>
                </a:extLst>
              </p14:cNvPr>
              <p14:cNvContentPartPr/>
              <p14:nvPr/>
            </p14:nvContentPartPr>
            <p14:xfrm>
              <a:off x="5544541" y="4815647"/>
              <a:ext cx="761293" cy="19317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21C919F-0B89-B8B6-99AB-896E7F0638D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08563" y="4745403"/>
                <a:ext cx="832889" cy="1594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9D57078-26D9-6382-1CD0-0DBAEDE0C32A}"/>
                  </a:ext>
                </a:extLst>
              </p14:cNvPr>
              <p14:cNvContentPartPr/>
              <p14:nvPr/>
            </p14:nvContentPartPr>
            <p14:xfrm>
              <a:off x="5411191" y="1367321"/>
              <a:ext cx="1059743" cy="66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9D57078-26D9-6382-1CD0-0DBAEDE0C32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75207" y="1300521"/>
                <a:ext cx="1131352" cy="1399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11A6645-5080-3CD7-A661-D4298D3C0723}"/>
                  </a:ext>
                </a:extLst>
              </p14:cNvPr>
              <p14:cNvContentPartPr/>
              <p14:nvPr/>
            </p14:nvContentPartPr>
            <p14:xfrm>
              <a:off x="5411191" y="1468921"/>
              <a:ext cx="1072443" cy="6903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11A6645-5080-3CD7-A661-D4298D3C072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375203" y="1399891"/>
                <a:ext cx="1144059" cy="1446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2C29CB1-5CD6-9A63-9D4E-C530D9F1FC0E}"/>
                  </a:ext>
                </a:extLst>
              </p14:cNvPr>
              <p14:cNvContentPartPr/>
              <p14:nvPr/>
            </p14:nvContentPartPr>
            <p14:xfrm>
              <a:off x="3760898" y="1843848"/>
              <a:ext cx="202494" cy="66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2C29CB1-5CD6-9A63-9D4E-C530D9F1FC0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24995" y="1777048"/>
                <a:ext cx="273941" cy="13994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1857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0FB7E-753A-082D-606A-5C10FE16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565" y="245649"/>
            <a:ext cx="6230857" cy="639001"/>
          </a:xfrm>
        </p:spPr>
        <p:txBody>
          <a:bodyPr anchor="t">
            <a:normAutofit fontScale="90000"/>
          </a:bodyPr>
          <a:lstStyle/>
          <a:p>
            <a:r>
              <a:rPr lang="en-US" sz="3600">
                <a:solidFill>
                  <a:schemeClr val="accent1"/>
                </a:solidFill>
                <a:latin typeface="+mn-lt"/>
              </a:rPr>
              <a:t>Exhibit 9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41BB3F0D-6014-455C-2059-C1E006E34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34069"/>
            <a:ext cx="8703877" cy="591916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158B7E-B263-9076-C01C-927F15D7F20C}"/>
              </a:ext>
            </a:extLst>
          </p:cNvPr>
          <p:cNvSpPr txBox="1"/>
          <p:nvPr/>
        </p:nvSpPr>
        <p:spPr>
          <a:xfrm>
            <a:off x="8708639" y="1050178"/>
            <a:ext cx="31166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Based on the graph there appears to be a general upward trend with Target’s stock price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S&amp;P500 indicator also agrees that target’s stock prices have been performing better as time has gone by.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Target must continue to make good decisions by choosing the right projects. Projects that generally carry a larger NPV than others are worth pursuing.</a:t>
            </a:r>
          </a:p>
        </p:txBody>
      </p:sp>
    </p:spTree>
    <p:extLst>
      <p:ext uri="{BB962C8B-B14F-4D97-AF65-F5344CB8AC3E}">
        <p14:creationId xmlns:p14="http://schemas.microsoft.com/office/powerpoint/2010/main" val="2637398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0FB7E-753A-082D-606A-5C10FE16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264" y="167198"/>
            <a:ext cx="6230857" cy="639001"/>
          </a:xfrm>
        </p:spPr>
        <p:txBody>
          <a:bodyPr anchor="t">
            <a:normAutofit fontScale="90000"/>
          </a:bodyPr>
          <a:lstStyle/>
          <a:p>
            <a:r>
              <a:rPr lang="en-US" sz="3600">
                <a:solidFill>
                  <a:schemeClr val="accent1"/>
                </a:solidFill>
                <a:latin typeface="+mn-lt"/>
              </a:rPr>
              <a:t>The Final Decision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 descr="A table of numbers and a list of words&#10;&#10;Description automatically generated with medium confidence">
            <a:extLst>
              <a:ext uri="{FF2B5EF4-FFF2-40B4-BE49-F238E27FC236}">
                <a16:creationId xmlns:a16="http://schemas.microsoft.com/office/drawing/2014/main" id="{1BC324E0-2B9C-1AC8-B16B-D671B4358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988" y="810800"/>
            <a:ext cx="10229850" cy="603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91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0FB7E-753A-082D-606A-5C10FE16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598" y="9525"/>
            <a:ext cx="6230857" cy="628651"/>
          </a:xfrm>
        </p:spPr>
        <p:txBody>
          <a:bodyPr anchor="t">
            <a:normAutofit fontScale="90000"/>
          </a:bodyPr>
          <a:lstStyle/>
          <a:p>
            <a:r>
              <a:rPr lang="en-US" sz="3600">
                <a:solidFill>
                  <a:schemeClr val="accent1"/>
                </a:solidFill>
                <a:latin typeface="+mn-lt"/>
              </a:rPr>
              <a:t>Why the Barn is the Best Choice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6AF9C-14EF-59C6-FE78-7B531837E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7862" y="638177"/>
            <a:ext cx="10213975" cy="6205536"/>
          </a:xfrm>
        </p:spPr>
        <p:txBody>
          <a:bodyPr anchor="t">
            <a:normAutofit fontScale="92500"/>
          </a:bodyPr>
          <a:lstStyle/>
          <a:p>
            <a:r>
              <a:rPr lang="en-US" sz="1900"/>
              <a:t>Financial Excellence:</a:t>
            </a:r>
          </a:p>
          <a:p>
            <a:r>
              <a:rPr lang="en-US" sz="1600"/>
              <a:t>  Second-highest NPV reflects robust financial performance.</a:t>
            </a:r>
          </a:p>
          <a:p>
            <a:r>
              <a:rPr lang="en-US" sz="1600"/>
              <a:t>  Highest Profitability Index (2.57) and lowest initial investment cost demonstrate efficient resource utilization.</a:t>
            </a:r>
          </a:p>
          <a:p>
            <a:endParaRPr lang="en-US" sz="1600"/>
          </a:p>
          <a:p>
            <a:r>
              <a:rPr lang="en-US" sz="1900"/>
              <a:t>Profitability and Resilience:</a:t>
            </a:r>
          </a:p>
          <a:p>
            <a:r>
              <a:rPr lang="en-US" sz="1600"/>
              <a:t>  Estimated IRR surpasses competitors, highlighting superior profitability.</a:t>
            </a:r>
          </a:p>
          <a:p>
            <a:r>
              <a:rPr lang="en-US" sz="1600"/>
              <a:t>  Resilience to sales decline with minimal sensitivity (20% decrease in NPV).</a:t>
            </a:r>
          </a:p>
          <a:p>
            <a:endParaRPr lang="en-US" sz="1600"/>
          </a:p>
          <a:p>
            <a:r>
              <a:rPr lang="en-US" sz="1900"/>
              <a:t>Strategic Advantage:</a:t>
            </a:r>
          </a:p>
          <a:p>
            <a:r>
              <a:rPr lang="en-US" sz="1600"/>
              <a:t>  Limited local competitors position The Barn strategically.</a:t>
            </a:r>
          </a:p>
          <a:p>
            <a:r>
              <a:rPr lang="en-US" sz="1600"/>
              <a:t>  Resubmission underscores its importance and commitment, emphasizing its attractiveness.</a:t>
            </a:r>
          </a:p>
          <a:p>
            <a:endParaRPr lang="en-US" sz="1600"/>
          </a:p>
          <a:p>
            <a:r>
              <a:rPr lang="en-US" sz="1900"/>
              <a:t>Alignment with Target's Strategy:</a:t>
            </a:r>
          </a:p>
          <a:p>
            <a:r>
              <a:rPr lang="en-US" sz="1600"/>
              <a:t>  Well-rounded performance aligns with Target's strategic goals.</a:t>
            </a:r>
          </a:p>
          <a:p>
            <a:r>
              <a:rPr lang="en-US" sz="1600"/>
              <a:t>  Outperforms competitors, making The Barn the optimal investment choice.</a:t>
            </a:r>
          </a:p>
        </p:txBody>
      </p:sp>
    </p:spTree>
    <p:extLst>
      <p:ext uri="{BB962C8B-B14F-4D97-AF65-F5344CB8AC3E}">
        <p14:creationId xmlns:p14="http://schemas.microsoft.com/office/powerpoint/2010/main" val="3872592640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C360F130E1A24B8483E00CDB095E27" ma:contentTypeVersion="14" ma:contentTypeDescription="Create a new document." ma:contentTypeScope="" ma:versionID="98af0712243ed1b4f01f24ec928d9743">
  <xsd:schema xmlns:xsd="http://www.w3.org/2001/XMLSchema" xmlns:xs="http://www.w3.org/2001/XMLSchema" xmlns:p="http://schemas.microsoft.com/office/2006/metadata/properties" xmlns:ns3="755ca9bd-47bd-4ede-a832-fc65fa9e78de" xmlns:ns4="e2d12f73-0dc8-4a2c-8a70-f7a65740b432" targetNamespace="http://schemas.microsoft.com/office/2006/metadata/properties" ma:root="true" ma:fieldsID="37bfdceca8bc7c488f794cb669cb6679" ns3:_="" ns4:_="">
    <xsd:import namespace="755ca9bd-47bd-4ede-a832-fc65fa9e78de"/>
    <xsd:import namespace="e2d12f73-0dc8-4a2c-8a70-f7a65740b4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5ca9bd-47bd-4ede-a832-fc65fa9e7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d12f73-0dc8-4a2c-8a70-f7a65740b43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55ca9bd-47bd-4ede-a832-fc65fa9e78de" xsi:nil="true"/>
  </documentManagement>
</p:properties>
</file>

<file path=customXml/itemProps1.xml><?xml version="1.0" encoding="utf-8"?>
<ds:datastoreItem xmlns:ds="http://schemas.openxmlformats.org/officeDocument/2006/customXml" ds:itemID="{1902E869-DBF9-4F78-A771-ADC6AB447E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640ED1-D77E-4983-A599-79008909D5CF}">
  <ds:schemaRefs>
    <ds:schemaRef ds:uri="755ca9bd-47bd-4ede-a832-fc65fa9e78de"/>
    <ds:schemaRef ds:uri="e2d12f73-0dc8-4a2c-8a70-f7a65740b4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D8D7318-2517-41A2-BE19-C625E7232454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documentManagement/types"/>
    <ds:schemaRef ds:uri="http://purl.org/dc/elements/1.1/"/>
    <ds:schemaRef ds:uri="755ca9bd-47bd-4ede-a832-fc65fa9e78de"/>
    <ds:schemaRef ds:uri="e2d12f73-0dc8-4a2c-8a70-f7a65740b432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1824</Words>
  <Application>Microsoft Office PowerPoint</Application>
  <PresentationFormat>Widescreen</PresentationFormat>
  <Paragraphs>197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 Light</vt:lpstr>
      <vt:lpstr>Rockwell</vt:lpstr>
      <vt:lpstr>Wingdings</vt:lpstr>
      <vt:lpstr>Atlas</vt:lpstr>
      <vt:lpstr>Target Corporation</vt:lpstr>
      <vt:lpstr>Executive Summary</vt:lpstr>
      <vt:lpstr>Executive Summary (Continued) </vt:lpstr>
      <vt:lpstr>Target Timeline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Exhibit 2</vt:lpstr>
      <vt:lpstr>Exhibit 3</vt:lpstr>
      <vt:lpstr>Exhibit 4</vt:lpstr>
      <vt:lpstr>Exhibit 7</vt:lpstr>
      <vt:lpstr>Exhibit 7 Qualitative Analysis</vt:lpstr>
      <vt:lpstr>Exhibit 8</vt:lpstr>
      <vt:lpstr>Exhibit 9</vt:lpstr>
      <vt:lpstr>The Final Decision</vt:lpstr>
      <vt:lpstr>Why the Barn is the Best Choice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Ricci, Nicholas</dc:creator>
  <cp:lastModifiedBy>Ricci, Nicholas</cp:lastModifiedBy>
  <cp:revision>1</cp:revision>
  <dcterms:created xsi:type="dcterms:W3CDTF">2023-11-12T21:25:17Z</dcterms:created>
  <dcterms:modified xsi:type="dcterms:W3CDTF">2023-11-30T20:15:28Z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0x0101000AC360F130E1A24B8483E00CDB095E27</vt:lpwstr>
  </property>
</Properties>
</file>