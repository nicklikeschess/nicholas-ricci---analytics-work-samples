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3" r:id="rId5"/>
  </p:sldMasterIdLst>
  <p:sldIdLst>
    <p:sldId id="256" r:id="rId6"/>
    <p:sldId id="277" r:id="rId7"/>
    <p:sldId id="279" r:id="rId8"/>
    <p:sldId id="296" r:id="rId9"/>
    <p:sldId id="313" r:id="rId10"/>
    <p:sldId id="316" r:id="rId11"/>
    <p:sldId id="317" r:id="rId12"/>
    <p:sldId id="283" r:id="rId13"/>
    <p:sldId id="297" r:id="rId14"/>
    <p:sldId id="298" r:id="rId15"/>
    <p:sldId id="300" r:id="rId16"/>
    <p:sldId id="318" r:id="rId17"/>
    <p:sldId id="301" r:id="rId18"/>
    <p:sldId id="302" r:id="rId19"/>
    <p:sldId id="303" r:id="rId20"/>
    <p:sldId id="306" r:id="rId21"/>
    <p:sldId id="307" r:id="rId22"/>
    <p:sldId id="305" r:id="rId23"/>
    <p:sldId id="308" r:id="rId24"/>
    <p:sldId id="30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F2155-D5B3-411A-889B-4813C0185927}" v="2458" dt="2023-04-11T18:44:06.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21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F7016E-7EC6-4D28-9F07-EB566375EFFF}"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D10FCD82-09BE-46FA-AFAD-E2D504A0FA92}">
      <dgm:prSet/>
      <dgm:spPr/>
      <dgm:t>
        <a:bodyPr/>
        <a:lstStyle/>
        <a:p>
          <a:r>
            <a:rPr lang="en-US" dirty="0">
              <a:latin typeface="Arial Black" panose="020B0A04020102020204" pitchFamily="34" charset="0"/>
            </a:rPr>
            <a:t>On December 4, 2000, PepsiCo, Inc., and the Quaker Oats Company announced their merger, with PepsiCo acquiring Quaker Oats in a stock-for-stock deal valuing Quaker at around $14 billion.</a:t>
          </a:r>
        </a:p>
      </dgm:t>
    </dgm:pt>
    <dgm:pt modelId="{C7EE6D8E-CBE9-477F-AFDF-537BA7A81769}" type="parTrans" cxnId="{D5F32A3A-D130-4EE3-A28E-0B5FC9508846}">
      <dgm:prSet/>
      <dgm:spPr/>
      <dgm:t>
        <a:bodyPr/>
        <a:lstStyle/>
        <a:p>
          <a:endParaRPr lang="en-US"/>
        </a:p>
      </dgm:t>
    </dgm:pt>
    <dgm:pt modelId="{B3DF93BF-70CD-4200-91FF-4B8BBA4D2B77}" type="sibTrans" cxnId="{D5F32A3A-D130-4EE3-A28E-0B5FC9508846}">
      <dgm:prSet/>
      <dgm:spPr/>
      <dgm:t>
        <a:bodyPr/>
        <a:lstStyle/>
        <a:p>
          <a:endParaRPr lang="en-US"/>
        </a:p>
      </dgm:t>
    </dgm:pt>
    <dgm:pt modelId="{5BE79A39-0142-4DE7-A079-656E54510F16}">
      <dgm:prSet/>
      <dgm:spPr/>
      <dgm:t>
        <a:bodyPr/>
        <a:lstStyle/>
        <a:p>
          <a:r>
            <a:rPr lang="en-US" dirty="0">
              <a:latin typeface="Arial Black" panose="020B0A04020102020204" pitchFamily="34" charset="0"/>
            </a:rPr>
            <a:t>The acquisition gave PepsiCo access to Gatorade and control of 83.6% of the sports drink market, consolidating its lead in the noncarbonated-beverages segment. </a:t>
          </a:r>
        </a:p>
      </dgm:t>
    </dgm:pt>
    <dgm:pt modelId="{EF3DE4A1-5F6C-46CB-BEEB-55BECDEE0BFF}" type="parTrans" cxnId="{A390050C-7E9B-4CAE-B6ED-7B4A95B77D55}">
      <dgm:prSet/>
      <dgm:spPr/>
      <dgm:t>
        <a:bodyPr/>
        <a:lstStyle/>
        <a:p>
          <a:endParaRPr lang="en-US"/>
        </a:p>
      </dgm:t>
    </dgm:pt>
    <dgm:pt modelId="{58F140F7-6968-4E2B-82AA-D3E3AF931A6B}" type="sibTrans" cxnId="{A390050C-7E9B-4CAE-B6ED-7B4A95B77D55}">
      <dgm:prSet/>
      <dgm:spPr/>
      <dgm:t>
        <a:bodyPr/>
        <a:lstStyle/>
        <a:p>
          <a:endParaRPr lang="en-US"/>
        </a:p>
      </dgm:t>
    </dgm:pt>
    <dgm:pt modelId="{281B0BFB-0B87-43DC-91D1-39CB8B6B663A}">
      <dgm:prSet/>
      <dgm:spPr/>
      <dgm:t>
        <a:bodyPr/>
        <a:lstStyle/>
        <a:p>
          <a:r>
            <a:rPr lang="en-US" dirty="0">
              <a:latin typeface="Arial Black" panose="020B0A04020102020204" pitchFamily="34" charset="0"/>
            </a:rPr>
            <a:t>Analysts estimated that PepsiCo would control around 33% of the U.S. noncarbonated-beverage market after the Gatorade acquisition, far ahead of Coca-Cola's 21%.</a:t>
          </a:r>
        </a:p>
      </dgm:t>
    </dgm:pt>
    <dgm:pt modelId="{3497D7A3-2ABD-46A7-8D26-F630D853B616}" type="parTrans" cxnId="{AD0CFAD2-D952-43A6-9AC3-6EAA751C6020}">
      <dgm:prSet/>
      <dgm:spPr/>
      <dgm:t>
        <a:bodyPr/>
        <a:lstStyle/>
        <a:p>
          <a:endParaRPr lang="en-US"/>
        </a:p>
      </dgm:t>
    </dgm:pt>
    <dgm:pt modelId="{D1C9405D-C755-4477-A635-8731FD5AA084}" type="sibTrans" cxnId="{AD0CFAD2-D952-43A6-9AC3-6EAA751C6020}">
      <dgm:prSet/>
      <dgm:spPr/>
      <dgm:t>
        <a:bodyPr/>
        <a:lstStyle/>
        <a:p>
          <a:endParaRPr lang="en-US"/>
        </a:p>
      </dgm:t>
    </dgm:pt>
    <dgm:pt modelId="{787F2A5B-CC31-43B7-920E-9FDD0C032081}">
      <dgm:prSet/>
      <dgm:spPr/>
      <dgm:t>
        <a:bodyPr/>
        <a:lstStyle/>
        <a:p>
          <a:r>
            <a:rPr lang="en-US" dirty="0">
              <a:latin typeface="Arial Black" panose="020B0A04020102020204" pitchFamily="34" charset="0"/>
            </a:rPr>
            <a:t>Coca-Cola had recently run into difficulties due to various reasons including business mistakes by Doug </a:t>
          </a:r>
          <a:r>
            <a:rPr lang="en-US" dirty="0" err="1">
              <a:latin typeface="Arial Black" panose="020B0A04020102020204" pitchFamily="34" charset="0"/>
            </a:rPr>
            <a:t>Ivester</a:t>
          </a:r>
          <a:r>
            <a:rPr lang="en-US" dirty="0">
              <a:latin typeface="Arial Black" panose="020B0A04020102020204" pitchFamily="34" charset="0"/>
            </a:rPr>
            <a:t>, CEO from 1997 to 1999, while PepsiCo had invigorated management. </a:t>
          </a:r>
        </a:p>
      </dgm:t>
    </dgm:pt>
    <dgm:pt modelId="{843EC5E5-A279-4CB9-AE57-3E8275409372}" type="parTrans" cxnId="{005D7FB5-CCF6-4F93-9576-C3BB2EACBF8E}">
      <dgm:prSet/>
      <dgm:spPr/>
      <dgm:t>
        <a:bodyPr/>
        <a:lstStyle/>
        <a:p>
          <a:endParaRPr lang="en-US"/>
        </a:p>
      </dgm:t>
    </dgm:pt>
    <dgm:pt modelId="{A147EBAF-6C77-48B8-9C11-4153618E9369}" type="sibTrans" cxnId="{005D7FB5-CCF6-4F93-9576-C3BB2EACBF8E}">
      <dgm:prSet/>
      <dgm:spPr/>
      <dgm:t>
        <a:bodyPr/>
        <a:lstStyle/>
        <a:p>
          <a:endParaRPr lang="en-US"/>
        </a:p>
      </dgm:t>
    </dgm:pt>
    <dgm:pt modelId="{27E22831-A651-4440-B7CF-E3CFDD04FC2D}">
      <dgm:prSet/>
      <dgm:spPr/>
      <dgm:t>
        <a:bodyPr/>
        <a:lstStyle/>
        <a:p>
          <a:r>
            <a:rPr lang="en-US" dirty="0">
              <a:latin typeface="Arial Black" panose="020B0A04020102020204" pitchFamily="34" charset="0"/>
            </a:rPr>
            <a:t>PepsiCo's acquisition of Quaker Oats gave them control of the sports drink market and further consolidated their lead in the noncarbonated-beverages segment. </a:t>
          </a:r>
        </a:p>
      </dgm:t>
    </dgm:pt>
    <dgm:pt modelId="{7A232D39-3265-4036-BCDA-8B01D88FBF62}" type="parTrans" cxnId="{851061D4-CD77-46E3-8C3A-F50E93AC2F0B}">
      <dgm:prSet/>
      <dgm:spPr/>
      <dgm:t>
        <a:bodyPr/>
        <a:lstStyle/>
        <a:p>
          <a:endParaRPr lang="en-US"/>
        </a:p>
      </dgm:t>
    </dgm:pt>
    <dgm:pt modelId="{8CBBC7EE-7C0D-4606-A241-156FE59877C2}" type="sibTrans" cxnId="{851061D4-CD77-46E3-8C3A-F50E93AC2F0B}">
      <dgm:prSet/>
      <dgm:spPr/>
      <dgm:t>
        <a:bodyPr/>
        <a:lstStyle/>
        <a:p>
          <a:endParaRPr lang="en-US"/>
        </a:p>
      </dgm:t>
    </dgm:pt>
    <dgm:pt modelId="{C22ABF3F-06E6-40A9-A837-B0EE7980EC48}">
      <dgm:prSet/>
      <dgm:spPr/>
      <dgm:t>
        <a:bodyPr/>
        <a:lstStyle/>
        <a:p>
          <a:r>
            <a:rPr lang="en-US" dirty="0">
              <a:latin typeface="Arial Black" panose="020B0A04020102020204" pitchFamily="34" charset="0"/>
            </a:rPr>
            <a:t>After Douglas Daft became the new head of Coca-Cola, major changes were made to the company to help get it back on track.</a:t>
          </a:r>
        </a:p>
      </dgm:t>
    </dgm:pt>
    <dgm:pt modelId="{788B8F75-CCDD-4DF0-89E1-8EAA48F01403}" type="parTrans" cxnId="{3FCF2DF0-F839-4D73-919C-CC151DB7277F}">
      <dgm:prSet/>
      <dgm:spPr/>
      <dgm:t>
        <a:bodyPr/>
        <a:lstStyle/>
        <a:p>
          <a:endParaRPr lang="en-US"/>
        </a:p>
      </dgm:t>
    </dgm:pt>
    <dgm:pt modelId="{944090BB-54F8-43A9-98DA-7BE17ED029BE}" type="sibTrans" cxnId="{3FCF2DF0-F839-4D73-919C-CC151DB7277F}">
      <dgm:prSet/>
      <dgm:spPr/>
      <dgm:t>
        <a:bodyPr/>
        <a:lstStyle/>
        <a:p>
          <a:endParaRPr lang="en-US"/>
        </a:p>
      </dgm:t>
    </dgm:pt>
    <dgm:pt modelId="{116A2E1F-24CA-4A97-B18A-452606FE4D11}" type="pres">
      <dgm:prSet presAssocID="{B0F7016E-7EC6-4D28-9F07-EB566375EFFF}" presName="diagram" presStyleCnt="0">
        <dgm:presLayoutVars>
          <dgm:dir/>
          <dgm:resizeHandles val="exact"/>
        </dgm:presLayoutVars>
      </dgm:prSet>
      <dgm:spPr/>
    </dgm:pt>
    <dgm:pt modelId="{BCFECF33-FFFF-4FA7-B193-F8AB921975D0}" type="pres">
      <dgm:prSet presAssocID="{D10FCD82-09BE-46FA-AFAD-E2D504A0FA92}" presName="node" presStyleLbl="node1" presStyleIdx="0" presStyleCnt="6">
        <dgm:presLayoutVars>
          <dgm:bulletEnabled val="1"/>
        </dgm:presLayoutVars>
      </dgm:prSet>
      <dgm:spPr/>
    </dgm:pt>
    <dgm:pt modelId="{B2B88A8E-56B7-4024-909B-222866106098}" type="pres">
      <dgm:prSet presAssocID="{B3DF93BF-70CD-4200-91FF-4B8BBA4D2B77}" presName="sibTrans" presStyleCnt="0"/>
      <dgm:spPr/>
    </dgm:pt>
    <dgm:pt modelId="{F29D5077-CF73-43AF-9161-A4CBE7E59B4B}" type="pres">
      <dgm:prSet presAssocID="{5BE79A39-0142-4DE7-A079-656E54510F16}" presName="node" presStyleLbl="node1" presStyleIdx="1" presStyleCnt="6">
        <dgm:presLayoutVars>
          <dgm:bulletEnabled val="1"/>
        </dgm:presLayoutVars>
      </dgm:prSet>
      <dgm:spPr/>
    </dgm:pt>
    <dgm:pt modelId="{86D928A7-06C5-42E1-8444-11CD92D2DE13}" type="pres">
      <dgm:prSet presAssocID="{58F140F7-6968-4E2B-82AA-D3E3AF931A6B}" presName="sibTrans" presStyleCnt="0"/>
      <dgm:spPr/>
    </dgm:pt>
    <dgm:pt modelId="{30521B10-A67F-4708-A5D6-56A0E52B8B6B}" type="pres">
      <dgm:prSet presAssocID="{281B0BFB-0B87-43DC-91D1-39CB8B6B663A}" presName="node" presStyleLbl="node1" presStyleIdx="2" presStyleCnt="6">
        <dgm:presLayoutVars>
          <dgm:bulletEnabled val="1"/>
        </dgm:presLayoutVars>
      </dgm:prSet>
      <dgm:spPr/>
    </dgm:pt>
    <dgm:pt modelId="{A17EA76F-48E1-4DE2-A9E4-2C59650700FC}" type="pres">
      <dgm:prSet presAssocID="{D1C9405D-C755-4477-A635-8731FD5AA084}" presName="sibTrans" presStyleCnt="0"/>
      <dgm:spPr/>
    </dgm:pt>
    <dgm:pt modelId="{ACBB2B69-0558-4C71-A543-932F981BF05B}" type="pres">
      <dgm:prSet presAssocID="{787F2A5B-CC31-43B7-920E-9FDD0C032081}" presName="node" presStyleLbl="node1" presStyleIdx="3" presStyleCnt="6">
        <dgm:presLayoutVars>
          <dgm:bulletEnabled val="1"/>
        </dgm:presLayoutVars>
      </dgm:prSet>
      <dgm:spPr/>
    </dgm:pt>
    <dgm:pt modelId="{7EAC1AE6-0B41-40B1-8849-AF71B2976664}" type="pres">
      <dgm:prSet presAssocID="{A147EBAF-6C77-48B8-9C11-4153618E9369}" presName="sibTrans" presStyleCnt="0"/>
      <dgm:spPr/>
    </dgm:pt>
    <dgm:pt modelId="{D20C7427-3EF7-4BD9-9504-9ECC9C0A35D1}" type="pres">
      <dgm:prSet presAssocID="{27E22831-A651-4440-B7CF-E3CFDD04FC2D}" presName="node" presStyleLbl="node1" presStyleIdx="4" presStyleCnt="6">
        <dgm:presLayoutVars>
          <dgm:bulletEnabled val="1"/>
        </dgm:presLayoutVars>
      </dgm:prSet>
      <dgm:spPr/>
    </dgm:pt>
    <dgm:pt modelId="{01963DCE-A343-4FFB-AFE6-C8BD541174F9}" type="pres">
      <dgm:prSet presAssocID="{8CBBC7EE-7C0D-4606-A241-156FE59877C2}" presName="sibTrans" presStyleCnt="0"/>
      <dgm:spPr/>
    </dgm:pt>
    <dgm:pt modelId="{E2D5CEEC-16FE-4ADF-A260-7501B0866A5E}" type="pres">
      <dgm:prSet presAssocID="{C22ABF3F-06E6-40A9-A837-B0EE7980EC48}" presName="node" presStyleLbl="node1" presStyleIdx="5" presStyleCnt="6">
        <dgm:presLayoutVars>
          <dgm:bulletEnabled val="1"/>
        </dgm:presLayoutVars>
      </dgm:prSet>
      <dgm:spPr/>
    </dgm:pt>
  </dgm:ptLst>
  <dgm:cxnLst>
    <dgm:cxn modelId="{20D47700-6AAE-471F-9AA4-FDB9AE89CA03}" type="presOf" srcId="{27E22831-A651-4440-B7CF-E3CFDD04FC2D}" destId="{D20C7427-3EF7-4BD9-9504-9ECC9C0A35D1}" srcOrd="0" destOrd="0" presId="urn:microsoft.com/office/officeart/2005/8/layout/default"/>
    <dgm:cxn modelId="{A390050C-7E9B-4CAE-B6ED-7B4A95B77D55}" srcId="{B0F7016E-7EC6-4D28-9F07-EB566375EFFF}" destId="{5BE79A39-0142-4DE7-A079-656E54510F16}" srcOrd="1" destOrd="0" parTransId="{EF3DE4A1-5F6C-46CB-BEEB-55BECDEE0BFF}" sibTransId="{58F140F7-6968-4E2B-82AA-D3E3AF931A6B}"/>
    <dgm:cxn modelId="{E6031E0D-5509-436F-8344-866331535414}" type="presOf" srcId="{D10FCD82-09BE-46FA-AFAD-E2D504A0FA92}" destId="{BCFECF33-FFFF-4FA7-B193-F8AB921975D0}" srcOrd="0" destOrd="0" presId="urn:microsoft.com/office/officeart/2005/8/layout/default"/>
    <dgm:cxn modelId="{D5F32A3A-D130-4EE3-A28E-0B5FC9508846}" srcId="{B0F7016E-7EC6-4D28-9F07-EB566375EFFF}" destId="{D10FCD82-09BE-46FA-AFAD-E2D504A0FA92}" srcOrd="0" destOrd="0" parTransId="{C7EE6D8E-CBE9-477F-AFDF-537BA7A81769}" sibTransId="{B3DF93BF-70CD-4200-91FF-4B8BBA4D2B77}"/>
    <dgm:cxn modelId="{C94FC63C-9497-473E-B03E-0DEC6D1EE3B4}" type="presOf" srcId="{5BE79A39-0142-4DE7-A079-656E54510F16}" destId="{F29D5077-CF73-43AF-9161-A4CBE7E59B4B}" srcOrd="0" destOrd="0" presId="urn:microsoft.com/office/officeart/2005/8/layout/default"/>
    <dgm:cxn modelId="{8A00067F-967C-4EB9-A64B-E664B85B9413}" type="presOf" srcId="{281B0BFB-0B87-43DC-91D1-39CB8B6B663A}" destId="{30521B10-A67F-4708-A5D6-56A0E52B8B6B}" srcOrd="0" destOrd="0" presId="urn:microsoft.com/office/officeart/2005/8/layout/default"/>
    <dgm:cxn modelId="{005D7FB5-CCF6-4F93-9576-C3BB2EACBF8E}" srcId="{B0F7016E-7EC6-4D28-9F07-EB566375EFFF}" destId="{787F2A5B-CC31-43B7-920E-9FDD0C032081}" srcOrd="3" destOrd="0" parTransId="{843EC5E5-A279-4CB9-AE57-3E8275409372}" sibTransId="{A147EBAF-6C77-48B8-9C11-4153618E9369}"/>
    <dgm:cxn modelId="{AD0CFAD2-D952-43A6-9AC3-6EAA751C6020}" srcId="{B0F7016E-7EC6-4D28-9F07-EB566375EFFF}" destId="{281B0BFB-0B87-43DC-91D1-39CB8B6B663A}" srcOrd="2" destOrd="0" parTransId="{3497D7A3-2ABD-46A7-8D26-F630D853B616}" sibTransId="{D1C9405D-C755-4477-A635-8731FD5AA084}"/>
    <dgm:cxn modelId="{851061D4-CD77-46E3-8C3A-F50E93AC2F0B}" srcId="{B0F7016E-7EC6-4D28-9F07-EB566375EFFF}" destId="{27E22831-A651-4440-B7CF-E3CFDD04FC2D}" srcOrd="4" destOrd="0" parTransId="{7A232D39-3265-4036-BCDA-8B01D88FBF62}" sibTransId="{8CBBC7EE-7C0D-4606-A241-156FE59877C2}"/>
    <dgm:cxn modelId="{72AF61E6-D181-45B6-A711-8E23BDA9DCE1}" type="presOf" srcId="{C22ABF3F-06E6-40A9-A837-B0EE7980EC48}" destId="{E2D5CEEC-16FE-4ADF-A260-7501B0866A5E}" srcOrd="0" destOrd="0" presId="urn:microsoft.com/office/officeart/2005/8/layout/default"/>
    <dgm:cxn modelId="{3FCF2DF0-F839-4D73-919C-CC151DB7277F}" srcId="{B0F7016E-7EC6-4D28-9F07-EB566375EFFF}" destId="{C22ABF3F-06E6-40A9-A837-B0EE7980EC48}" srcOrd="5" destOrd="0" parTransId="{788B8F75-CCDD-4DF0-89E1-8EAA48F01403}" sibTransId="{944090BB-54F8-43A9-98DA-7BE17ED029BE}"/>
    <dgm:cxn modelId="{DE53C7F3-7015-40AC-A1C1-7BD5FC8CB22A}" type="presOf" srcId="{787F2A5B-CC31-43B7-920E-9FDD0C032081}" destId="{ACBB2B69-0558-4C71-A543-932F981BF05B}" srcOrd="0" destOrd="0" presId="urn:microsoft.com/office/officeart/2005/8/layout/default"/>
    <dgm:cxn modelId="{593C32F4-FF65-4295-B16E-98C180A68215}" type="presOf" srcId="{B0F7016E-7EC6-4D28-9F07-EB566375EFFF}" destId="{116A2E1F-24CA-4A97-B18A-452606FE4D11}" srcOrd="0" destOrd="0" presId="urn:microsoft.com/office/officeart/2005/8/layout/default"/>
    <dgm:cxn modelId="{015B4130-A821-48AF-8268-929B7D0C7EC6}" type="presParOf" srcId="{116A2E1F-24CA-4A97-B18A-452606FE4D11}" destId="{BCFECF33-FFFF-4FA7-B193-F8AB921975D0}" srcOrd="0" destOrd="0" presId="urn:microsoft.com/office/officeart/2005/8/layout/default"/>
    <dgm:cxn modelId="{3B21CC64-E300-41E7-8872-1E4C3F21EE45}" type="presParOf" srcId="{116A2E1F-24CA-4A97-B18A-452606FE4D11}" destId="{B2B88A8E-56B7-4024-909B-222866106098}" srcOrd="1" destOrd="0" presId="urn:microsoft.com/office/officeart/2005/8/layout/default"/>
    <dgm:cxn modelId="{67421643-68C6-4680-AADC-86D5825E5DE9}" type="presParOf" srcId="{116A2E1F-24CA-4A97-B18A-452606FE4D11}" destId="{F29D5077-CF73-43AF-9161-A4CBE7E59B4B}" srcOrd="2" destOrd="0" presId="urn:microsoft.com/office/officeart/2005/8/layout/default"/>
    <dgm:cxn modelId="{1CAFBDDC-5C6C-4010-AB8E-0CFC1A671747}" type="presParOf" srcId="{116A2E1F-24CA-4A97-B18A-452606FE4D11}" destId="{86D928A7-06C5-42E1-8444-11CD92D2DE13}" srcOrd="3" destOrd="0" presId="urn:microsoft.com/office/officeart/2005/8/layout/default"/>
    <dgm:cxn modelId="{9D678C89-F129-456D-889B-223B151EAA48}" type="presParOf" srcId="{116A2E1F-24CA-4A97-B18A-452606FE4D11}" destId="{30521B10-A67F-4708-A5D6-56A0E52B8B6B}" srcOrd="4" destOrd="0" presId="urn:microsoft.com/office/officeart/2005/8/layout/default"/>
    <dgm:cxn modelId="{479AD7CF-3A0F-47BC-92B7-3C252AC3604D}" type="presParOf" srcId="{116A2E1F-24CA-4A97-B18A-452606FE4D11}" destId="{A17EA76F-48E1-4DE2-A9E4-2C59650700FC}" srcOrd="5" destOrd="0" presId="urn:microsoft.com/office/officeart/2005/8/layout/default"/>
    <dgm:cxn modelId="{8CA7DC6E-8762-4E4E-B688-1424B36F629D}" type="presParOf" srcId="{116A2E1F-24CA-4A97-B18A-452606FE4D11}" destId="{ACBB2B69-0558-4C71-A543-932F981BF05B}" srcOrd="6" destOrd="0" presId="urn:microsoft.com/office/officeart/2005/8/layout/default"/>
    <dgm:cxn modelId="{3B2A5453-F2B9-4B17-B994-388037A8E691}" type="presParOf" srcId="{116A2E1F-24CA-4A97-B18A-452606FE4D11}" destId="{7EAC1AE6-0B41-40B1-8849-AF71B2976664}" srcOrd="7" destOrd="0" presId="urn:microsoft.com/office/officeart/2005/8/layout/default"/>
    <dgm:cxn modelId="{9A293686-6E40-4F10-99B7-665F0AEE67BA}" type="presParOf" srcId="{116A2E1F-24CA-4A97-B18A-452606FE4D11}" destId="{D20C7427-3EF7-4BD9-9504-9ECC9C0A35D1}" srcOrd="8" destOrd="0" presId="urn:microsoft.com/office/officeart/2005/8/layout/default"/>
    <dgm:cxn modelId="{C495A8AF-EAE9-4B95-B99C-2FFC96E0C750}" type="presParOf" srcId="{116A2E1F-24CA-4A97-B18A-452606FE4D11}" destId="{01963DCE-A343-4FFB-AFE6-C8BD541174F9}" srcOrd="9" destOrd="0" presId="urn:microsoft.com/office/officeart/2005/8/layout/default"/>
    <dgm:cxn modelId="{3F5266FA-BCF4-41C3-94A6-A97D17A37DD1}" type="presParOf" srcId="{116A2E1F-24CA-4A97-B18A-452606FE4D11}" destId="{E2D5CEEC-16FE-4ADF-A260-7501B0866A5E}"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333362-AF9B-424A-89C7-221E5BA8921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3A957BF-8AC8-477A-9534-E54EC0518D68}">
      <dgm:prSet phldrT="[Text]" phldr="0" custT="1"/>
      <dgm:spPr/>
      <dgm:t>
        <a:bodyPr/>
        <a:lstStyle/>
        <a:p>
          <a:r>
            <a:rPr lang="en-US" sz="2400" dirty="0">
              <a:latin typeface="Arial Black" panose="020B0A04020102020204" pitchFamily="34" charset="0"/>
            </a:rPr>
            <a:t>1993 to 1996</a:t>
          </a:r>
        </a:p>
      </dgm:t>
    </dgm:pt>
    <dgm:pt modelId="{A99C6152-9571-49C9-92CA-EAD8197B853E}" type="parTrans" cxnId="{A63C0A23-3C0F-40BF-8B42-F9BC3898A4B5}">
      <dgm:prSet/>
      <dgm:spPr/>
      <dgm:t>
        <a:bodyPr/>
        <a:lstStyle/>
        <a:p>
          <a:endParaRPr lang="en-US"/>
        </a:p>
      </dgm:t>
    </dgm:pt>
    <dgm:pt modelId="{D2FF85B4-B49D-4C12-B084-B2CE616DDB5B}" type="sibTrans" cxnId="{A63C0A23-3C0F-40BF-8B42-F9BC3898A4B5}">
      <dgm:prSet/>
      <dgm:spPr/>
      <dgm:t>
        <a:bodyPr/>
        <a:lstStyle/>
        <a:p>
          <a:endParaRPr lang="en-US"/>
        </a:p>
      </dgm:t>
    </dgm:pt>
    <dgm:pt modelId="{C76C0E52-B5E9-465B-9EDB-43D2B6FA9675}">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Coca-Cola had consistently ranked first or second in Fortune's annual ranking of the top wealth creators, largely due to its strategy of spinning off its bottling operations to avoid consolidation on its balance sheet.</a:t>
          </a:r>
        </a:p>
      </dgm:t>
    </dgm:pt>
    <dgm:pt modelId="{8C15418C-4070-4E7F-BAE0-CA3E37617FD8}" type="parTrans" cxnId="{227EDE80-C2DD-4B57-A42F-01419E06AC79}">
      <dgm:prSet/>
      <dgm:spPr/>
      <dgm:t>
        <a:bodyPr/>
        <a:lstStyle/>
        <a:p>
          <a:endParaRPr lang="en-US"/>
        </a:p>
      </dgm:t>
    </dgm:pt>
    <dgm:pt modelId="{C431D61F-92DD-4BF0-9C8D-17AAF06CEF55}" type="sibTrans" cxnId="{227EDE80-C2DD-4B57-A42F-01419E06AC79}">
      <dgm:prSet/>
      <dgm:spPr/>
      <dgm:t>
        <a:bodyPr/>
        <a:lstStyle/>
        <a:p>
          <a:endParaRPr lang="en-US"/>
        </a:p>
      </dgm:t>
    </dgm:pt>
    <dgm:pt modelId="{59611F91-CF92-48ED-88EF-1B9DFF1C199A}">
      <dgm:prSet phldrT="[Text]" phldr="0" custT="1"/>
      <dgm:spPr/>
      <dgm:t>
        <a:bodyPr/>
        <a:lstStyle/>
        <a:p>
          <a:r>
            <a:rPr lang="en-US" sz="2400" dirty="0">
              <a:latin typeface="Arial Black" panose="020B0A04020102020204" pitchFamily="34" charset="0"/>
            </a:rPr>
            <a:t>1997 to 1999</a:t>
          </a:r>
        </a:p>
      </dgm:t>
    </dgm:pt>
    <dgm:pt modelId="{E970E2B8-2C96-4F37-945B-274280A26E3A}" type="parTrans" cxnId="{FE5B4ED9-0B0C-4177-83F6-546108DC4891}">
      <dgm:prSet/>
      <dgm:spPr/>
      <dgm:t>
        <a:bodyPr/>
        <a:lstStyle/>
        <a:p>
          <a:endParaRPr lang="en-US"/>
        </a:p>
      </dgm:t>
    </dgm:pt>
    <dgm:pt modelId="{1299A6D9-95DD-4AF6-9C9B-D221255836B0}" type="sibTrans" cxnId="{FE5B4ED9-0B0C-4177-83F6-546108DC4891}">
      <dgm:prSet/>
      <dgm:spPr/>
      <dgm:t>
        <a:bodyPr/>
        <a:lstStyle/>
        <a:p>
          <a:endParaRPr lang="en-US"/>
        </a:p>
      </dgm:t>
    </dgm:pt>
    <dgm:pt modelId="{5FDDB00D-31DE-4C27-8AE4-8F0DCA63D93E}">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Coca-Cola had recently run into difficulties due to various reasons including business mistakes by Doug </a:t>
          </a:r>
          <a:r>
            <a:rPr lang="en-US" sz="1800" dirty="0" err="1">
              <a:latin typeface="Arial Black" panose="020B0A04020102020204" pitchFamily="34" charset="0"/>
            </a:rPr>
            <a:t>Ivester</a:t>
          </a:r>
          <a:r>
            <a:rPr lang="en-US" sz="1800" dirty="0">
              <a:latin typeface="Arial Black" panose="020B0A04020102020204" pitchFamily="34" charset="0"/>
            </a:rPr>
            <a:t>, CEO from 1997 to 1999.</a:t>
          </a:r>
        </a:p>
      </dgm:t>
    </dgm:pt>
    <dgm:pt modelId="{2932E09D-0AC2-4E02-B203-5FDAE454D4F0}" type="parTrans" cxnId="{FACBF769-4099-43FE-B87E-1B60E1F5F218}">
      <dgm:prSet/>
      <dgm:spPr/>
      <dgm:t>
        <a:bodyPr/>
        <a:lstStyle/>
        <a:p>
          <a:endParaRPr lang="en-US"/>
        </a:p>
      </dgm:t>
    </dgm:pt>
    <dgm:pt modelId="{94439111-712E-4C35-B58D-67E19A62F2A2}" type="sibTrans" cxnId="{FACBF769-4099-43FE-B87E-1B60E1F5F218}">
      <dgm:prSet/>
      <dgm:spPr/>
      <dgm:t>
        <a:bodyPr/>
        <a:lstStyle/>
        <a:p>
          <a:endParaRPr lang="en-US"/>
        </a:p>
      </dgm:t>
    </dgm:pt>
    <dgm:pt modelId="{C2631E65-0134-4877-9BE2-DB82E48F4920}">
      <dgm:prSet phldrT="[Text]" phldr="0" custT="1"/>
      <dgm:spPr/>
      <dgm:t>
        <a:bodyPr/>
        <a:lstStyle/>
        <a:p>
          <a:r>
            <a:rPr lang="en-US" sz="2400" dirty="0">
              <a:latin typeface="Arial Black" panose="020B0A04020102020204" pitchFamily="34" charset="0"/>
            </a:rPr>
            <a:t>2000</a:t>
          </a:r>
        </a:p>
      </dgm:t>
    </dgm:pt>
    <dgm:pt modelId="{A1600321-B56F-47EE-81A1-70B9555B7BE6}" type="parTrans" cxnId="{CD459AD2-294A-46E9-A9BA-127AB3D763A1}">
      <dgm:prSet/>
      <dgm:spPr/>
      <dgm:t>
        <a:bodyPr/>
        <a:lstStyle/>
        <a:p>
          <a:endParaRPr lang="en-US"/>
        </a:p>
      </dgm:t>
    </dgm:pt>
    <dgm:pt modelId="{B8E71520-78E5-4488-95EC-8342766D7D3F}" type="sibTrans" cxnId="{CD459AD2-294A-46E9-A9BA-127AB3D763A1}">
      <dgm:prSet/>
      <dgm:spPr/>
      <dgm:t>
        <a:bodyPr/>
        <a:lstStyle/>
        <a:p>
          <a:endParaRPr lang="en-US"/>
        </a:p>
      </dgm:t>
    </dgm:pt>
    <dgm:pt modelId="{D6B76C44-902A-48D4-9CD0-189198E8AFD8}">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Coca-Cola was making annual sales that were approximately $20.5 billion.</a:t>
          </a:r>
        </a:p>
      </dgm:t>
    </dgm:pt>
    <dgm:pt modelId="{61208F30-C347-45B3-B54E-32F9D9E7BCE2}" type="parTrans" cxnId="{8FBB991D-9F5A-4805-A40C-6E5E1E08A074}">
      <dgm:prSet/>
      <dgm:spPr/>
      <dgm:t>
        <a:bodyPr/>
        <a:lstStyle/>
        <a:p>
          <a:endParaRPr lang="en-US"/>
        </a:p>
      </dgm:t>
    </dgm:pt>
    <dgm:pt modelId="{932A7A12-4F66-4F88-991B-A553290A4B9F}" type="sibTrans" cxnId="{8FBB991D-9F5A-4805-A40C-6E5E1E08A074}">
      <dgm:prSet/>
      <dgm:spPr/>
      <dgm:t>
        <a:bodyPr/>
        <a:lstStyle/>
        <a:p>
          <a:endParaRPr lang="en-US"/>
        </a:p>
      </dgm:t>
    </dgm:pt>
    <dgm:pt modelId="{148B65BD-0A6C-4F4E-8517-E6DA106AE8BA}">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The company’s market value reached approximately $110.1 billion.</a:t>
          </a:r>
        </a:p>
      </dgm:t>
    </dgm:pt>
    <dgm:pt modelId="{4E647E36-DB47-4B8D-A1D4-2984BE60C5CF}" type="parTrans" cxnId="{C5F42970-98FF-4A5E-BF5A-CAD5AFA5AE63}">
      <dgm:prSet/>
      <dgm:spPr/>
      <dgm:t>
        <a:bodyPr/>
        <a:lstStyle/>
        <a:p>
          <a:endParaRPr lang="en-US"/>
        </a:p>
      </dgm:t>
    </dgm:pt>
    <dgm:pt modelId="{9092D86A-368E-4DA6-8999-C817B3DF6E9B}" type="sibTrans" cxnId="{C5F42970-98FF-4A5E-BF5A-CAD5AFA5AE63}">
      <dgm:prSet/>
      <dgm:spPr/>
      <dgm:t>
        <a:bodyPr/>
        <a:lstStyle/>
        <a:p>
          <a:endParaRPr lang="en-US"/>
        </a:p>
      </dgm:t>
    </dgm:pt>
    <dgm:pt modelId="{26347D20-7A6F-4B32-A7F5-91D115015E75}">
      <dgm:prSet custT="1"/>
      <dgm:spPr/>
      <dgm:t>
        <a:bodyPr/>
        <a:lstStyle/>
        <a:p>
          <a:pPr rtl="0">
            <a:buSzPct val="100000"/>
            <a:buFont typeface="Arial" panose="020B0604020202020204" pitchFamily="34" charset="0"/>
            <a:buChar char="•"/>
          </a:pPr>
          <a:r>
            <a:rPr lang="en-US" sz="1800" dirty="0" err="1">
              <a:latin typeface="Arial Black" panose="020B0A04020102020204" pitchFamily="34" charset="0"/>
            </a:rPr>
            <a:t>Ivester</a:t>
          </a:r>
          <a:r>
            <a:rPr lang="en-US" sz="1800" dirty="0">
              <a:latin typeface="Arial Black" panose="020B0A04020102020204" pitchFamily="34" charset="0"/>
            </a:rPr>
            <a:t> had been eased out and Douglas Daft became the new head of Coca-Cola.</a:t>
          </a:r>
        </a:p>
      </dgm:t>
    </dgm:pt>
    <dgm:pt modelId="{597BC549-0DED-41F6-94FE-B8B678B5DD39}" type="parTrans" cxnId="{00EA83F5-ED75-4829-8DF2-781BC078EA88}">
      <dgm:prSet/>
      <dgm:spPr/>
      <dgm:t>
        <a:bodyPr/>
        <a:lstStyle/>
        <a:p>
          <a:endParaRPr lang="en-US"/>
        </a:p>
      </dgm:t>
    </dgm:pt>
    <dgm:pt modelId="{10964A11-A88A-4EE7-AA5B-38807712D1E6}" type="sibTrans" cxnId="{00EA83F5-ED75-4829-8DF2-781BC078EA88}">
      <dgm:prSet/>
      <dgm:spPr/>
      <dgm:t>
        <a:bodyPr/>
        <a:lstStyle/>
        <a:p>
          <a:endParaRPr lang="en-US"/>
        </a:p>
      </dgm:t>
    </dgm:pt>
    <dgm:pt modelId="{D9B3251B-63FD-4A7A-B8AF-A8704A2F8482}">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Coca-Cola’s Dasani brand did not enter the market until 1999.</a:t>
          </a:r>
        </a:p>
      </dgm:t>
    </dgm:pt>
    <dgm:pt modelId="{19236DB3-6093-4913-8D35-9156D9F87390}" type="parTrans" cxnId="{1302DA4F-B0FE-411A-A843-54DE15A5237D}">
      <dgm:prSet/>
      <dgm:spPr/>
    </dgm:pt>
    <dgm:pt modelId="{AD0E51B0-513F-407D-9F00-8BBEF8319DB6}" type="sibTrans" cxnId="{1302DA4F-B0FE-411A-A843-54DE15A5237D}">
      <dgm:prSet/>
      <dgm:spPr/>
      <dgm:t>
        <a:bodyPr/>
        <a:lstStyle/>
        <a:p>
          <a:endParaRPr lang="en-US"/>
        </a:p>
      </dgm:t>
    </dgm:pt>
    <dgm:pt modelId="{7D41EA19-B26A-41CA-8C4A-3B87B05D3A4B}">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Coca-Cola was consistently doing better than Pepsi-Co during this period.</a:t>
          </a:r>
        </a:p>
      </dgm:t>
    </dgm:pt>
    <dgm:pt modelId="{25656B13-20E6-4453-BCB8-CB4FFCC5C1DC}" type="parTrans" cxnId="{91A124CB-8596-41A1-B997-01A9094E3ADB}">
      <dgm:prSet/>
      <dgm:spPr/>
    </dgm:pt>
    <dgm:pt modelId="{EB5E092C-25B5-4BB2-A5D9-6FB22BEBECB6}" type="sibTrans" cxnId="{91A124CB-8596-41A1-B997-01A9094E3ADB}">
      <dgm:prSet/>
      <dgm:spPr/>
      <dgm:t>
        <a:bodyPr/>
        <a:lstStyle/>
        <a:p>
          <a:endParaRPr lang="en-US"/>
        </a:p>
      </dgm:t>
    </dgm:pt>
    <dgm:pt modelId="{83EDD71C-7D61-4051-BBBA-976123AE2D4A}" type="pres">
      <dgm:prSet presAssocID="{89333362-AF9B-424A-89C7-221E5BA8921C}" presName="linear" presStyleCnt="0">
        <dgm:presLayoutVars>
          <dgm:dir/>
          <dgm:animLvl val="lvl"/>
          <dgm:resizeHandles val="exact"/>
        </dgm:presLayoutVars>
      </dgm:prSet>
      <dgm:spPr/>
    </dgm:pt>
    <dgm:pt modelId="{9E8578ED-E306-43AB-B4DC-6CCA17F2067E}" type="pres">
      <dgm:prSet presAssocID="{43A957BF-8AC8-477A-9534-E54EC0518D68}" presName="parentLin" presStyleCnt="0"/>
      <dgm:spPr/>
    </dgm:pt>
    <dgm:pt modelId="{76DC07DE-FC20-44D8-A560-5012D1E0F0DE}" type="pres">
      <dgm:prSet presAssocID="{43A957BF-8AC8-477A-9534-E54EC0518D68}" presName="parentLeftMargin" presStyleLbl="node1" presStyleIdx="0" presStyleCnt="3"/>
      <dgm:spPr/>
    </dgm:pt>
    <dgm:pt modelId="{F4C7C219-3B90-4950-B1FB-743D90177C71}" type="pres">
      <dgm:prSet presAssocID="{43A957BF-8AC8-477A-9534-E54EC0518D68}" presName="parentText" presStyleLbl="node1" presStyleIdx="0" presStyleCnt="3">
        <dgm:presLayoutVars>
          <dgm:chMax val="0"/>
          <dgm:bulletEnabled val="1"/>
        </dgm:presLayoutVars>
      </dgm:prSet>
      <dgm:spPr/>
    </dgm:pt>
    <dgm:pt modelId="{CDC89999-70C1-40F1-8886-1DDC696D7100}" type="pres">
      <dgm:prSet presAssocID="{43A957BF-8AC8-477A-9534-E54EC0518D68}" presName="negativeSpace" presStyleCnt="0"/>
      <dgm:spPr/>
    </dgm:pt>
    <dgm:pt modelId="{1CAD2392-8E51-4525-9F88-4290CEC27231}" type="pres">
      <dgm:prSet presAssocID="{43A957BF-8AC8-477A-9534-E54EC0518D68}" presName="childText" presStyleLbl="conFgAcc1" presStyleIdx="0" presStyleCnt="3" custLinFactNeighborX="-797">
        <dgm:presLayoutVars>
          <dgm:bulletEnabled val="1"/>
        </dgm:presLayoutVars>
      </dgm:prSet>
      <dgm:spPr/>
    </dgm:pt>
    <dgm:pt modelId="{F75422FC-C060-49C9-9E56-F33000BC5750}" type="pres">
      <dgm:prSet presAssocID="{D2FF85B4-B49D-4C12-B084-B2CE616DDB5B}" presName="spaceBetweenRectangles" presStyleCnt="0"/>
      <dgm:spPr/>
    </dgm:pt>
    <dgm:pt modelId="{D5B9DFAB-BD58-4F51-A799-FD5776395E49}" type="pres">
      <dgm:prSet presAssocID="{59611F91-CF92-48ED-88EF-1B9DFF1C199A}" presName="parentLin" presStyleCnt="0"/>
      <dgm:spPr/>
    </dgm:pt>
    <dgm:pt modelId="{2CC2BF51-619E-42B1-B840-3920F229A867}" type="pres">
      <dgm:prSet presAssocID="{59611F91-CF92-48ED-88EF-1B9DFF1C199A}" presName="parentLeftMargin" presStyleLbl="node1" presStyleIdx="0" presStyleCnt="3"/>
      <dgm:spPr/>
    </dgm:pt>
    <dgm:pt modelId="{31C0C389-6D7A-49BD-84CA-CC4861AF15D6}" type="pres">
      <dgm:prSet presAssocID="{59611F91-CF92-48ED-88EF-1B9DFF1C199A}" presName="parentText" presStyleLbl="node1" presStyleIdx="1" presStyleCnt="3">
        <dgm:presLayoutVars>
          <dgm:chMax val="0"/>
          <dgm:bulletEnabled val="1"/>
        </dgm:presLayoutVars>
      </dgm:prSet>
      <dgm:spPr/>
    </dgm:pt>
    <dgm:pt modelId="{733CF651-5EC1-4669-8DA0-48A78E53A3BF}" type="pres">
      <dgm:prSet presAssocID="{59611F91-CF92-48ED-88EF-1B9DFF1C199A}" presName="negativeSpace" presStyleCnt="0"/>
      <dgm:spPr/>
    </dgm:pt>
    <dgm:pt modelId="{AB085963-DD2B-48D3-B822-DDCDEF49A78C}" type="pres">
      <dgm:prSet presAssocID="{59611F91-CF92-48ED-88EF-1B9DFF1C199A}" presName="childText" presStyleLbl="conFgAcc1" presStyleIdx="1" presStyleCnt="3" custLinFactNeighborX="-797">
        <dgm:presLayoutVars>
          <dgm:bulletEnabled val="1"/>
        </dgm:presLayoutVars>
      </dgm:prSet>
      <dgm:spPr/>
    </dgm:pt>
    <dgm:pt modelId="{72771336-42E8-4FA4-973C-4AEDEAF97067}" type="pres">
      <dgm:prSet presAssocID="{1299A6D9-95DD-4AF6-9C9B-D221255836B0}" presName="spaceBetweenRectangles" presStyleCnt="0"/>
      <dgm:spPr/>
    </dgm:pt>
    <dgm:pt modelId="{65791A1A-B7A0-47AB-AD84-8ADFA50AF9C4}" type="pres">
      <dgm:prSet presAssocID="{C2631E65-0134-4877-9BE2-DB82E48F4920}" presName="parentLin" presStyleCnt="0"/>
      <dgm:spPr/>
    </dgm:pt>
    <dgm:pt modelId="{6451F036-0378-4194-A403-BF04F319F411}" type="pres">
      <dgm:prSet presAssocID="{C2631E65-0134-4877-9BE2-DB82E48F4920}" presName="parentLeftMargin" presStyleLbl="node1" presStyleIdx="1" presStyleCnt="3"/>
      <dgm:spPr/>
    </dgm:pt>
    <dgm:pt modelId="{BCD9D438-39B4-450E-9320-2F57B7C71E36}" type="pres">
      <dgm:prSet presAssocID="{C2631E65-0134-4877-9BE2-DB82E48F4920}" presName="parentText" presStyleLbl="node1" presStyleIdx="2" presStyleCnt="3">
        <dgm:presLayoutVars>
          <dgm:chMax val="0"/>
          <dgm:bulletEnabled val="1"/>
        </dgm:presLayoutVars>
      </dgm:prSet>
      <dgm:spPr/>
    </dgm:pt>
    <dgm:pt modelId="{BFCC530D-E156-4BF0-A612-14394FE79C92}" type="pres">
      <dgm:prSet presAssocID="{C2631E65-0134-4877-9BE2-DB82E48F4920}" presName="negativeSpace" presStyleCnt="0"/>
      <dgm:spPr/>
    </dgm:pt>
    <dgm:pt modelId="{5D460422-3B82-4D70-966C-C7A11EAA6FB1}" type="pres">
      <dgm:prSet presAssocID="{C2631E65-0134-4877-9BE2-DB82E48F4920}" presName="childText" presStyleLbl="conFgAcc1" presStyleIdx="2" presStyleCnt="3" custLinFactNeighborX="159" custLinFactNeighborY="66459">
        <dgm:presLayoutVars>
          <dgm:bulletEnabled val="1"/>
        </dgm:presLayoutVars>
      </dgm:prSet>
      <dgm:spPr/>
    </dgm:pt>
  </dgm:ptLst>
  <dgm:cxnLst>
    <dgm:cxn modelId="{8F485A05-C497-4C68-A901-F7C2B6A57B60}" type="presOf" srcId="{59611F91-CF92-48ED-88EF-1B9DFF1C199A}" destId="{2CC2BF51-619E-42B1-B840-3920F229A867}" srcOrd="0" destOrd="0" presId="urn:microsoft.com/office/officeart/2005/8/layout/list1"/>
    <dgm:cxn modelId="{372BCD06-A238-46D1-A2DA-E2C2ECAF057F}" type="presOf" srcId="{D9B3251B-63FD-4A7A-B8AF-A8704A2F8482}" destId="{AB085963-DD2B-48D3-B822-DDCDEF49A78C}" srcOrd="0" destOrd="1" presId="urn:microsoft.com/office/officeart/2005/8/layout/list1"/>
    <dgm:cxn modelId="{B8C87317-05BE-4A18-B954-BC14D069ABC4}" type="presOf" srcId="{5FDDB00D-31DE-4C27-8AE4-8F0DCA63D93E}" destId="{AB085963-DD2B-48D3-B822-DDCDEF49A78C}" srcOrd="0" destOrd="0" presId="urn:microsoft.com/office/officeart/2005/8/layout/list1"/>
    <dgm:cxn modelId="{8FBB991D-9F5A-4805-A40C-6E5E1E08A074}" srcId="{C2631E65-0134-4877-9BE2-DB82E48F4920}" destId="{D6B76C44-902A-48D4-9CD0-189198E8AFD8}" srcOrd="0" destOrd="0" parTransId="{61208F30-C347-45B3-B54E-32F9D9E7BCE2}" sibTransId="{932A7A12-4F66-4F88-991B-A553290A4B9F}"/>
    <dgm:cxn modelId="{A63C0A23-3C0F-40BF-8B42-F9BC3898A4B5}" srcId="{89333362-AF9B-424A-89C7-221E5BA8921C}" destId="{43A957BF-8AC8-477A-9534-E54EC0518D68}" srcOrd="0" destOrd="0" parTransId="{A99C6152-9571-49C9-92CA-EAD8197B853E}" sibTransId="{D2FF85B4-B49D-4C12-B084-B2CE616DDB5B}"/>
    <dgm:cxn modelId="{995BFB30-7F09-443F-A477-CB68D3A6A11A}" type="presOf" srcId="{43A957BF-8AC8-477A-9534-E54EC0518D68}" destId="{F4C7C219-3B90-4950-B1FB-743D90177C71}" srcOrd="1" destOrd="0" presId="urn:microsoft.com/office/officeart/2005/8/layout/list1"/>
    <dgm:cxn modelId="{AF700939-4BC9-435E-B044-CF7E1AAFCB82}" type="presOf" srcId="{C76C0E52-B5E9-465B-9EDB-43D2B6FA9675}" destId="{1CAD2392-8E51-4525-9F88-4290CEC27231}" srcOrd="0" destOrd="0" presId="urn:microsoft.com/office/officeart/2005/8/layout/list1"/>
    <dgm:cxn modelId="{4F1C0767-BF99-46D3-B7B7-C549E50015F2}" type="presOf" srcId="{C2631E65-0134-4877-9BE2-DB82E48F4920}" destId="{6451F036-0378-4194-A403-BF04F319F411}" srcOrd="0" destOrd="0" presId="urn:microsoft.com/office/officeart/2005/8/layout/list1"/>
    <dgm:cxn modelId="{FACBF769-4099-43FE-B87E-1B60E1F5F218}" srcId="{59611F91-CF92-48ED-88EF-1B9DFF1C199A}" destId="{5FDDB00D-31DE-4C27-8AE4-8F0DCA63D93E}" srcOrd="0" destOrd="0" parTransId="{2932E09D-0AC2-4E02-B203-5FDAE454D4F0}" sibTransId="{94439111-712E-4C35-B58D-67E19A62F2A2}"/>
    <dgm:cxn modelId="{1302DA4F-B0FE-411A-A843-54DE15A5237D}" srcId="{59611F91-CF92-48ED-88EF-1B9DFF1C199A}" destId="{D9B3251B-63FD-4A7A-B8AF-A8704A2F8482}" srcOrd="1" destOrd="0" parTransId="{19236DB3-6093-4913-8D35-9156D9F87390}" sibTransId="{AD0E51B0-513F-407D-9F00-8BBEF8319DB6}"/>
    <dgm:cxn modelId="{EFD9EA6F-AD28-4BB7-AAE7-3A21B3630113}" type="presOf" srcId="{7D41EA19-B26A-41CA-8C4A-3B87B05D3A4B}" destId="{1CAD2392-8E51-4525-9F88-4290CEC27231}" srcOrd="0" destOrd="1" presId="urn:microsoft.com/office/officeart/2005/8/layout/list1"/>
    <dgm:cxn modelId="{C5F42970-98FF-4A5E-BF5A-CAD5AFA5AE63}" srcId="{C2631E65-0134-4877-9BE2-DB82E48F4920}" destId="{148B65BD-0A6C-4F4E-8517-E6DA106AE8BA}" srcOrd="1" destOrd="0" parTransId="{4E647E36-DB47-4B8D-A1D4-2984BE60C5CF}" sibTransId="{9092D86A-368E-4DA6-8999-C817B3DF6E9B}"/>
    <dgm:cxn modelId="{227EDE80-C2DD-4B57-A42F-01419E06AC79}" srcId="{43A957BF-8AC8-477A-9534-E54EC0518D68}" destId="{C76C0E52-B5E9-465B-9EDB-43D2B6FA9675}" srcOrd="0" destOrd="0" parTransId="{8C15418C-4070-4E7F-BAE0-CA3E37617FD8}" sibTransId="{C431D61F-92DD-4BF0-9C8D-17AAF06CEF55}"/>
    <dgm:cxn modelId="{2DC64891-AEEB-46E4-8F0B-E1D9752D928B}" type="presOf" srcId="{43A957BF-8AC8-477A-9534-E54EC0518D68}" destId="{76DC07DE-FC20-44D8-A560-5012D1E0F0DE}" srcOrd="0" destOrd="0" presId="urn:microsoft.com/office/officeart/2005/8/layout/list1"/>
    <dgm:cxn modelId="{00F77499-03FF-44F0-BE6C-2FEDEA859766}" type="presOf" srcId="{D6B76C44-902A-48D4-9CD0-189198E8AFD8}" destId="{5D460422-3B82-4D70-966C-C7A11EAA6FB1}" srcOrd="0" destOrd="0" presId="urn:microsoft.com/office/officeart/2005/8/layout/list1"/>
    <dgm:cxn modelId="{8C3019B9-F06E-47A6-9B34-C1AD6DC5F8B6}" type="presOf" srcId="{26347D20-7A6F-4B32-A7F5-91D115015E75}" destId="{5D460422-3B82-4D70-966C-C7A11EAA6FB1}" srcOrd="0" destOrd="2" presId="urn:microsoft.com/office/officeart/2005/8/layout/list1"/>
    <dgm:cxn modelId="{6856FCBC-D18A-493D-8B22-7D42B3F9B54B}" type="presOf" srcId="{148B65BD-0A6C-4F4E-8517-E6DA106AE8BA}" destId="{5D460422-3B82-4D70-966C-C7A11EAA6FB1}" srcOrd="0" destOrd="1" presId="urn:microsoft.com/office/officeart/2005/8/layout/list1"/>
    <dgm:cxn modelId="{91A124CB-8596-41A1-B997-01A9094E3ADB}" srcId="{43A957BF-8AC8-477A-9534-E54EC0518D68}" destId="{7D41EA19-B26A-41CA-8C4A-3B87B05D3A4B}" srcOrd="1" destOrd="0" parTransId="{25656B13-20E6-4453-BCB8-CB4FFCC5C1DC}" sibTransId="{EB5E092C-25B5-4BB2-A5D9-6FB22BEBECB6}"/>
    <dgm:cxn modelId="{CD459AD2-294A-46E9-A9BA-127AB3D763A1}" srcId="{89333362-AF9B-424A-89C7-221E5BA8921C}" destId="{C2631E65-0134-4877-9BE2-DB82E48F4920}" srcOrd="2" destOrd="0" parTransId="{A1600321-B56F-47EE-81A1-70B9555B7BE6}" sibTransId="{B8E71520-78E5-4488-95EC-8342766D7D3F}"/>
    <dgm:cxn modelId="{949FDBD4-1780-4E1D-B153-2202FB572900}" type="presOf" srcId="{89333362-AF9B-424A-89C7-221E5BA8921C}" destId="{83EDD71C-7D61-4051-BBBA-976123AE2D4A}" srcOrd="0" destOrd="0" presId="urn:microsoft.com/office/officeart/2005/8/layout/list1"/>
    <dgm:cxn modelId="{FE5B4ED9-0B0C-4177-83F6-546108DC4891}" srcId="{89333362-AF9B-424A-89C7-221E5BA8921C}" destId="{59611F91-CF92-48ED-88EF-1B9DFF1C199A}" srcOrd="1" destOrd="0" parTransId="{E970E2B8-2C96-4F37-945B-274280A26E3A}" sibTransId="{1299A6D9-95DD-4AF6-9C9B-D221255836B0}"/>
    <dgm:cxn modelId="{142A38E0-8C3B-4044-9E2B-C7B713B97D6F}" type="presOf" srcId="{C2631E65-0134-4877-9BE2-DB82E48F4920}" destId="{BCD9D438-39B4-450E-9320-2F57B7C71E36}" srcOrd="1" destOrd="0" presId="urn:microsoft.com/office/officeart/2005/8/layout/list1"/>
    <dgm:cxn modelId="{808AE3E1-52AE-4B74-9E33-B3A2A1A73546}" type="presOf" srcId="{59611F91-CF92-48ED-88EF-1B9DFF1C199A}" destId="{31C0C389-6D7A-49BD-84CA-CC4861AF15D6}" srcOrd="1" destOrd="0" presId="urn:microsoft.com/office/officeart/2005/8/layout/list1"/>
    <dgm:cxn modelId="{00EA83F5-ED75-4829-8DF2-781BC078EA88}" srcId="{C2631E65-0134-4877-9BE2-DB82E48F4920}" destId="{26347D20-7A6F-4B32-A7F5-91D115015E75}" srcOrd="2" destOrd="0" parTransId="{597BC549-0DED-41F6-94FE-B8B678B5DD39}" sibTransId="{10964A11-A88A-4EE7-AA5B-38807712D1E6}"/>
    <dgm:cxn modelId="{32C4D582-E217-489F-809C-5A68515DBADE}" type="presParOf" srcId="{83EDD71C-7D61-4051-BBBA-976123AE2D4A}" destId="{9E8578ED-E306-43AB-B4DC-6CCA17F2067E}" srcOrd="0" destOrd="0" presId="urn:microsoft.com/office/officeart/2005/8/layout/list1"/>
    <dgm:cxn modelId="{68843F4D-E203-4F10-A986-4A0D87DDB456}" type="presParOf" srcId="{9E8578ED-E306-43AB-B4DC-6CCA17F2067E}" destId="{76DC07DE-FC20-44D8-A560-5012D1E0F0DE}" srcOrd="0" destOrd="0" presId="urn:microsoft.com/office/officeart/2005/8/layout/list1"/>
    <dgm:cxn modelId="{ACE71CFB-7D89-43ED-B6DB-973A552F043D}" type="presParOf" srcId="{9E8578ED-E306-43AB-B4DC-6CCA17F2067E}" destId="{F4C7C219-3B90-4950-B1FB-743D90177C71}" srcOrd="1" destOrd="0" presId="urn:microsoft.com/office/officeart/2005/8/layout/list1"/>
    <dgm:cxn modelId="{C31C6293-8145-43D9-A0AB-DDA0AEE75008}" type="presParOf" srcId="{83EDD71C-7D61-4051-BBBA-976123AE2D4A}" destId="{CDC89999-70C1-40F1-8886-1DDC696D7100}" srcOrd="1" destOrd="0" presId="urn:microsoft.com/office/officeart/2005/8/layout/list1"/>
    <dgm:cxn modelId="{73916A47-5AF4-4D8E-BA34-6A9559B5B4FD}" type="presParOf" srcId="{83EDD71C-7D61-4051-BBBA-976123AE2D4A}" destId="{1CAD2392-8E51-4525-9F88-4290CEC27231}" srcOrd="2" destOrd="0" presId="urn:microsoft.com/office/officeart/2005/8/layout/list1"/>
    <dgm:cxn modelId="{9760EEF9-1B0B-4C24-A451-7A58518257EF}" type="presParOf" srcId="{83EDD71C-7D61-4051-BBBA-976123AE2D4A}" destId="{F75422FC-C060-49C9-9E56-F33000BC5750}" srcOrd="3" destOrd="0" presId="urn:microsoft.com/office/officeart/2005/8/layout/list1"/>
    <dgm:cxn modelId="{26E77DD1-A112-4D30-AC77-D79AA45D1846}" type="presParOf" srcId="{83EDD71C-7D61-4051-BBBA-976123AE2D4A}" destId="{D5B9DFAB-BD58-4F51-A799-FD5776395E49}" srcOrd="4" destOrd="0" presId="urn:microsoft.com/office/officeart/2005/8/layout/list1"/>
    <dgm:cxn modelId="{9E5EE697-7AD6-4645-9480-B819AA29A290}" type="presParOf" srcId="{D5B9DFAB-BD58-4F51-A799-FD5776395E49}" destId="{2CC2BF51-619E-42B1-B840-3920F229A867}" srcOrd="0" destOrd="0" presId="urn:microsoft.com/office/officeart/2005/8/layout/list1"/>
    <dgm:cxn modelId="{E49B0D37-CA7C-42C2-A06F-89AB48CE21D4}" type="presParOf" srcId="{D5B9DFAB-BD58-4F51-A799-FD5776395E49}" destId="{31C0C389-6D7A-49BD-84CA-CC4861AF15D6}" srcOrd="1" destOrd="0" presId="urn:microsoft.com/office/officeart/2005/8/layout/list1"/>
    <dgm:cxn modelId="{3DA44B8A-E785-4A93-95AB-B9FB65FD7732}" type="presParOf" srcId="{83EDD71C-7D61-4051-BBBA-976123AE2D4A}" destId="{733CF651-5EC1-4669-8DA0-48A78E53A3BF}" srcOrd="5" destOrd="0" presId="urn:microsoft.com/office/officeart/2005/8/layout/list1"/>
    <dgm:cxn modelId="{0B941714-2D7E-47EE-A899-D4FFA33676CD}" type="presParOf" srcId="{83EDD71C-7D61-4051-BBBA-976123AE2D4A}" destId="{AB085963-DD2B-48D3-B822-DDCDEF49A78C}" srcOrd="6" destOrd="0" presId="urn:microsoft.com/office/officeart/2005/8/layout/list1"/>
    <dgm:cxn modelId="{9D68474A-944F-45C5-803A-869B06620BFF}" type="presParOf" srcId="{83EDD71C-7D61-4051-BBBA-976123AE2D4A}" destId="{72771336-42E8-4FA4-973C-4AEDEAF97067}" srcOrd="7" destOrd="0" presId="urn:microsoft.com/office/officeart/2005/8/layout/list1"/>
    <dgm:cxn modelId="{74AD3983-9D8B-46B2-AA4C-699868D4F7D1}" type="presParOf" srcId="{83EDD71C-7D61-4051-BBBA-976123AE2D4A}" destId="{65791A1A-B7A0-47AB-AD84-8ADFA50AF9C4}" srcOrd="8" destOrd="0" presId="urn:microsoft.com/office/officeart/2005/8/layout/list1"/>
    <dgm:cxn modelId="{F2A64C5D-8889-4809-AE09-4DA77D245A26}" type="presParOf" srcId="{65791A1A-B7A0-47AB-AD84-8ADFA50AF9C4}" destId="{6451F036-0378-4194-A403-BF04F319F411}" srcOrd="0" destOrd="0" presId="urn:microsoft.com/office/officeart/2005/8/layout/list1"/>
    <dgm:cxn modelId="{31BC2C37-0D4A-429B-AF67-DBB873F0AB65}" type="presParOf" srcId="{65791A1A-B7A0-47AB-AD84-8ADFA50AF9C4}" destId="{BCD9D438-39B4-450E-9320-2F57B7C71E36}" srcOrd="1" destOrd="0" presId="urn:microsoft.com/office/officeart/2005/8/layout/list1"/>
    <dgm:cxn modelId="{893BFF3E-5212-4B1C-8374-34F12AB38C48}" type="presParOf" srcId="{83EDD71C-7D61-4051-BBBA-976123AE2D4A}" destId="{BFCC530D-E156-4BF0-A612-14394FE79C92}" srcOrd="9" destOrd="0" presId="urn:microsoft.com/office/officeart/2005/8/layout/list1"/>
    <dgm:cxn modelId="{C57B41FB-F04C-4E79-B36E-FC0613EED699}" type="presParOf" srcId="{83EDD71C-7D61-4051-BBBA-976123AE2D4A}" destId="{5D460422-3B82-4D70-966C-C7A11EAA6FB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333362-AF9B-424A-89C7-221E5BA8921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43A957BF-8AC8-477A-9534-E54EC0518D68}">
      <dgm:prSet phldrT="[Text]" phldr="0" custT="1"/>
      <dgm:spPr/>
      <dgm:t>
        <a:bodyPr/>
        <a:lstStyle/>
        <a:p>
          <a:r>
            <a:rPr lang="en-US" sz="2400" dirty="0">
              <a:latin typeface="Arial Black" panose="020B0A04020102020204" pitchFamily="34" charset="0"/>
            </a:rPr>
            <a:t>1993 to 1996</a:t>
          </a:r>
        </a:p>
      </dgm:t>
    </dgm:pt>
    <dgm:pt modelId="{A99C6152-9571-49C9-92CA-EAD8197B853E}" type="parTrans" cxnId="{A63C0A23-3C0F-40BF-8B42-F9BC3898A4B5}">
      <dgm:prSet/>
      <dgm:spPr/>
      <dgm:t>
        <a:bodyPr/>
        <a:lstStyle/>
        <a:p>
          <a:endParaRPr lang="en-US"/>
        </a:p>
      </dgm:t>
    </dgm:pt>
    <dgm:pt modelId="{D2FF85B4-B49D-4C12-B084-B2CE616DDB5B}" type="sibTrans" cxnId="{A63C0A23-3C0F-40BF-8B42-F9BC3898A4B5}">
      <dgm:prSet/>
      <dgm:spPr/>
      <dgm:t>
        <a:bodyPr/>
        <a:lstStyle/>
        <a:p>
          <a:endParaRPr lang="en-US"/>
        </a:p>
      </dgm:t>
    </dgm:pt>
    <dgm:pt modelId="{C76C0E52-B5E9-465B-9EDB-43D2B6FA9675}">
      <dgm:prSet phldrT="[Text]" phldr="0" custT="1"/>
      <dgm:spPr/>
      <dgm:t>
        <a:bodyPr/>
        <a:lstStyle/>
        <a:p>
          <a:pPr rtl="0">
            <a:buSzPct val="100000"/>
            <a:buFont typeface="Arial" panose="020B0604020202020204" pitchFamily="34" charset="0"/>
            <a:buChar char="•"/>
          </a:pPr>
          <a:r>
            <a:rPr lang="en-US" sz="1800" dirty="0">
              <a:latin typeface="+mj-lt"/>
            </a:rPr>
            <a:t>PepsiCo test-marketed Aquafina as early as 1994</a:t>
          </a:r>
        </a:p>
      </dgm:t>
    </dgm:pt>
    <dgm:pt modelId="{8C15418C-4070-4E7F-BAE0-CA3E37617FD8}" type="parTrans" cxnId="{227EDE80-C2DD-4B57-A42F-01419E06AC79}">
      <dgm:prSet/>
      <dgm:spPr/>
      <dgm:t>
        <a:bodyPr/>
        <a:lstStyle/>
        <a:p>
          <a:endParaRPr lang="en-US"/>
        </a:p>
      </dgm:t>
    </dgm:pt>
    <dgm:pt modelId="{C431D61F-92DD-4BF0-9C8D-17AAF06CEF55}" type="sibTrans" cxnId="{227EDE80-C2DD-4B57-A42F-01419E06AC79}">
      <dgm:prSet/>
      <dgm:spPr/>
      <dgm:t>
        <a:bodyPr/>
        <a:lstStyle/>
        <a:p>
          <a:endParaRPr lang="en-US"/>
        </a:p>
      </dgm:t>
    </dgm:pt>
    <dgm:pt modelId="{59611F91-CF92-48ED-88EF-1B9DFF1C199A}">
      <dgm:prSet phldrT="[Text]" phldr="0" custT="1"/>
      <dgm:spPr/>
      <dgm:t>
        <a:bodyPr/>
        <a:lstStyle/>
        <a:p>
          <a:r>
            <a:rPr lang="en-US" sz="2400" dirty="0">
              <a:latin typeface="Arial Black" panose="020B0A04020102020204" pitchFamily="34" charset="0"/>
            </a:rPr>
            <a:t>1997 to 1999</a:t>
          </a:r>
        </a:p>
      </dgm:t>
    </dgm:pt>
    <dgm:pt modelId="{E970E2B8-2C96-4F37-945B-274280A26E3A}" type="parTrans" cxnId="{FE5B4ED9-0B0C-4177-83F6-546108DC4891}">
      <dgm:prSet/>
      <dgm:spPr/>
      <dgm:t>
        <a:bodyPr/>
        <a:lstStyle/>
        <a:p>
          <a:endParaRPr lang="en-US"/>
        </a:p>
      </dgm:t>
    </dgm:pt>
    <dgm:pt modelId="{1299A6D9-95DD-4AF6-9C9B-D221255836B0}" type="sibTrans" cxnId="{FE5B4ED9-0B0C-4177-83F6-546108DC4891}">
      <dgm:prSet/>
      <dgm:spPr/>
      <dgm:t>
        <a:bodyPr/>
        <a:lstStyle/>
        <a:p>
          <a:endParaRPr lang="en-US"/>
        </a:p>
      </dgm:t>
    </dgm:pt>
    <dgm:pt modelId="{5FDDB00D-31DE-4C27-8AE4-8F0DCA63D93E}">
      <dgm:prSet phldrT="[Text]" phldr="0" custT="1"/>
      <dgm:spPr/>
      <dgm:t>
        <a:bodyPr/>
        <a:lstStyle/>
        <a:p>
          <a:pPr rtl="0">
            <a:buSzPct val="100000"/>
            <a:buFont typeface="Arial" panose="020B0604020202020204" pitchFamily="34" charset="0"/>
            <a:buChar char="•"/>
          </a:pPr>
          <a:r>
            <a:rPr lang="en-US" sz="1800" dirty="0">
              <a:latin typeface="Arial Black" panose="020B0A04020102020204" pitchFamily="34" charset="0"/>
            </a:rPr>
            <a:t>PepsiCo started to realize its strengths and what to produce more of.</a:t>
          </a:r>
        </a:p>
      </dgm:t>
    </dgm:pt>
    <dgm:pt modelId="{2932E09D-0AC2-4E02-B203-5FDAE454D4F0}" type="parTrans" cxnId="{FACBF769-4099-43FE-B87E-1B60E1F5F218}">
      <dgm:prSet/>
      <dgm:spPr/>
      <dgm:t>
        <a:bodyPr/>
        <a:lstStyle/>
        <a:p>
          <a:endParaRPr lang="en-US"/>
        </a:p>
      </dgm:t>
    </dgm:pt>
    <dgm:pt modelId="{94439111-712E-4C35-B58D-67E19A62F2A2}" type="sibTrans" cxnId="{FACBF769-4099-43FE-B87E-1B60E1F5F218}">
      <dgm:prSet/>
      <dgm:spPr/>
      <dgm:t>
        <a:bodyPr/>
        <a:lstStyle/>
        <a:p>
          <a:endParaRPr lang="en-US"/>
        </a:p>
      </dgm:t>
    </dgm:pt>
    <dgm:pt modelId="{C2631E65-0134-4877-9BE2-DB82E48F4920}">
      <dgm:prSet phldrT="[Text]" phldr="0" custT="1"/>
      <dgm:spPr/>
      <dgm:t>
        <a:bodyPr/>
        <a:lstStyle/>
        <a:p>
          <a:r>
            <a:rPr lang="en-US" sz="2400" dirty="0">
              <a:latin typeface="Arial Black" panose="020B0A04020102020204" pitchFamily="34" charset="0"/>
            </a:rPr>
            <a:t>2000</a:t>
          </a:r>
        </a:p>
      </dgm:t>
    </dgm:pt>
    <dgm:pt modelId="{A1600321-B56F-47EE-81A1-70B9555B7BE6}" type="parTrans" cxnId="{CD459AD2-294A-46E9-A9BA-127AB3D763A1}">
      <dgm:prSet/>
      <dgm:spPr/>
      <dgm:t>
        <a:bodyPr/>
        <a:lstStyle/>
        <a:p>
          <a:endParaRPr lang="en-US"/>
        </a:p>
      </dgm:t>
    </dgm:pt>
    <dgm:pt modelId="{B8E71520-78E5-4488-95EC-8342766D7D3F}" type="sibTrans" cxnId="{CD459AD2-294A-46E9-A9BA-127AB3D763A1}">
      <dgm:prSet/>
      <dgm:spPr/>
      <dgm:t>
        <a:bodyPr/>
        <a:lstStyle/>
        <a:p>
          <a:endParaRPr lang="en-US"/>
        </a:p>
      </dgm:t>
    </dgm:pt>
    <dgm:pt modelId="{D6B76C44-902A-48D4-9CD0-189198E8AFD8}">
      <dgm:prSet phldrT="[Text]" phldr="0" custT="1"/>
      <dgm:spPr/>
      <dgm:t>
        <a:bodyPr/>
        <a:lstStyle/>
        <a:p>
          <a:pPr rtl="0">
            <a:buSzPct val="100000"/>
            <a:buFont typeface="Arial" panose="020B0604020202020204" pitchFamily="34" charset="0"/>
            <a:buChar char="•"/>
          </a:pPr>
          <a:r>
            <a:rPr lang="en-US" sz="1400" dirty="0">
              <a:latin typeface="Arial Black" panose="020B0A04020102020204" pitchFamily="34" charset="0"/>
            </a:rPr>
            <a:t>Aquafina was the number one ranked bottled-water brand in the U.S. market in 2000.</a:t>
          </a:r>
        </a:p>
      </dgm:t>
    </dgm:pt>
    <dgm:pt modelId="{61208F30-C347-45B3-B54E-32F9D9E7BCE2}" type="parTrans" cxnId="{8FBB991D-9F5A-4805-A40C-6E5E1E08A074}">
      <dgm:prSet/>
      <dgm:spPr/>
      <dgm:t>
        <a:bodyPr/>
        <a:lstStyle/>
        <a:p>
          <a:endParaRPr lang="en-US"/>
        </a:p>
      </dgm:t>
    </dgm:pt>
    <dgm:pt modelId="{932A7A12-4F66-4F88-991B-A553290A4B9F}" type="sibTrans" cxnId="{8FBB991D-9F5A-4805-A40C-6E5E1E08A074}">
      <dgm:prSet/>
      <dgm:spPr/>
      <dgm:t>
        <a:bodyPr/>
        <a:lstStyle/>
        <a:p>
          <a:endParaRPr lang="en-US"/>
        </a:p>
      </dgm:t>
    </dgm:pt>
    <dgm:pt modelId="{26347D20-7A6F-4B32-A7F5-91D115015E75}">
      <dgm:prSet custT="1"/>
      <dgm:spPr/>
      <dgm:t>
        <a:bodyPr/>
        <a:lstStyle/>
        <a:p>
          <a:pPr rtl="0">
            <a:buSzPct val="100000"/>
            <a:buFont typeface="Arial" panose="020B0604020202020204" pitchFamily="34" charset="0"/>
            <a:buChar char="•"/>
          </a:pPr>
          <a:r>
            <a:rPr lang="en-US" sz="1400" dirty="0">
              <a:latin typeface="Arial Black" panose="020B0A04020102020204" pitchFamily="34" charset="0"/>
            </a:rPr>
            <a:t>During Enrico's term, PepsiCo's return on equity almost doubled and reached roughly 30% in 2000.</a:t>
          </a:r>
        </a:p>
      </dgm:t>
    </dgm:pt>
    <dgm:pt modelId="{597BC549-0DED-41F6-94FE-B8B678B5DD39}" type="parTrans" cxnId="{00EA83F5-ED75-4829-8DF2-781BC078EA88}">
      <dgm:prSet/>
      <dgm:spPr/>
      <dgm:t>
        <a:bodyPr/>
        <a:lstStyle/>
        <a:p>
          <a:endParaRPr lang="en-US"/>
        </a:p>
      </dgm:t>
    </dgm:pt>
    <dgm:pt modelId="{10964A11-A88A-4EE7-AA5B-38807712D1E6}" type="sibTrans" cxnId="{00EA83F5-ED75-4829-8DF2-781BC078EA88}">
      <dgm:prSet/>
      <dgm:spPr/>
      <dgm:t>
        <a:bodyPr/>
        <a:lstStyle/>
        <a:p>
          <a:endParaRPr lang="en-US"/>
        </a:p>
      </dgm:t>
    </dgm:pt>
    <dgm:pt modelId="{C1606DD1-516A-4ABE-895E-80F82E5C6A13}">
      <dgm:prSet phldrT="[Text]" phldr="0" custT="1"/>
      <dgm:spPr/>
      <dgm:t>
        <a:bodyPr/>
        <a:lstStyle/>
        <a:p>
          <a:pPr rtl="0">
            <a:buSzPct val="100000"/>
            <a:buFont typeface="Arial" panose="020B0604020202020204" pitchFamily="34" charset="0"/>
            <a:buChar char="•"/>
          </a:pPr>
          <a:r>
            <a:rPr lang="en-US" sz="1800" dirty="0">
              <a:latin typeface="+mj-lt"/>
            </a:rPr>
            <a:t>PepsiCo, in alliance with Starbucks, introduced the highly popular Starbucks Frappuccino in 1996</a:t>
          </a:r>
        </a:p>
      </dgm:t>
    </dgm:pt>
    <dgm:pt modelId="{730D6014-7252-4783-A086-93DD2AD67297}" type="parTrans" cxnId="{EDE5D275-93B4-4893-B0E8-12A205C4A323}">
      <dgm:prSet/>
      <dgm:spPr/>
      <dgm:t>
        <a:bodyPr/>
        <a:lstStyle/>
        <a:p>
          <a:endParaRPr lang="en-US"/>
        </a:p>
      </dgm:t>
    </dgm:pt>
    <dgm:pt modelId="{00BB5923-1B58-477C-9B58-F1E923EDDD1E}" type="sibTrans" cxnId="{EDE5D275-93B4-4893-B0E8-12A205C4A323}">
      <dgm:prSet/>
      <dgm:spPr/>
      <dgm:t>
        <a:bodyPr/>
        <a:lstStyle/>
        <a:p>
          <a:endParaRPr lang="en-US"/>
        </a:p>
      </dgm:t>
    </dgm:pt>
    <dgm:pt modelId="{BB954968-82E2-40A9-9133-874E50EED7AC}">
      <dgm:prSet custT="1"/>
      <dgm:spPr/>
      <dgm:t>
        <a:bodyPr/>
        <a:lstStyle/>
        <a:p>
          <a:pPr rtl="0">
            <a:buSzPct val="100000"/>
            <a:buFont typeface="Arial" panose="020B0604020202020204" pitchFamily="34" charset="0"/>
            <a:buChar char="•"/>
          </a:pPr>
          <a:r>
            <a:rPr lang="en-US" sz="1800" dirty="0">
              <a:latin typeface="Arial Black" panose="020B0A04020102020204" pitchFamily="34" charset="0"/>
            </a:rPr>
            <a:t>Positioning PepsiCo as a focused snack and beverage company in 2000 was mostly due to the bottling process that was done by the CEO from 1997, Enrico.</a:t>
          </a:r>
        </a:p>
      </dgm:t>
    </dgm:pt>
    <dgm:pt modelId="{B9CE5539-F0CD-4786-8355-AA48BED0120A}" type="parTrans" cxnId="{F4004399-30CB-47C4-BF12-222E42901567}">
      <dgm:prSet/>
      <dgm:spPr/>
      <dgm:t>
        <a:bodyPr/>
        <a:lstStyle/>
        <a:p>
          <a:endParaRPr lang="en-US"/>
        </a:p>
      </dgm:t>
    </dgm:pt>
    <dgm:pt modelId="{B05165CB-2294-47F8-962A-B2F73D2BD6FE}" type="sibTrans" cxnId="{F4004399-30CB-47C4-BF12-222E42901567}">
      <dgm:prSet/>
      <dgm:spPr/>
      <dgm:t>
        <a:bodyPr/>
        <a:lstStyle/>
        <a:p>
          <a:endParaRPr lang="en-US"/>
        </a:p>
      </dgm:t>
    </dgm:pt>
    <dgm:pt modelId="{805E9416-0DFF-43A5-9034-36419708E62D}">
      <dgm:prSet custT="1"/>
      <dgm:spPr/>
      <dgm:t>
        <a:bodyPr/>
        <a:lstStyle/>
        <a:p>
          <a:pPr rtl="0">
            <a:buSzPct val="100000"/>
            <a:buFont typeface="Arial" panose="020B0604020202020204" pitchFamily="34" charset="0"/>
            <a:buChar char="•"/>
          </a:pPr>
          <a:r>
            <a:rPr lang="en-US" sz="1400" dirty="0">
              <a:latin typeface="Arial Black" panose="020B0A04020102020204" pitchFamily="34" charset="0"/>
            </a:rPr>
            <a:t>December 4, 2000, PepsiCo, Inc., and the Quaker Oats Company announced their merger, with PepsiCo acquiring Quaker Oats in a stock-for-stock deal valuing Quaker at around $14 billion.</a:t>
          </a:r>
        </a:p>
      </dgm:t>
    </dgm:pt>
    <dgm:pt modelId="{5073B97D-88F4-4CB5-B5C7-9DFDFDEF1F70}" type="parTrans" cxnId="{BFAF0DEC-765E-4775-A4B9-7A94E6769832}">
      <dgm:prSet/>
      <dgm:spPr/>
      <dgm:t>
        <a:bodyPr/>
        <a:lstStyle/>
        <a:p>
          <a:endParaRPr lang="en-US"/>
        </a:p>
      </dgm:t>
    </dgm:pt>
    <dgm:pt modelId="{FA0266B0-0A2F-4C0C-B8E8-36B362EFB906}" type="sibTrans" cxnId="{BFAF0DEC-765E-4775-A4B9-7A94E6769832}">
      <dgm:prSet/>
      <dgm:spPr/>
      <dgm:t>
        <a:bodyPr/>
        <a:lstStyle/>
        <a:p>
          <a:endParaRPr lang="en-US"/>
        </a:p>
      </dgm:t>
    </dgm:pt>
    <dgm:pt modelId="{9D608CC1-A7CF-48E2-B27A-4890516B8C94}">
      <dgm:prSet custT="1"/>
      <dgm:spPr/>
      <dgm:t>
        <a:bodyPr/>
        <a:lstStyle/>
        <a:p>
          <a:pPr rtl="0">
            <a:buSzPct val="100000"/>
            <a:buFont typeface="Arial" panose="020B0604020202020204" pitchFamily="34" charset="0"/>
            <a:buChar char="•"/>
          </a:pPr>
          <a:r>
            <a:rPr lang="en-US" sz="1400" dirty="0">
              <a:latin typeface="Arial Black" panose="020B0A04020102020204" pitchFamily="34" charset="0"/>
            </a:rPr>
            <a:t>In 2000, PepsiCo, Inc., was a $20 billion company involved in the snack food, soft drink and noncarbonated beverage businesses.</a:t>
          </a:r>
        </a:p>
      </dgm:t>
    </dgm:pt>
    <dgm:pt modelId="{C6F2285F-C175-44FD-A4C2-E20FD7F9D0D2}" type="parTrans" cxnId="{567CF148-77BB-4E84-A00B-147A48EF0A4D}">
      <dgm:prSet/>
      <dgm:spPr/>
      <dgm:t>
        <a:bodyPr/>
        <a:lstStyle/>
        <a:p>
          <a:endParaRPr lang="en-US"/>
        </a:p>
      </dgm:t>
    </dgm:pt>
    <dgm:pt modelId="{5486428D-2989-43E4-B7DE-84047D07E2B3}" type="sibTrans" cxnId="{567CF148-77BB-4E84-A00B-147A48EF0A4D}">
      <dgm:prSet/>
      <dgm:spPr/>
      <dgm:t>
        <a:bodyPr/>
        <a:lstStyle/>
        <a:p>
          <a:endParaRPr lang="en-US"/>
        </a:p>
      </dgm:t>
    </dgm:pt>
    <dgm:pt modelId="{83EDD71C-7D61-4051-BBBA-976123AE2D4A}" type="pres">
      <dgm:prSet presAssocID="{89333362-AF9B-424A-89C7-221E5BA8921C}" presName="linear" presStyleCnt="0">
        <dgm:presLayoutVars>
          <dgm:dir/>
          <dgm:animLvl val="lvl"/>
          <dgm:resizeHandles val="exact"/>
        </dgm:presLayoutVars>
      </dgm:prSet>
      <dgm:spPr/>
    </dgm:pt>
    <dgm:pt modelId="{9E8578ED-E306-43AB-B4DC-6CCA17F2067E}" type="pres">
      <dgm:prSet presAssocID="{43A957BF-8AC8-477A-9534-E54EC0518D68}" presName="parentLin" presStyleCnt="0"/>
      <dgm:spPr/>
    </dgm:pt>
    <dgm:pt modelId="{76DC07DE-FC20-44D8-A560-5012D1E0F0DE}" type="pres">
      <dgm:prSet presAssocID="{43A957BF-8AC8-477A-9534-E54EC0518D68}" presName="parentLeftMargin" presStyleLbl="node1" presStyleIdx="0" presStyleCnt="3"/>
      <dgm:spPr/>
    </dgm:pt>
    <dgm:pt modelId="{F4C7C219-3B90-4950-B1FB-743D90177C71}" type="pres">
      <dgm:prSet presAssocID="{43A957BF-8AC8-477A-9534-E54EC0518D68}" presName="parentText" presStyleLbl="node1" presStyleIdx="0" presStyleCnt="3">
        <dgm:presLayoutVars>
          <dgm:chMax val="0"/>
          <dgm:bulletEnabled val="1"/>
        </dgm:presLayoutVars>
      </dgm:prSet>
      <dgm:spPr/>
    </dgm:pt>
    <dgm:pt modelId="{CDC89999-70C1-40F1-8886-1DDC696D7100}" type="pres">
      <dgm:prSet presAssocID="{43A957BF-8AC8-477A-9534-E54EC0518D68}" presName="negativeSpace" presStyleCnt="0"/>
      <dgm:spPr/>
    </dgm:pt>
    <dgm:pt modelId="{1CAD2392-8E51-4525-9F88-4290CEC27231}" type="pres">
      <dgm:prSet presAssocID="{43A957BF-8AC8-477A-9534-E54EC0518D68}" presName="childText" presStyleLbl="conFgAcc1" presStyleIdx="0" presStyleCnt="3" custLinFactNeighborX="80" custLinFactNeighborY="12342">
        <dgm:presLayoutVars>
          <dgm:bulletEnabled val="1"/>
        </dgm:presLayoutVars>
      </dgm:prSet>
      <dgm:spPr/>
    </dgm:pt>
    <dgm:pt modelId="{F75422FC-C060-49C9-9E56-F33000BC5750}" type="pres">
      <dgm:prSet presAssocID="{D2FF85B4-B49D-4C12-B084-B2CE616DDB5B}" presName="spaceBetweenRectangles" presStyleCnt="0"/>
      <dgm:spPr/>
    </dgm:pt>
    <dgm:pt modelId="{D5B9DFAB-BD58-4F51-A799-FD5776395E49}" type="pres">
      <dgm:prSet presAssocID="{59611F91-CF92-48ED-88EF-1B9DFF1C199A}" presName="parentLin" presStyleCnt="0"/>
      <dgm:spPr/>
    </dgm:pt>
    <dgm:pt modelId="{2CC2BF51-619E-42B1-B840-3920F229A867}" type="pres">
      <dgm:prSet presAssocID="{59611F91-CF92-48ED-88EF-1B9DFF1C199A}" presName="parentLeftMargin" presStyleLbl="node1" presStyleIdx="0" presStyleCnt="3"/>
      <dgm:spPr/>
    </dgm:pt>
    <dgm:pt modelId="{31C0C389-6D7A-49BD-84CA-CC4861AF15D6}" type="pres">
      <dgm:prSet presAssocID="{59611F91-CF92-48ED-88EF-1B9DFF1C199A}" presName="parentText" presStyleLbl="node1" presStyleIdx="1" presStyleCnt="3">
        <dgm:presLayoutVars>
          <dgm:chMax val="0"/>
          <dgm:bulletEnabled val="1"/>
        </dgm:presLayoutVars>
      </dgm:prSet>
      <dgm:spPr/>
    </dgm:pt>
    <dgm:pt modelId="{733CF651-5EC1-4669-8DA0-48A78E53A3BF}" type="pres">
      <dgm:prSet presAssocID="{59611F91-CF92-48ED-88EF-1B9DFF1C199A}" presName="negativeSpace" presStyleCnt="0"/>
      <dgm:spPr/>
    </dgm:pt>
    <dgm:pt modelId="{AB085963-DD2B-48D3-B822-DDCDEF49A78C}" type="pres">
      <dgm:prSet presAssocID="{59611F91-CF92-48ED-88EF-1B9DFF1C199A}" presName="childText" presStyleLbl="conFgAcc1" presStyleIdx="1" presStyleCnt="3" custLinFactNeighborX="-713">
        <dgm:presLayoutVars>
          <dgm:bulletEnabled val="1"/>
        </dgm:presLayoutVars>
      </dgm:prSet>
      <dgm:spPr/>
    </dgm:pt>
    <dgm:pt modelId="{72771336-42E8-4FA4-973C-4AEDEAF97067}" type="pres">
      <dgm:prSet presAssocID="{1299A6D9-95DD-4AF6-9C9B-D221255836B0}" presName="spaceBetweenRectangles" presStyleCnt="0"/>
      <dgm:spPr/>
    </dgm:pt>
    <dgm:pt modelId="{65791A1A-B7A0-47AB-AD84-8ADFA50AF9C4}" type="pres">
      <dgm:prSet presAssocID="{C2631E65-0134-4877-9BE2-DB82E48F4920}" presName="parentLin" presStyleCnt="0"/>
      <dgm:spPr/>
    </dgm:pt>
    <dgm:pt modelId="{6451F036-0378-4194-A403-BF04F319F411}" type="pres">
      <dgm:prSet presAssocID="{C2631E65-0134-4877-9BE2-DB82E48F4920}" presName="parentLeftMargin" presStyleLbl="node1" presStyleIdx="1" presStyleCnt="3"/>
      <dgm:spPr/>
    </dgm:pt>
    <dgm:pt modelId="{BCD9D438-39B4-450E-9320-2F57B7C71E36}" type="pres">
      <dgm:prSet presAssocID="{C2631E65-0134-4877-9BE2-DB82E48F4920}" presName="parentText" presStyleLbl="node1" presStyleIdx="2" presStyleCnt="3">
        <dgm:presLayoutVars>
          <dgm:chMax val="0"/>
          <dgm:bulletEnabled val="1"/>
        </dgm:presLayoutVars>
      </dgm:prSet>
      <dgm:spPr/>
    </dgm:pt>
    <dgm:pt modelId="{BFCC530D-E156-4BF0-A612-14394FE79C92}" type="pres">
      <dgm:prSet presAssocID="{C2631E65-0134-4877-9BE2-DB82E48F4920}" presName="negativeSpace" presStyleCnt="0"/>
      <dgm:spPr/>
    </dgm:pt>
    <dgm:pt modelId="{5D460422-3B82-4D70-966C-C7A11EAA6FB1}" type="pres">
      <dgm:prSet presAssocID="{C2631E65-0134-4877-9BE2-DB82E48F4920}" presName="childText" presStyleLbl="conFgAcc1" presStyleIdx="2" presStyleCnt="3" custLinFactNeighborX="-80" custLinFactNeighborY="9902">
        <dgm:presLayoutVars>
          <dgm:bulletEnabled val="1"/>
        </dgm:presLayoutVars>
      </dgm:prSet>
      <dgm:spPr/>
    </dgm:pt>
  </dgm:ptLst>
  <dgm:cxnLst>
    <dgm:cxn modelId="{CC53280B-FB14-436D-9384-5D30C75B4BD7}" type="presOf" srcId="{5FDDB00D-31DE-4C27-8AE4-8F0DCA63D93E}" destId="{AB085963-DD2B-48D3-B822-DDCDEF49A78C}" srcOrd="0" destOrd="0" presId="urn:microsoft.com/office/officeart/2005/8/layout/list1"/>
    <dgm:cxn modelId="{47EDAF12-981E-4035-8EE6-2E426B516CE5}" type="presOf" srcId="{C2631E65-0134-4877-9BE2-DB82E48F4920}" destId="{6451F036-0378-4194-A403-BF04F319F411}" srcOrd="0" destOrd="0" presId="urn:microsoft.com/office/officeart/2005/8/layout/list1"/>
    <dgm:cxn modelId="{8FBB991D-9F5A-4805-A40C-6E5E1E08A074}" srcId="{C2631E65-0134-4877-9BE2-DB82E48F4920}" destId="{D6B76C44-902A-48D4-9CD0-189198E8AFD8}" srcOrd="0" destOrd="0" parTransId="{61208F30-C347-45B3-B54E-32F9D9E7BCE2}" sibTransId="{932A7A12-4F66-4F88-991B-A553290A4B9F}"/>
    <dgm:cxn modelId="{A63C0A23-3C0F-40BF-8B42-F9BC3898A4B5}" srcId="{89333362-AF9B-424A-89C7-221E5BA8921C}" destId="{43A957BF-8AC8-477A-9534-E54EC0518D68}" srcOrd="0" destOrd="0" parTransId="{A99C6152-9571-49C9-92CA-EAD8197B853E}" sibTransId="{D2FF85B4-B49D-4C12-B084-B2CE616DDB5B}"/>
    <dgm:cxn modelId="{343F0424-3EDB-4E74-890D-CDB44D559F18}" type="presOf" srcId="{26347D20-7A6F-4B32-A7F5-91D115015E75}" destId="{5D460422-3B82-4D70-966C-C7A11EAA6FB1}" srcOrd="0" destOrd="1" presId="urn:microsoft.com/office/officeart/2005/8/layout/list1"/>
    <dgm:cxn modelId="{567CF148-77BB-4E84-A00B-147A48EF0A4D}" srcId="{C2631E65-0134-4877-9BE2-DB82E48F4920}" destId="{9D608CC1-A7CF-48E2-B27A-4890516B8C94}" srcOrd="3" destOrd="0" parTransId="{C6F2285F-C175-44FD-A4C2-E20FD7F9D0D2}" sibTransId="{5486428D-2989-43E4-B7DE-84047D07E2B3}"/>
    <dgm:cxn modelId="{FACBF769-4099-43FE-B87E-1B60E1F5F218}" srcId="{59611F91-CF92-48ED-88EF-1B9DFF1C199A}" destId="{5FDDB00D-31DE-4C27-8AE4-8F0DCA63D93E}" srcOrd="0" destOrd="0" parTransId="{2932E09D-0AC2-4E02-B203-5FDAE454D4F0}" sibTransId="{94439111-712E-4C35-B58D-67E19A62F2A2}"/>
    <dgm:cxn modelId="{E281FF6A-1D18-43EA-A1CE-1FBBE784C159}" type="presOf" srcId="{59611F91-CF92-48ED-88EF-1B9DFF1C199A}" destId="{31C0C389-6D7A-49BD-84CA-CC4861AF15D6}" srcOrd="1" destOrd="0" presId="urn:microsoft.com/office/officeart/2005/8/layout/list1"/>
    <dgm:cxn modelId="{21E6C44C-DD68-494B-A7AA-3F024DA6CC88}" type="presOf" srcId="{59611F91-CF92-48ED-88EF-1B9DFF1C199A}" destId="{2CC2BF51-619E-42B1-B840-3920F229A867}" srcOrd="0" destOrd="0" presId="urn:microsoft.com/office/officeart/2005/8/layout/list1"/>
    <dgm:cxn modelId="{EDE5D275-93B4-4893-B0E8-12A205C4A323}" srcId="{43A957BF-8AC8-477A-9534-E54EC0518D68}" destId="{C1606DD1-516A-4ABE-895E-80F82E5C6A13}" srcOrd="1" destOrd="0" parTransId="{730D6014-7252-4783-A086-93DD2AD67297}" sibTransId="{00BB5923-1B58-477C-9B58-F1E923EDDD1E}"/>
    <dgm:cxn modelId="{227EDE80-C2DD-4B57-A42F-01419E06AC79}" srcId="{43A957BF-8AC8-477A-9534-E54EC0518D68}" destId="{C76C0E52-B5E9-465B-9EDB-43D2B6FA9675}" srcOrd="0" destOrd="0" parTransId="{8C15418C-4070-4E7F-BAE0-CA3E37617FD8}" sibTransId="{C431D61F-92DD-4BF0-9C8D-17AAF06CEF55}"/>
    <dgm:cxn modelId="{F4004399-30CB-47C4-BF12-222E42901567}" srcId="{59611F91-CF92-48ED-88EF-1B9DFF1C199A}" destId="{BB954968-82E2-40A9-9133-874E50EED7AC}" srcOrd="1" destOrd="0" parTransId="{B9CE5539-F0CD-4786-8355-AA48BED0120A}" sibTransId="{B05165CB-2294-47F8-962A-B2F73D2BD6FE}"/>
    <dgm:cxn modelId="{10FB3AA0-7040-4947-A824-2A82317077B8}" type="presOf" srcId="{89333362-AF9B-424A-89C7-221E5BA8921C}" destId="{83EDD71C-7D61-4051-BBBA-976123AE2D4A}" srcOrd="0" destOrd="0" presId="urn:microsoft.com/office/officeart/2005/8/layout/list1"/>
    <dgm:cxn modelId="{D61D30A7-E5CE-403D-9F50-796F6DB803A7}" type="presOf" srcId="{43A957BF-8AC8-477A-9534-E54EC0518D68}" destId="{76DC07DE-FC20-44D8-A560-5012D1E0F0DE}" srcOrd="0" destOrd="0" presId="urn:microsoft.com/office/officeart/2005/8/layout/list1"/>
    <dgm:cxn modelId="{E92A4AA8-A0CB-4FE3-9DB1-748EE3E322FC}" type="presOf" srcId="{D6B76C44-902A-48D4-9CD0-189198E8AFD8}" destId="{5D460422-3B82-4D70-966C-C7A11EAA6FB1}" srcOrd="0" destOrd="0" presId="urn:microsoft.com/office/officeart/2005/8/layout/list1"/>
    <dgm:cxn modelId="{87D75AB2-0A81-4176-B47D-B16A76389A5B}" type="presOf" srcId="{9D608CC1-A7CF-48E2-B27A-4890516B8C94}" destId="{5D460422-3B82-4D70-966C-C7A11EAA6FB1}" srcOrd="0" destOrd="3" presId="urn:microsoft.com/office/officeart/2005/8/layout/list1"/>
    <dgm:cxn modelId="{E9EB3CB4-3FF9-4938-8A58-6C0EF904D2C6}" type="presOf" srcId="{BB954968-82E2-40A9-9133-874E50EED7AC}" destId="{AB085963-DD2B-48D3-B822-DDCDEF49A78C}" srcOrd="0" destOrd="1" presId="urn:microsoft.com/office/officeart/2005/8/layout/list1"/>
    <dgm:cxn modelId="{3619C8B6-D69D-4BB9-AA19-A0B1E7991669}" type="presOf" srcId="{C2631E65-0134-4877-9BE2-DB82E48F4920}" destId="{BCD9D438-39B4-450E-9320-2F57B7C71E36}" srcOrd="1" destOrd="0" presId="urn:microsoft.com/office/officeart/2005/8/layout/list1"/>
    <dgm:cxn modelId="{485795C6-CCEA-4E10-B673-983FA41F3F6D}" type="presOf" srcId="{C1606DD1-516A-4ABE-895E-80F82E5C6A13}" destId="{1CAD2392-8E51-4525-9F88-4290CEC27231}" srcOrd="0" destOrd="1" presId="urn:microsoft.com/office/officeart/2005/8/layout/list1"/>
    <dgm:cxn modelId="{CD459AD2-294A-46E9-A9BA-127AB3D763A1}" srcId="{89333362-AF9B-424A-89C7-221E5BA8921C}" destId="{C2631E65-0134-4877-9BE2-DB82E48F4920}" srcOrd="2" destOrd="0" parTransId="{A1600321-B56F-47EE-81A1-70B9555B7BE6}" sibTransId="{B8E71520-78E5-4488-95EC-8342766D7D3F}"/>
    <dgm:cxn modelId="{FE5B4ED9-0B0C-4177-83F6-546108DC4891}" srcId="{89333362-AF9B-424A-89C7-221E5BA8921C}" destId="{59611F91-CF92-48ED-88EF-1B9DFF1C199A}" srcOrd="1" destOrd="0" parTransId="{E970E2B8-2C96-4F37-945B-274280A26E3A}" sibTransId="{1299A6D9-95DD-4AF6-9C9B-D221255836B0}"/>
    <dgm:cxn modelId="{BFAF0DEC-765E-4775-A4B9-7A94E6769832}" srcId="{C2631E65-0134-4877-9BE2-DB82E48F4920}" destId="{805E9416-0DFF-43A5-9034-36419708E62D}" srcOrd="2" destOrd="0" parTransId="{5073B97D-88F4-4CB5-B5C7-9DFDFDEF1F70}" sibTransId="{FA0266B0-0A2F-4C0C-B8E8-36B362EFB906}"/>
    <dgm:cxn modelId="{A42B78ED-BF6E-476A-876F-89F6E257CA4E}" type="presOf" srcId="{805E9416-0DFF-43A5-9034-36419708E62D}" destId="{5D460422-3B82-4D70-966C-C7A11EAA6FB1}" srcOrd="0" destOrd="2" presId="urn:microsoft.com/office/officeart/2005/8/layout/list1"/>
    <dgm:cxn modelId="{F548BBF1-0E1A-418A-9CFB-384BE07F6D3E}" type="presOf" srcId="{C76C0E52-B5E9-465B-9EDB-43D2B6FA9675}" destId="{1CAD2392-8E51-4525-9F88-4290CEC27231}" srcOrd="0" destOrd="0" presId="urn:microsoft.com/office/officeart/2005/8/layout/list1"/>
    <dgm:cxn modelId="{00EA83F5-ED75-4829-8DF2-781BC078EA88}" srcId="{C2631E65-0134-4877-9BE2-DB82E48F4920}" destId="{26347D20-7A6F-4B32-A7F5-91D115015E75}" srcOrd="1" destOrd="0" parTransId="{597BC549-0DED-41F6-94FE-B8B678B5DD39}" sibTransId="{10964A11-A88A-4EE7-AA5B-38807712D1E6}"/>
    <dgm:cxn modelId="{E46A0EFA-0E08-4BD4-B3B9-DED40CBF6437}" type="presOf" srcId="{43A957BF-8AC8-477A-9534-E54EC0518D68}" destId="{F4C7C219-3B90-4950-B1FB-743D90177C71}" srcOrd="1" destOrd="0" presId="urn:microsoft.com/office/officeart/2005/8/layout/list1"/>
    <dgm:cxn modelId="{CF48BE44-D3ED-4CB5-B806-8F534A0E3740}" type="presParOf" srcId="{83EDD71C-7D61-4051-BBBA-976123AE2D4A}" destId="{9E8578ED-E306-43AB-B4DC-6CCA17F2067E}" srcOrd="0" destOrd="0" presId="urn:microsoft.com/office/officeart/2005/8/layout/list1"/>
    <dgm:cxn modelId="{8929A6B5-DB6E-446D-BC50-B236B72A202E}" type="presParOf" srcId="{9E8578ED-E306-43AB-B4DC-6CCA17F2067E}" destId="{76DC07DE-FC20-44D8-A560-5012D1E0F0DE}" srcOrd="0" destOrd="0" presId="urn:microsoft.com/office/officeart/2005/8/layout/list1"/>
    <dgm:cxn modelId="{82F8F8FA-796E-4AB0-BF01-AA681D07F487}" type="presParOf" srcId="{9E8578ED-E306-43AB-B4DC-6CCA17F2067E}" destId="{F4C7C219-3B90-4950-B1FB-743D90177C71}" srcOrd="1" destOrd="0" presId="urn:microsoft.com/office/officeart/2005/8/layout/list1"/>
    <dgm:cxn modelId="{AE5C328C-E0AC-44D7-A090-9630B94AB748}" type="presParOf" srcId="{83EDD71C-7D61-4051-BBBA-976123AE2D4A}" destId="{CDC89999-70C1-40F1-8886-1DDC696D7100}" srcOrd="1" destOrd="0" presId="urn:microsoft.com/office/officeart/2005/8/layout/list1"/>
    <dgm:cxn modelId="{5CD9F955-BB35-43C3-95D1-173FD68669DE}" type="presParOf" srcId="{83EDD71C-7D61-4051-BBBA-976123AE2D4A}" destId="{1CAD2392-8E51-4525-9F88-4290CEC27231}" srcOrd="2" destOrd="0" presId="urn:microsoft.com/office/officeart/2005/8/layout/list1"/>
    <dgm:cxn modelId="{3212F71B-2C1D-4112-BCB5-09C6235E29A0}" type="presParOf" srcId="{83EDD71C-7D61-4051-BBBA-976123AE2D4A}" destId="{F75422FC-C060-49C9-9E56-F33000BC5750}" srcOrd="3" destOrd="0" presId="urn:microsoft.com/office/officeart/2005/8/layout/list1"/>
    <dgm:cxn modelId="{7456E3AF-D146-4B8F-AE94-E4B69851CCE2}" type="presParOf" srcId="{83EDD71C-7D61-4051-BBBA-976123AE2D4A}" destId="{D5B9DFAB-BD58-4F51-A799-FD5776395E49}" srcOrd="4" destOrd="0" presId="urn:microsoft.com/office/officeart/2005/8/layout/list1"/>
    <dgm:cxn modelId="{52BD8B31-4C2E-4885-AA38-B2B94CF237AA}" type="presParOf" srcId="{D5B9DFAB-BD58-4F51-A799-FD5776395E49}" destId="{2CC2BF51-619E-42B1-B840-3920F229A867}" srcOrd="0" destOrd="0" presId="urn:microsoft.com/office/officeart/2005/8/layout/list1"/>
    <dgm:cxn modelId="{5BA6FD77-B265-4A7F-A188-C5BACD1C1FBB}" type="presParOf" srcId="{D5B9DFAB-BD58-4F51-A799-FD5776395E49}" destId="{31C0C389-6D7A-49BD-84CA-CC4861AF15D6}" srcOrd="1" destOrd="0" presId="urn:microsoft.com/office/officeart/2005/8/layout/list1"/>
    <dgm:cxn modelId="{2E14805E-8F46-49C4-81A2-75E06DCDC497}" type="presParOf" srcId="{83EDD71C-7D61-4051-BBBA-976123AE2D4A}" destId="{733CF651-5EC1-4669-8DA0-48A78E53A3BF}" srcOrd="5" destOrd="0" presId="urn:microsoft.com/office/officeart/2005/8/layout/list1"/>
    <dgm:cxn modelId="{8573D4AC-2134-4730-A096-E851134654BA}" type="presParOf" srcId="{83EDD71C-7D61-4051-BBBA-976123AE2D4A}" destId="{AB085963-DD2B-48D3-B822-DDCDEF49A78C}" srcOrd="6" destOrd="0" presId="urn:microsoft.com/office/officeart/2005/8/layout/list1"/>
    <dgm:cxn modelId="{00128992-65B5-4F07-9F17-3C76FF15FC67}" type="presParOf" srcId="{83EDD71C-7D61-4051-BBBA-976123AE2D4A}" destId="{72771336-42E8-4FA4-973C-4AEDEAF97067}" srcOrd="7" destOrd="0" presId="urn:microsoft.com/office/officeart/2005/8/layout/list1"/>
    <dgm:cxn modelId="{6F6483C0-F2CA-4094-BCAA-6EDC2B4F302E}" type="presParOf" srcId="{83EDD71C-7D61-4051-BBBA-976123AE2D4A}" destId="{65791A1A-B7A0-47AB-AD84-8ADFA50AF9C4}" srcOrd="8" destOrd="0" presId="urn:microsoft.com/office/officeart/2005/8/layout/list1"/>
    <dgm:cxn modelId="{A8E27022-BB85-4847-831E-58C5C1FE11FA}" type="presParOf" srcId="{65791A1A-B7A0-47AB-AD84-8ADFA50AF9C4}" destId="{6451F036-0378-4194-A403-BF04F319F411}" srcOrd="0" destOrd="0" presId="urn:microsoft.com/office/officeart/2005/8/layout/list1"/>
    <dgm:cxn modelId="{A4B6F51C-A4FE-4554-A3E2-A986D8A7907A}" type="presParOf" srcId="{65791A1A-B7A0-47AB-AD84-8ADFA50AF9C4}" destId="{BCD9D438-39B4-450E-9320-2F57B7C71E36}" srcOrd="1" destOrd="0" presId="urn:microsoft.com/office/officeart/2005/8/layout/list1"/>
    <dgm:cxn modelId="{91E8030E-30E9-4218-A77A-7A54752C570E}" type="presParOf" srcId="{83EDD71C-7D61-4051-BBBA-976123AE2D4A}" destId="{BFCC530D-E156-4BF0-A612-14394FE79C92}" srcOrd="9" destOrd="0" presId="urn:microsoft.com/office/officeart/2005/8/layout/list1"/>
    <dgm:cxn modelId="{A50B6A07-FA17-4F58-86A9-624D7E29EEDE}" type="presParOf" srcId="{83EDD71C-7D61-4051-BBBA-976123AE2D4A}" destId="{5D460422-3B82-4D70-966C-C7A11EAA6FB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37D33D-B23C-4A38-84FF-43904D434252}" type="doc">
      <dgm:prSet loTypeId="urn:microsoft.com/office/officeart/2005/8/layout/hList1" loCatId="list" qsTypeId="urn:microsoft.com/office/officeart/2005/8/quickstyle/simple5" qsCatId="simple" csTypeId="urn:microsoft.com/office/officeart/2005/8/colors/accent0_3" csCatId="mainScheme" phldr="1"/>
      <dgm:spPr/>
      <dgm:t>
        <a:bodyPr/>
        <a:lstStyle/>
        <a:p>
          <a:endParaRPr lang="en-US"/>
        </a:p>
      </dgm:t>
    </dgm:pt>
    <dgm:pt modelId="{DE5EC2BD-488A-4C72-ABC3-45EEFE13BC8F}">
      <dgm:prSet custT="1"/>
      <dgm:spPr/>
      <dgm:t>
        <a:bodyPr/>
        <a:lstStyle/>
        <a:p>
          <a:r>
            <a:rPr lang="en-US" sz="2800" dirty="0">
              <a:latin typeface="Arial Black" panose="020B0A04020102020204" pitchFamily="34" charset="0"/>
            </a:rPr>
            <a:t>Known For: </a:t>
          </a:r>
        </a:p>
      </dgm:t>
    </dgm:pt>
    <dgm:pt modelId="{84B9C2DE-B9B6-465C-B03C-1CE2FEA20ED7}" type="parTrans" cxnId="{1392BB28-00A7-4DB8-A8F1-890BD2485FDF}">
      <dgm:prSet/>
      <dgm:spPr/>
      <dgm:t>
        <a:bodyPr/>
        <a:lstStyle/>
        <a:p>
          <a:endParaRPr lang="en-US"/>
        </a:p>
      </dgm:t>
    </dgm:pt>
    <dgm:pt modelId="{25639CED-AF0D-47C5-8F41-F3456DF431D8}" type="sibTrans" cxnId="{1392BB28-00A7-4DB8-A8F1-890BD2485FDF}">
      <dgm:prSet/>
      <dgm:spPr/>
      <dgm:t>
        <a:bodyPr/>
        <a:lstStyle/>
        <a:p>
          <a:endParaRPr lang="en-US"/>
        </a:p>
      </dgm:t>
    </dgm:pt>
    <dgm:pt modelId="{F7AADD3A-271E-41D6-B245-3D1B3949BCCC}">
      <dgm:prSet custT="1"/>
      <dgm:spPr/>
      <dgm:t>
        <a:bodyPr/>
        <a:lstStyle/>
        <a:p>
          <a:r>
            <a:rPr lang="en-US" sz="2000" dirty="0">
              <a:latin typeface="Arial Black" panose="020B0A04020102020204" pitchFamily="34" charset="0"/>
            </a:rPr>
            <a:t>Missing major opportunities to steer the company in the right direction.</a:t>
          </a:r>
        </a:p>
      </dgm:t>
    </dgm:pt>
    <dgm:pt modelId="{AC1E094A-CC88-4A84-BA77-EC03CC62F61E}" type="parTrans" cxnId="{6D0FCA5C-1A14-409E-9810-C64D524AE527}">
      <dgm:prSet/>
      <dgm:spPr/>
      <dgm:t>
        <a:bodyPr/>
        <a:lstStyle/>
        <a:p>
          <a:endParaRPr lang="en-US"/>
        </a:p>
      </dgm:t>
    </dgm:pt>
    <dgm:pt modelId="{2C57BD31-CF64-4587-8CC3-E4F93CEB00E3}" type="sibTrans" cxnId="{6D0FCA5C-1A14-409E-9810-C64D524AE527}">
      <dgm:prSet/>
      <dgm:spPr/>
      <dgm:t>
        <a:bodyPr/>
        <a:lstStyle/>
        <a:p>
          <a:endParaRPr lang="en-US"/>
        </a:p>
      </dgm:t>
    </dgm:pt>
    <dgm:pt modelId="{3CC6E21B-2BAA-4F41-867E-212491CBBF50}">
      <dgm:prSet custT="1"/>
      <dgm:spPr/>
      <dgm:t>
        <a:bodyPr/>
        <a:lstStyle/>
        <a:p>
          <a:r>
            <a:rPr lang="en-US" sz="2000" dirty="0">
              <a:latin typeface="Arial Black" panose="020B0A04020102020204" pitchFamily="34" charset="0"/>
            </a:rPr>
            <a:t>Ruining the financial stability of the company.</a:t>
          </a:r>
        </a:p>
      </dgm:t>
    </dgm:pt>
    <dgm:pt modelId="{5F740482-3D5D-4F1C-942E-72590ED5C2CB}" type="parTrans" cxnId="{9D41D0C6-6B8F-456A-B0AD-27E21B1AF85D}">
      <dgm:prSet/>
      <dgm:spPr/>
      <dgm:t>
        <a:bodyPr/>
        <a:lstStyle/>
        <a:p>
          <a:endParaRPr lang="en-US"/>
        </a:p>
      </dgm:t>
    </dgm:pt>
    <dgm:pt modelId="{D3751F1A-925D-4A22-87E6-A4AFF10184C7}" type="sibTrans" cxnId="{9D41D0C6-6B8F-456A-B0AD-27E21B1AF85D}">
      <dgm:prSet/>
      <dgm:spPr/>
      <dgm:t>
        <a:bodyPr/>
        <a:lstStyle/>
        <a:p>
          <a:endParaRPr lang="en-US"/>
        </a:p>
      </dgm:t>
    </dgm:pt>
    <dgm:pt modelId="{5B0F9231-863D-432E-BC88-9560EABD26A8}">
      <dgm:prSet custT="1"/>
      <dgm:spPr/>
      <dgm:t>
        <a:bodyPr/>
        <a:lstStyle/>
        <a:p>
          <a:r>
            <a:rPr lang="en-US" sz="1800" dirty="0">
              <a:latin typeface="Arial Black" panose="020B0A04020102020204" pitchFamily="34" charset="0"/>
            </a:rPr>
            <a:t>Notable Management Decisions:</a:t>
          </a:r>
        </a:p>
      </dgm:t>
    </dgm:pt>
    <dgm:pt modelId="{393E241C-01FF-45B5-93C7-A0E069B73007}" type="parTrans" cxnId="{D3C70B9A-1189-470E-8124-224B33C13DA1}">
      <dgm:prSet/>
      <dgm:spPr/>
      <dgm:t>
        <a:bodyPr/>
        <a:lstStyle/>
        <a:p>
          <a:endParaRPr lang="en-US"/>
        </a:p>
      </dgm:t>
    </dgm:pt>
    <dgm:pt modelId="{F20CAE3F-5371-4901-8F35-6CEC8EF0E050}" type="sibTrans" cxnId="{D3C70B9A-1189-470E-8124-224B33C13DA1}">
      <dgm:prSet/>
      <dgm:spPr/>
      <dgm:t>
        <a:bodyPr/>
        <a:lstStyle/>
        <a:p>
          <a:endParaRPr lang="en-US"/>
        </a:p>
      </dgm:t>
    </dgm:pt>
    <dgm:pt modelId="{E6B6ACB6-5AAB-4A51-BF6A-B5EBF37B938E}">
      <dgm:prSet custT="1"/>
      <dgm:spPr/>
      <dgm:t>
        <a:bodyPr/>
        <a:lstStyle/>
        <a:p>
          <a:r>
            <a:rPr lang="en-US" sz="1800">
              <a:latin typeface="Arial Black" panose="020B0A04020102020204" pitchFamily="34" charset="0"/>
            </a:rPr>
            <a:t>Instituting a 7.7% price hike on syrup</a:t>
          </a:r>
          <a:endParaRPr lang="en-US" sz="1800" dirty="0">
            <a:latin typeface="Arial Black" panose="020B0A04020102020204" pitchFamily="34" charset="0"/>
          </a:endParaRPr>
        </a:p>
      </dgm:t>
    </dgm:pt>
    <dgm:pt modelId="{5D747A7E-21D1-46A8-8037-0B40F802FAAF}" type="parTrans" cxnId="{7A9D6E12-1259-45CB-AE79-04E34D1FA373}">
      <dgm:prSet/>
      <dgm:spPr/>
      <dgm:t>
        <a:bodyPr/>
        <a:lstStyle/>
        <a:p>
          <a:endParaRPr lang="en-US"/>
        </a:p>
      </dgm:t>
    </dgm:pt>
    <dgm:pt modelId="{67E58442-F9F7-4DAF-902B-C6FD019AB844}" type="sibTrans" cxnId="{7A9D6E12-1259-45CB-AE79-04E34D1FA373}">
      <dgm:prSet/>
      <dgm:spPr/>
      <dgm:t>
        <a:bodyPr/>
        <a:lstStyle/>
        <a:p>
          <a:endParaRPr lang="en-US"/>
        </a:p>
      </dgm:t>
    </dgm:pt>
    <dgm:pt modelId="{4283726C-2277-4201-8F9F-5C521DF171D1}">
      <dgm:prSet custT="1"/>
      <dgm:spPr/>
      <dgm:t>
        <a:bodyPr/>
        <a:lstStyle/>
        <a:p>
          <a:r>
            <a:rPr lang="en-US" sz="1800">
              <a:latin typeface="Arial Black" panose="020B0A04020102020204" pitchFamily="34" charset="0"/>
            </a:rPr>
            <a:t>Aggravating the difficulties that Coca-Cola faced due to external factors</a:t>
          </a:r>
          <a:endParaRPr lang="en-US" sz="1800" dirty="0">
            <a:latin typeface="Arial Black" panose="020B0A04020102020204" pitchFamily="34" charset="0"/>
          </a:endParaRPr>
        </a:p>
      </dgm:t>
    </dgm:pt>
    <dgm:pt modelId="{FBC8B6F7-2918-44BD-BC24-3FE1252F43D5}" type="parTrans" cxnId="{F3AB6AEA-E912-4CDF-AADE-04ABDF87D813}">
      <dgm:prSet/>
      <dgm:spPr/>
      <dgm:t>
        <a:bodyPr/>
        <a:lstStyle/>
        <a:p>
          <a:endParaRPr lang="en-US"/>
        </a:p>
      </dgm:t>
    </dgm:pt>
    <dgm:pt modelId="{DDFBD608-033A-42FF-BEAC-4FBC4D727AD4}" type="sibTrans" cxnId="{F3AB6AEA-E912-4CDF-AADE-04ABDF87D813}">
      <dgm:prSet/>
      <dgm:spPr/>
      <dgm:t>
        <a:bodyPr/>
        <a:lstStyle/>
        <a:p>
          <a:endParaRPr lang="en-US"/>
        </a:p>
      </dgm:t>
    </dgm:pt>
    <dgm:pt modelId="{6BF1A992-D86F-4E9E-93FE-74C25F6293B6}">
      <dgm:prSet custT="1"/>
      <dgm:spPr/>
      <dgm:t>
        <a:bodyPr/>
        <a:lstStyle/>
        <a:p>
          <a:r>
            <a:rPr lang="en-US" sz="1800">
              <a:latin typeface="Arial Black" panose="020B0A04020102020204" pitchFamily="34" charset="0"/>
            </a:rPr>
            <a:t>Insisting on pushing Coca-Cola's core soft-drink brands.</a:t>
          </a:r>
          <a:endParaRPr lang="en-US" sz="1800" dirty="0">
            <a:latin typeface="Arial Black" panose="020B0A04020102020204" pitchFamily="34" charset="0"/>
          </a:endParaRPr>
        </a:p>
      </dgm:t>
    </dgm:pt>
    <dgm:pt modelId="{34E500FE-32E4-48B2-9CB1-15855F06BB97}" type="parTrans" cxnId="{C7E09A17-6622-4139-B176-4DF409F798BD}">
      <dgm:prSet/>
      <dgm:spPr/>
      <dgm:t>
        <a:bodyPr/>
        <a:lstStyle/>
        <a:p>
          <a:endParaRPr lang="en-US"/>
        </a:p>
      </dgm:t>
    </dgm:pt>
    <dgm:pt modelId="{5880BF88-B52A-4EC8-8049-8B7C46099811}" type="sibTrans" cxnId="{C7E09A17-6622-4139-B176-4DF409F798BD}">
      <dgm:prSet/>
      <dgm:spPr/>
      <dgm:t>
        <a:bodyPr/>
        <a:lstStyle/>
        <a:p>
          <a:endParaRPr lang="en-US"/>
        </a:p>
      </dgm:t>
    </dgm:pt>
    <dgm:pt modelId="{33492883-10BA-4DFA-AA45-A1BBB46D3EA9}" type="pres">
      <dgm:prSet presAssocID="{6337D33D-B23C-4A38-84FF-43904D434252}" presName="Name0" presStyleCnt="0">
        <dgm:presLayoutVars>
          <dgm:dir/>
          <dgm:animLvl val="lvl"/>
          <dgm:resizeHandles val="exact"/>
        </dgm:presLayoutVars>
      </dgm:prSet>
      <dgm:spPr/>
    </dgm:pt>
    <dgm:pt modelId="{4EE1CB7C-A6B9-40DB-88E7-1D2C4A1223FD}" type="pres">
      <dgm:prSet presAssocID="{DE5EC2BD-488A-4C72-ABC3-45EEFE13BC8F}" presName="composite" presStyleCnt="0"/>
      <dgm:spPr/>
    </dgm:pt>
    <dgm:pt modelId="{14A8F8E0-0CE6-4A0A-9C62-7687D1A746DF}" type="pres">
      <dgm:prSet presAssocID="{DE5EC2BD-488A-4C72-ABC3-45EEFE13BC8F}" presName="parTx" presStyleLbl="alignNode1" presStyleIdx="0" presStyleCnt="2">
        <dgm:presLayoutVars>
          <dgm:chMax val="0"/>
          <dgm:chPref val="0"/>
          <dgm:bulletEnabled val="1"/>
        </dgm:presLayoutVars>
      </dgm:prSet>
      <dgm:spPr/>
    </dgm:pt>
    <dgm:pt modelId="{A4ED6F8E-F971-4236-8E7D-530DF599F44B}" type="pres">
      <dgm:prSet presAssocID="{DE5EC2BD-488A-4C72-ABC3-45EEFE13BC8F}" presName="desTx" presStyleLbl="alignAccFollowNode1" presStyleIdx="0" presStyleCnt="2">
        <dgm:presLayoutVars>
          <dgm:bulletEnabled val="1"/>
        </dgm:presLayoutVars>
      </dgm:prSet>
      <dgm:spPr/>
    </dgm:pt>
    <dgm:pt modelId="{0F7E4574-4365-43B6-9674-33EE870AC42A}" type="pres">
      <dgm:prSet presAssocID="{25639CED-AF0D-47C5-8F41-F3456DF431D8}" presName="space" presStyleCnt="0"/>
      <dgm:spPr/>
    </dgm:pt>
    <dgm:pt modelId="{D0CC40E9-E0B6-4AF5-B5AD-7F79716AE1A3}" type="pres">
      <dgm:prSet presAssocID="{5B0F9231-863D-432E-BC88-9560EABD26A8}" presName="composite" presStyleCnt="0"/>
      <dgm:spPr/>
    </dgm:pt>
    <dgm:pt modelId="{AEDF7CCD-18E8-4B1F-9070-4290BCBA30A3}" type="pres">
      <dgm:prSet presAssocID="{5B0F9231-863D-432E-BC88-9560EABD26A8}" presName="parTx" presStyleLbl="alignNode1" presStyleIdx="1" presStyleCnt="2">
        <dgm:presLayoutVars>
          <dgm:chMax val="0"/>
          <dgm:chPref val="0"/>
          <dgm:bulletEnabled val="1"/>
        </dgm:presLayoutVars>
      </dgm:prSet>
      <dgm:spPr/>
    </dgm:pt>
    <dgm:pt modelId="{B6EA1100-645E-428A-8FE1-082BF15DF4CF}" type="pres">
      <dgm:prSet presAssocID="{5B0F9231-863D-432E-BC88-9560EABD26A8}" presName="desTx" presStyleLbl="alignAccFollowNode1" presStyleIdx="1" presStyleCnt="2">
        <dgm:presLayoutVars>
          <dgm:bulletEnabled val="1"/>
        </dgm:presLayoutVars>
      </dgm:prSet>
      <dgm:spPr/>
    </dgm:pt>
  </dgm:ptLst>
  <dgm:cxnLst>
    <dgm:cxn modelId="{4BB05D02-7B2A-42F8-BB11-16BA06084AC2}" type="presOf" srcId="{4283726C-2277-4201-8F9F-5C521DF171D1}" destId="{B6EA1100-645E-428A-8FE1-082BF15DF4CF}" srcOrd="0" destOrd="2" presId="urn:microsoft.com/office/officeart/2005/8/layout/hList1"/>
    <dgm:cxn modelId="{2ED3890C-DD0E-4DC6-BBA9-9C75C8729273}" type="presOf" srcId="{E6B6ACB6-5AAB-4A51-BF6A-B5EBF37B938E}" destId="{B6EA1100-645E-428A-8FE1-082BF15DF4CF}" srcOrd="0" destOrd="0" presId="urn:microsoft.com/office/officeart/2005/8/layout/hList1"/>
    <dgm:cxn modelId="{7A9D6E12-1259-45CB-AE79-04E34D1FA373}" srcId="{5B0F9231-863D-432E-BC88-9560EABD26A8}" destId="{E6B6ACB6-5AAB-4A51-BF6A-B5EBF37B938E}" srcOrd="0" destOrd="0" parTransId="{5D747A7E-21D1-46A8-8037-0B40F802FAAF}" sibTransId="{67E58442-F9F7-4DAF-902B-C6FD019AB844}"/>
    <dgm:cxn modelId="{C7E09A17-6622-4139-B176-4DF409F798BD}" srcId="{5B0F9231-863D-432E-BC88-9560EABD26A8}" destId="{6BF1A992-D86F-4E9E-93FE-74C25F6293B6}" srcOrd="1" destOrd="0" parTransId="{34E500FE-32E4-48B2-9CB1-15855F06BB97}" sibTransId="{5880BF88-B52A-4EC8-8049-8B7C46099811}"/>
    <dgm:cxn modelId="{2636E423-3B47-410C-9D76-46F175CA763F}" type="presOf" srcId="{6BF1A992-D86F-4E9E-93FE-74C25F6293B6}" destId="{B6EA1100-645E-428A-8FE1-082BF15DF4CF}" srcOrd="0" destOrd="1" presId="urn:microsoft.com/office/officeart/2005/8/layout/hList1"/>
    <dgm:cxn modelId="{1392BB28-00A7-4DB8-A8F1-890BD2485FDF}" srcId="{6337D33D-B23C-4A38-84FF-43904D434252}" destId="{DE5EC2BD-488A-4C72-ABC3-45EEFE13BC8F}" srcOrd="0" destOrd="0" parTransId="{84B9C2DE-B9B6-465C-B03C-1CE2FEA20ED7}" sibTransId="{25639CED-AF0D-47C5-8F41-F3456DF431D8}"/>
    <dgm:cxn modelId="{A6E6DC3C-C178-4A78-957F-FD81B6552945}" type="presOf" srcId="{3CC6E21B-2BAA-4F41-867E-212491CBBF50}" destId="{A4ED6F8E-F971-4236-8E7D-530DF599F44B}" srcOrd="0" destOrd="1" presId="urn:microsoft.com/office/officeart/2005/8/layout/hList1"/>
    <dgm:cxn modelId="{0407755C-EE50-456C-BCF7-7F97091902B9}" type="presOf" srcId="{6337D33D-B23C-4A38-84FF-43904D434252}" destId="{33492883-10BA-4DFA-AA45-A1BBB46D3EA9}" srcOrd="0" destOrd="0" presId="urn:microsoft.com/office/officeart/2005/8/layout/hList1"/>
    <dgm:cxn modelId="{6D0FCA5C-1A14-409E-9810-C64D524AE527}" srcId="{DE5EC2BD-488A-4C72-ABC3-45EEFE13BC8F}" destId="{F7AADD3A-271E-41D6-B245-3D1B3949BCCC}" srcOrd="0" destOrd="0" parTransId="{AC1E094A-CC88-4A84-BA77-EC03CC62F61E}" sibTransId="{2C57BD31-CF64-4587-8CC3-E4F93CEB00E3}"/>
    <dgm:cxn modelId="{CA3E4150-A501-4829-82FB-1DA4EA7B3D81}" type="presOf" srcId="{F7AADD3A-271E-41D6-B245-3D1B3949BCCC}" destId="{A4ED6F8E-F971-4236-8E7D-530DF599F44B}" srcOrd="0" destOrd="0" presId="urn:microsoft.com/office/officeart/2005/8/layout/hList1"/>
    <dgm:cxn modelId="{960B7571-F3C8-46C5-B457-482931FE5546}" type="presOf" srcId="{5B0F9231-863D-432E-BC88-9560EABD26A8}" destId="{AEDF7CCD-18E8-4B1F-9070-4290BCBA30A3}" srcOrd="0" destOrd="0" presId="urn:microsoft.com/office/officeart/2005/8/layout/hList1"/>
    <dgm:cxn modelId="{02213887-4B9C-44CC-88EF-371124D232B3}" type="presOf" srcId="{DE5EC2BD-488A-4C72-ABC3-45EEFE13BC8F}" destId="{14A8F8E0-0CE6-4A0A-9C62-7687D1A746DF}" srcOrd="0" destOrd="0" presId="urn:microsoft.com/office/officeart/2005/8/layout/hList1"/>
    <dgm:cxn modelId="{D3C70B9A-1189-470E-8124-224B33C13DA1}" srcId="{6337D33D-B23C-4A38-84FF-43904D434252}" destId="{5B0F9231-863D-432E-BC88-9560EABD26A8}" srcOrd="1" destOrd="0" parTransId="{393E241C-01FF-45B5-93C7-A0E069B73007}" sibTransId="{F20CAE3F-5371-4901-8F35-6CEC8EF0E050}"/>
    <dgm:cxn modelId="{9D41D0C6-6B8F-456A-B0AD-27E21B1AF85D}" srcId="{DE5EC2BD-488A-4C72-ABC3-45EEFE13BC8F}" destId="{3CC6E21B-2BAA-4F41-867E-212491CBBF50}" srcOrd="1" destOrd="0" parTransId="{5F740482-3D5D-4F1C-942E-72590ED5C2CB}" sibTransId="{D3751F1A-925D-4A22-87E6-A4AFF10184C7}"/>
    <dgm:cxn modelId="{F3AB6AEA-E912-4CDF-AADE-04ABDF87D813}" srcId="{5B0F9231-863D-432E-BC88-9560EABD26A8}" destId="{4283726C-2277-4201-8F9F-5C521DF171D1}" srcOrd="2" destOrd="0" parTransId="{FBC8B6F7-2918-44BD-BC24-3FE1252F43D5}" sibTransId="{DDFBD608-033A-42FF-BEAC-4FBC4D727AD4}"/>
    <dgm:cxn modelId="{C89F0073-EF34-4212-AA5F-D05474F44C3E}" type="presParOf" srcId="{33492883-10BA-4DFA-AA45-A1BBB46D3EA9}" destId="{4EE1CB7C-A6B9-40DB-88E7-1D2C4A1223FD}" srcOrd="0" destOrd="0" presId="urn:microsoft.com/office/officeart/2005/8/layout/hList1"/>
    <dgm:cxn modelId="{E14228DE-D072-46DE-A14E-1A1B14E08E8D}" type="presParOf" srcId="{4EE1CB7C-A6B9-40DB-88E7-1D2C4A1223FD}" destId="{14A8F8E0-0CE6-4A0A-9C62-7687D1A746DF}" srcOrd="0" destOrd="0" presId="urn:microsoft.com/office/officeart/2005/8/layout/hList1"/>
    <dgm:cxn modelId="{F4D8C157-BAA2-4090-84B9-3677BE5414AF}" type="presParOf" srcId="{4EE1CB7C-A6B9-40DB-88E7-1D2C4A1223FD}" destId="{A4ED6F8E-F971-4236-8E7D-530DF599F44B}" srcOrd="1" destOrd="0" presId="urn:microsoft.com/office/officeart/2005/8/layout/hList1"/>
    <dgm:cxn modelId="{F83C646B-62A7-458C-A8C0-211C86DAEB8A}" type="presParOf" srcId="{33492883-10BA-4DFA-AA45-A1BBB46D3EA9}" destId="{0F7E4574-4365-43B6-9674-33EE870AC42A}" srcOrd="1" destOrd="0" presId="urn:microsoft.com/office/officeart/2005/8/layout/hList1"/>
    <dgm:cxn modelId="{06053534-3A2D-45DB-B44C-3B32C9FF0DED}" type="presParOf" srcId="{33492883-10BA-4DFA-AA45-A1BBB46D3EA9}" destId="{D0CC40E9-E0B6-4AF5-B5AD-7F79716AE1A3}" srcOrd="2" destOrd="0" presId="urn:microsoft.com/office/officeart/2005/8/layout/hList1"/>
    <dgm:cxn modelId="{C06BE8E2-F080-44FF-8801-692A76576A86}" type="presParOf" srcId="{D0CC40E9-E0B6-4AF5-B5AD-7F79716AE1A3}" destId="{AEDF7CCD-18E8-4B1F-9070-4290BCBA30A3}" srcOrd="0" destOrd="0" presId="urn:microsoft.com/office/officeart/2005/8/layout/hList1"/>
    <dgm:cxn modelId="{4FD4530D-4750-4266-A99D-BDD8DCEE2E6A}" type="presParOf" srcId="{D0CC40E9-E0B6-4AF5-B5AD-7F79716AE1A3}" destId="{B6EA1100-645E-428A-8FE1-082BF15DF4C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37D33D-B23C-4A38-84FF-43904D434252}" type="doc">
      <dgm:prSet loTypeId="urn:microsoft.com/office/officeart/2005/8/layout/hList1" loCatId="list" qsTypeId="urn:microsoft.com/office/officeart/2005/8/quickstyle/simple5" qsCatId="simple" csTypeId="urn:microsoft.com/office/officeart/2005/8/colors/accent0_3" csCatId="mainScheme" phldr="1"/>
      <dgm:spPr/>
      <dgm:t>
        <a:bodyPr/>
        <a:lstStyle/>
        <a:p>
          <a:endParaRPr lang="en-US"/>
        </a:p>
      </dgm:t>
    </dgm:pt>
    <dgm:pt modelId="{DE5EC2BD-488A-4C72-ABC3-45EEFE13BC8F}">
      <dgm:prSet custT="1"/>
      <dgm:spPr/>
      <dgm:t>
        <a:bodyPr/>
        <a:lstStyle/>
        <a:p>
          <a:r>
            <a:rPr lang="en-US" sz="2800" dirty="0">
              <a:latin typeface="Arial Black" panose="020B0A04020102020204" pitchFamily="34" charset="0"/>
            </a:rPr>
            <a:t>Known For: </a:t>
          </a:r>
        </a:p>
      </dgm:t>
    </dgm:pt>
    <dgm:pt modelId="{84B9C2DE-B9B6-465C-B03C-1CE2FEA20ED7}" type="parTrans" cxnId="{1392BB28-00A7-4DB8-A8F1-890BD2485FDF}">
      <dgm:prSet/>
      <dgm:spPr/>
      <dgm:t>
        <a:bodyPr/>
        <a:lstStyle/>
        <a:p>
          <a:endParaRPr lang="en-US"/>
        </a:p>
      </dgm:t>
    </dgm:pt>
    <dgm:pt modelId="{25639CED-AF0D-47C5-8F41-F3456DF431D8}" type="sibTrans" cxnId="{1392BB28-00A7-4DB8-A8F1-890BD2485FDF}">
      <dgm:prSet/>
      <dgm:spPr/>
      <dgm:t>
        <a:bodyPr/>
        <a:lstStyle/>
        <a:p>
          <a:endParaRPr lang="en-US"/>
        </a:p>
      </dgm:t>
    </dgm:pt>
    <dgm:pt modelId="{F7AADD3A-271E-41D6-B245-3D1B3949BCCC}">
      <dgm:prSet custT="1"/>
      <dgm:spPr/>
      <dgm:t>
        <a:bodyPr/>
        <a:lstStyle/>
        <a:p>
          <a:r>
            <a:rPr lang="en-US" sz="1800" dirty="0">
              <a:latin typeface="Arial Black" panose="020B0A04020102020204" pitchFamily="34" charset="0"/>
            </a:rPr>
            <a:t>Steering Coca-Cola back in the right direction and making up for the mistakes that the previous CEO committed.</a:t>
          </a:r>
          <a:endParaRPr lang="en-US" sz="2000" dirty="0">
            <a:latin typeface="Arial Black" panose="020B0A04020102020204" pitchFamily="34" charset="0"/>
          </a:endParaRPr>
        </a:p>
      </dgm:t>
    </dgm:pt>
    <dgm:pt modelId="{AC1E094A-CC88-4A84-BA77-EC03CC62F61E}" type="parTrans" cxnId="{6D0FCA5C-1A14-409E-9810-C64D524AE527}">
      <dgm:prSet/>
      <dgm:spPr/>
      <dgm:t>
        <a:bodyPr/>
        <a:lstStyle/>
        <a:p>
          <a:endParaRPr lang="en-US"/>
        </a:p>
      </dgm:t>
    </dgm:pt>
    <dgm:pt modelId="{2C57BD31-CF64-4587-8CC3-E4F93CEB00E3}" type="sibTrans" cxnId="{6D0FCA5C-1A14-409E-9810-C64D524AE527}">
      <dgm:prSet/>
      <dgm:spPr/>
      <dgm:t>
        <a:bodyPr/>
        <a:lstStyle/>
        <a:p>
          <a:endParaRPr lang="en-US"/>
        </a:p>
      </dgm:t>
    </dgm:pt>
    <dgm:pt modelId="{3CC6E21B-2BAA-4F41-867E-212491CBBF50}">
      <dgm:prSet custT="1"/>
      <dgm:spPr/>
      <dgm:t>
        <a:bodyPr/>
        <a:lstStyle/>
        <a:p>
          <a:endParaRPr lang="en-US" sz="2000" dirty="0">
            <a:latin typeface="Arial Black" panose="020B0A04020102020204" pitchFamily="34" charset="0"/>
          </a:endParaRPr>
        </a:p>
      </dgm:t>
    </dgm:pt>
    <dgm:pt modelId="{5F740482-3D5D-4F1C-942E-72590ED5C2CB}" type="parTrans" cxnId="{9D41D0C6-6B8F-456A-B0AD-27E21B1AF85D}">
      <dgm:prSet/>
      <dgm:spPr/>
      <dgm:t>
        <a:bodyPr/>
        <a:lstStyle/>
        <a:p>
          <a:endParaRPr lang="en-US"/>
        </a:p>
      </dgm:t>
    </dgm:pt>
    <dgm:pt modelId="{D3751F1A-925D-4A22-87E6-A4AFF10184C7}" type="sibTrans" cxnId="{9D41D0C6-6B8F-456A-B0AD-27E21B1AF85D}">
      <dgm:prSet/>
      <dgm:spPr/>
      <dgm:t>
        <a:bodyPr/>
        <a:lstStyle/>
        <a:p>
          <a:endParaRPr lang="en-US"/>
        </a:p>
      </dgm:t>
    </dgm:pt>
    <dgm:pt modelId="{5B0F9231-863D-432E-BC88-9560EABD26A8}">
      <dgm:prSet/>
      <dgm:spPr/>
      <dgm:t>
        <a:bodyPr/>
        <a:lstStyle/>
        <a:p>
          <a:r>
            <a:rPr lang="en-US">
              <a:latin typeface="Arial Black" panose="020B0A04020102020204" pitchFamily="34" charset="0"/>
            </a:rPr>
            <a:t>Notable Management Decisions:</a:t>
          </a:r>
        </a:p>
      </dgm:t>
    </dgm:pt>
    <dgm:pt modelId="{393E241C-01FF-45B5-93C7-A0E069B73007}" type="parTrans" cxnId="{D3C70B9A-1189-470E-8124-224B33C13DA1}">
      <dgm:prSet/>
      <dgm:spPr/>
      <dgm:t>
        <a:bodyPr/>
        <a:lstStyle/>
        <a:p>
          <a:endParaRPr lang="en-US"/>
        </a:p>
      </dgm:t>
    </dgm:pt>
    <dgm:pt modelId="{F20CAE3F-5371-4901-8F35-6CEC8EF0E050}" type="sibTrans" cxnId="{D3C70B9A-1189-470E-8124-224B33C13DA1}">
      <dgm:prSet/>
      <dgm:spPr/>
      <dgm:t>
        <a:bodyPr/>
        <a:lstStyle/>
        <a:p>
          <a:endParaRPr lang="en-US"/>
        </a:p>
      </dgm:t>
    </dgm:pt>
    <dgm:pt modelId="{E6B6ACB6-5AAB-4A51-BF6A-B5EBF37B938E}">
      <dgm:prSet custT="1"/>
      <dgm:spPr/>
      <dgm:t>
        <a:bodyPr/>
        <a:lstStyle/>
        <a:p>
          <a:r>
            <a:rPr lang="en-US" sz="1800" dirty="0">
              <a:latin typeface="Arial Black" panose="020B0A04020102020204" pitchFamily="34" charset="0"/>
              <a:cs typeface="Calibri"/>
            </a:rPr>
            <a:t>Working to come up with new, noncarbonated products.</a:t>
          </a:r>
          <a:endParaRPr lang="en-US" sz="1800" dirty="0">
            <a:latin typeface="Arial Black" panose="020B0A04020102020204" pitchFamily="34" charset="0"/>
          </a:endParaRPr>
        </a:p>
      </dgm:t>
    </dgm:pt>
    <dgm:pt modelId="{5D747A7E-21D1-46A8-8037-0B40F802FAAF}" type="parTrans" cxnId="{7A9D6E12-1259-45CB-AE79-04E34D1FA373}">
      <dgm:prSet/>
      <dgm:spPr/>
      <dgm:t>
        <a:bodyPr/>
        <a:lstStyle/>
        <a:p>
          <a:endParaRPr lang="en-US"/>
        </a:p>
      </dgm:t>
    </dgm:pt>
    <dgm:pt modelId="{67E58442-F9F7-4DAF-902B-C6FD019AB844}" type="sibTrans" cxnId="{7A9D6E12-1259-45CB-AE79-04E34D1FA373}">
      <dgm:prSet/>
      <dgm:spPr/>
      <dgm:t>
        <a:bodyPr/>
        <a:lstStyle/>
        <a:p>
          <a:endParaRPr lang="en-US"/>
        </a:p>
      </dgm:t>
    </dgm:pt>
    <dgm:pt modelId="{478D2FDA-49F1-4A4B-BA13-C741531EF839}">
      <dgm:prSet custT="1"/>
      <dgm:spPr/>
      <dgm:t>
        <a:bodyPr/>
        <a:lstStyle/>
        <a:p>
          <a:r>
            <a:rPr lang="en-US" sz="1800" dirty="0">
              <a:latin typeface="Arial Black" panose="020B0A04020102020204" pitchFamily="34" charset="0"/>
            </a:rPr>
            <a:t>Repairing the company financially and structurally.</a:t>
          </a:r>
        </a:p>
      </dgm:t>
    </dgm:pt>
    <dgm:pt modelId="{59305C92-A936-45A0-85C1-76CFE84C2674}" type="parTrans" cxnId="{E6F28551-6F58-42B2-98E1-C79917A49C6D}">
      <dgm:prSet/>
      <dgm:spPr/>
      <dgm:t>
        <a:bodyPr/>
        <a:lstStyle/>
        <a:p>
          <a:endParaRPr lang="en-US"/>
        </a:p>
      </dgm:t>
    </dgm:pt>
    <dgm:pt modelId="{4EB32226-44B8-41E6-AB05-BDC81111B860}" type="sibTrans" cxnId="{E6F28551-6F58-42B2-98E1-C79917A49C6D}">
      <dgm:prSet/>
      <dgm:spPr/>
      <dgm:t>
        <a:bodyPr/>
        <a:lstStyle/>
        <a:p>
          <a:endParaRPr lang="en-US"/>
        </a:p>
      </dgm:t>
    </dgm:pt>
    <dgm:pt modelId="{881707C4-0E13-4896-A6B9-DCCC1755654B}">
      <dgm:prSet custT="1"/>
      <dgm:spPr/>
      <dgm:t>
        <a:bodyPr/>
        <a:lstStyle/>
        <a:p>
          <a:r>
            <a:rPr lang="en-US" sz="1800" dirty="0">
              <a:latin typeface="Arial Black" panose="020B0A04020102020204" pitchFamily="34" charset="0"/>
              <a:cs typeface="Calibri"/>
            </a:rPr>
            <a:t>Cutting staff and reducing bureaucracy</a:t>
          </a:r>
        </a:p>
      </dgm:t>
    </dgm:pt>
    <dgm:pt modelId="{64518237-5A17-47C3-9E43-D41F0F2C3AD8}" type="parTrans" cxnId="{D7176FAE-64D6-4610-BC1C-7D164E037E2C}">
      <dgm:prSet/>
      <dgm:spPr/>
      <dgm:t>
        <a:bodyPr/>
        <a:lstStyle/>
        <a:p>
          <a:endParaRPr lang="en-US"/>
        </a:p>
      </dgm:t>
    </dgm:pt>
    <dgm:pt modelId="{7162A432-293B-4476-B43E-9D2C163D39CE}" type="sibTrans" cxnId="{D7176FAE-64D6-4610-BC1C-7D164E037E2C}">
      <dgm:prSet/>
      <dgm:spPr/>
      <dgm:t>
        <a:bodyPr/>
        <a:lstStyle/>
        <a:p>
          <a:endParaRPr lang="en-US"/>
        </a:p>
      </dgm:t>
    </dgm:pt>
    <dgm:pt modelId="{EB4A8C42-CE94-4B53-93E7-DB13E92BEA6E}">
      <dgm:prSet custT="1"/>
      <dgm:spPr/>
      <dgm:t>
        <a:bodyPr/>
        <a:lstStyle/>
        <a:p>
          <a:r>
            <a:rPr lang="en-US" sz="1800" dirty="0">
              <a:latin typeface="Arial Black" panose="020B0A04020102020204" pitchFamily="34" charset="0"/>
              <a:cs typeface="Calibri"/>
            </a:rPr>
            <a:t>Spinning off some bottling operations to restructure and consolidate others</a:t>
          </a:r>
        </a:p>
      </dgm:t>
    </dgm:pt>
    <dgm:pt modelId="{4861B22D-22A1-4076-B803-9DAE87FBE792}" type="parTrans" cxnId="{7E4E4DAE-33C3-444B-9B4B-7F7AB396E680}">
      <dgm:prSet/>
      <dgm:spPr/>
    </dgm:pt>
    <dgm:pt modelId="{18F904D9-7D4F-4DC3-B3AF-93DEDDAA994E}" type="sibTrans" cxnId="{7E4E4DAE-33C3-444B-9B4B-7F7AB396E680}">
      <dgm:prSet/>
      <dgm:spPr/>
    </dgm:pt>
    <dgm:pt modelId="{33492883-10BA-4DFA-AA45-A1BBB46D3EA9}" type="pres">
      <dgm:prSet presAssocID="{6337D33D-B23C-4A38-84FF-43904D434252}" presName="Name0" presStyleCnt="0">
        <dgm:presLayoutVars>
          <dgm:dir/>
          <dgm:animLvl val="lvl"/>
          <dgm:resizeHandles val="exact"/>
        </dgm:presLayoutVars>
      </dgm:prSet>
      <dgm:spPr/>
    </dgm:pt>
    <dgm:pt modelId="{4EE1CB7C-A6B9-40DB-88E7-1D2C4A1223FD}" type="pres">
      <dgm:prSet presAssocID="{DE5EC2BD-488A-4C72-ABC3-45EEFE13BC8F}" presName="composite" presStyleCnt="0"/>
      <dgm:spPr/>
    </dgm:pt>
    <dgm:pt modelId="{14A8F8E0-0CE6-4A0A-9C62-7687D1A746DF}" type="pres">
      <dgm:prSet presAssocID="{DE5EC2BD-488A-4C72-ABC3-45EEFE13BC8F}" presName="parTx" presStyleLbl="alignNode1" presStyleIdx="0" presStyleCnt="2">
        <dgm:presLayoutVars>
          <dgm:chMax val="0"/>
          <dgm:chPref val="0"/>
          <dgm:bulletEnabled val="1"/>
        </dgm:presLayoutVars>
      </dgm:prSet>
      <dgm:spPr/>
    </dgm:pt>
    <dgm:pt modelId="{A4ED6F8E-F971-4236-8E7D-530DF599F44B}" type="pres">
      <dgm:prSet presAssocID="{DE5EC2BD-488A-4C72-ABC3-45EEFE13BC8F}" presName="desTx" presStyleLbl="alignAccFollowNode1" presStyleIdx="0" presStyleCnt="2">
        <dgm:presLayoutVars>
          <dgm:bulletEnabled val="1"/>
        </dgm:presLayoutVars>
      </dgm:prSet>
      <dgm:spPr/>
    </dgm:pt>
    <dgm:pt modelId="{0F7E4574-4365-43B6-9674-33EE870AC42A}" type="pres">
      <dgm:prSet presAssocID="{25639CED-AF0D-47C5-8F41-F3456DF431D8}" presName="space" presStyleCnt="0"/>
      <dgm:spPr/>
    </dgm:pt>
    <dgm:pt modelId="{D0CC40E9-E0B6-4AF5-B5AD-7F79716AE1A3}" type="pres">
      <dgm:prSet presAssocID="{5B0F9231-863D-432E-BC88-9560EABD26A8}" presName="composite" presStyleCnt="0"/>
      <dgm:spPr/>
    </dgm:pt>
    <dgm:pt modelId="{AEDF7CCD-18E8-4B1F-9070-4290BCBA30A3}" type="pres">
      <dgm:prSet presAssocID="{5B0F9231-863D-432E-BC88-9560EABD26A8}" presName="parTx" presStyleLbl="alignNode1" presStyleIdx="1" presStyleCnt="2">
        <dgm:presLayoutVars>
          <dgm:chMax val="0"/>
          <dgm:chPref val="0"/>
          <dgm:bulletEnabled val="1"/>
        </dgm:presLayoutVars>
      </dgm:prSet>
      <dgm:spPr/>
    </dgm:pt>
    <dgm:pt modelId="{B6EA1100-645E-428A-8FE1-082BF15DF4CF}" type="pres">
      <dgm:prSet presAssocID="{5B0F9231-863D-432E-BC88-9560EABD26A8}" presName="desTx" presStyleLbl="alignAccFollowNode1" presStyleIdx="1" presStyleCnt="2">
        <dgm:presLayoutVars>
          <dgm:bulletEnabled val="1"/>
        </dgm:presLayoutVars>
      </dgm:prSet>
      <dgm:spPr/>
    </dgm:pt>
  </dgm:ptLst>
  <dgm:cxnLst>
    <dgm:cxn modelId="{2ED3890C-DD0E-4DC6-BBA9-9C75C8729273}" type="presOf" srcId="{E6B6ACB6-5AAB-4A51-BF6A-B5EBF37B938E}" destId="{B6EA1100-645E-428A-8FE1-082BF15DF4CF}" srcOrd="0" destOrd="0" presId="urn:microsoft.com/office/officeart/2005/8/layout/hList1"/>
    <dgm:cxn modelId="{7A9D6E12-1259-45CB-AE79-04E34D1FA373}" srcId="{5B0F9231-863D-432E-BC88-9560EABD26A8}" destId="{E6B6ACB6-5AAB-4A51-BF6A-B5EBF37B938E}" srcOrd="0" destOrd="0" parTransId="{5D747A7E-21D1-46A8-8037-0B40F802FAAF}" sibTransId="{67E58442-F9F7-4DAF-902B-C6FD019AB844}"/>
    <dgm:cxn modelId="{1392BB28-00A7-4DB8-A8F1-890BD2485FDF}" srcId="{6337D33D-B23C-4A38-84FF-43904D434252}" destId="{DE5EC2BD-488A-4C72-ABC3-45EEFE13BC8F}" srcOrd="0" destOrd="0" parTransId="{84B9C2DE-B9B6-465C-B03C-1CE2FEA20ED7}" sibTransId="{25639CED-AF0D-47C5-8F41-F3456DF431D8}"/>
    <dgm:cxn modelId="{A6E6DC3C-C178-4A78-957F-FD81B6552945}" type="presOf" srcId="{3CC6E21B-2BAA-4F41-867E-212491CBBF50}" destId="{A4ED6F8E-F971-4236-8E7D-530DF599F44B}" srcOrd="0" destOrd="2" presId="urn:microsoft.com/office/officeart/2005/8/layout/hList1"/>
    <dgm:cxn modelId="{0407755C-EE50-456C-BCF7-7F97091902B9}" type="presOf" srcId="{6337D33D-B23C-4A38-84FF-43904D434252}" destId="{33492883-10BA-4DFA-AA45-A1BBB46D3EA9}" srcOrd="0" destOrd="0" presId="urn:microsoft.com/office/officeart/2005/8/layout/hList1"/>
    <dgm:cxn modelId="{6D0FCA5C-1A14-409E-9810-C64D524AE527}" srcId="{DE5EC2BD-488A-4C72-ABC3-45EEFE13BC8F}" destId="{F7AADD3A-271E-41D6-B245-3D1B3949BCCC}" srcOrd="0" destOrd="0" parTransId="{AC1E094A-CC88-4A84-BA77-EC03CC62F61E}" sibTransId="{2C57BD31-CF64-4587-8CC3-E4F93CEB00E3}"/>
    <dgm:cxn modelId="{C13DFB69-5132-4D5D-80A2-5C5E9EE0C472}" type="presOf" srcId="{EB4A8C42-CE94-4B53-93E7-DB13E92BEA6E}" destId="{B6EA1100-645E-428A-8FE1-082BF15DF4CF}" srcOrd="0" destOrd="2" presId="urn:microsoft.com/office/officeart/2005/8/layout/hList1"/>
    <dgm:cxn modelId="{CA3E4150-A501-4829-82FB-1DA4EA7B3D81}" type="presOf" srcId="{F7AADD3A-271E-41D6-B245-3D1B3949BCCC}" destId="{A4ED6F8E-F971-4236-8E7D-530DF599F44B}" srcOrd="0" destOrd="0" presId="urn:microsoft.com/office/officeart/2005/8/layout/hList1"/>
    <dgm:cxn modelId="{960B7571-F3C8-46C5-B457-482931FE5546}" type="presOf" srcId="{5B0F9231-863D-432E-BC88-9560EABD26A8}" destId="{AEDF7CCD-18E8-4B1F-9070-4290BCBA30A3}" srcOrd="0" destOrd="0" presId="urn:microsoft.com/office/officeart/2005/8/layout/hList1"/>
    <dgm:cxn modelId="{E6F28551-6F58-42B2-98E1-C79917A49C6D}" srcId="{DE5EC2BD-488A-4C72-ABC3-45EEFE13BC8F}" destId="{478D2FDA-49F1-4A4B-BA13-C741531EF839}" srcOrd="1" destOrd="0" parTransId="{59305C92-A936-45A0-85C1-76CFE84C2674}" sibTransId="{4EB32226-44B8-41E6-AB05-BDC81111B860}"/>
    <dgm:cxn modelId="{02213887-4B9C-44CC-88EF-371124D232B3}" type="presOf" srcId="{DE5EC2BD-488A-4C72-ABC3-45EEFE13BC8F}" destId="{14A8F8E0-0CE6-4A0A-9C62-7687D1A746DF}" srcOrd="0" destOrd="0" presId="urn:microsoft.com/office/officeart/2005/8/layout/hList1"/>
    <dgm:cxn modelId="{60688999-968F-4286-AE85-0222B81138B4}" type="presOf" srcId="{478D2FDA-49F1-4A4B-BA13-C741531EF839}" destId="{A4ED6F8E-F971-4236-8E7D-530DF599F44B}" srcOrd="0" destOrd="1" presId="urn:microsoft.com/office/officeart/2005/8/layout/hList1"/>
    <dgm:cxn modelId="{D3C70B9A-1189-470E-8124-224B33C13DA1}" srcId="{6337D33D-B23C-4A38-84FF-43904D434252}" destId="{5B0F9231-863D-432E-BC88-9560EABD26A8}" srcOrd="1" destOrd="0" parTransId="{393E241C-01FF-45B5-93C7-A0E069B73007}" sibTransId="{F20CAE3F-5371-4901-8F35-6CEC8EF0E050}"/>
    <dgm:cxn modelId="{7E4E4DAE-33C3-444B-9B4B-7F7AB396E680}" srcId="{5B0F9231-863D-432E-BC88-9560EABD26A8}" destId="{EB4A8C42-CE94-4B53-93E7-DB13E92BEA6E}" srcOrd="2" destOrd="0" parTransId="{4861B22D-22A1-4076-B803-9DAE87FBE792}" sibTransId="{18F904D9-7D4F-4DC3-B3AF-93DEDDAA994E}"/>
    <dgm:cxn modelId="{D7176FAE-64D6-4610-BC1C-7D164E037E2C}" srcId="{5B0F9231-863D-432E-BC88-9560EABD26A8}" destId="{881707C4-0E13-4896-A6B9-DCCC1755654B}" srcOrd="1" destOrd="0" parTransId="{64518237-5A17-47C3-9E43-D41F0F2C3AD8}" sibTransId="{7162A432-293B-4476-B43E-9D2C163D39CE}"/>
    <dgm:cxn modelId="{9D41D0C6-6B8F-456A-B0AD-27E21B1AF85D}" srcId="{DE5EC2BD-488A-4C72-ABC3-45EEFE13BC8F}" destId="{3CC6E21B-2BAA-4F41-867E-212491CBBF50}" srcOrd="2" destOrd="0" parTransId="{5F740482-3D5D-4F1C-942E-72590ED5C2CB}" sibTransId="{D3751F1A-925D-4A22-87E6-A4AFF10184C7}"/>
    <dgm:cxn modelId="{48653AC9-AF03-4307-AAE1-FC20D6A4B39B}" type="presOf" srcId="{881707C4-0E13-4896-A6B9-DCCC1755654B}" destId="{B6EA1100-645E-428A-8FE1-082BF15DF4CF}" srcOrd="0" destOrd="1" presId="urn:microsoft.com/office/officeart/2005/8/layout/hList1"/>
    <dgm:cxn modelId="{C89F0073-EF34-4212-AA5F-D05474F44C3E}" type="presParOf" srcId="{33492883-10BA-4DFA-AA45-A1BBB46D3EA9}" destId="{4EE1CB7C-A6B9-40DB-88E7-1D2C4A1223FD}" srcOrd="0" destOrd="0" presId="urn:microsoft.com/office/officeart/2005/8/layout/hList1"/>
    <dgm:cxn modelId="{E14228DE-D072-46DE-A14E-1A1B14E08E8D}" type="presParOf" srcId="{4EE1CB7C-A6B9-40DB-88E7-1D2C4A1223FD}" destId="{14A8F8E0-0CE6-4A0A-9C62-7687D1A746DF}" srcOrd="0" destOrd="0" presId="urn:microsoft.com/office/officeart/2005/8/layout/hList1"/>
    <dgm:cxn modelId="{F4D8C157-BAA2-4090-84B9-3677BE5414AF}" type="presParOf" srcId="{4EE1CB7C-A6B9-40DB-88E7-1D2C4A1223FD}" destId="{A4ED6F8E-F971-4236-8E7D-530DF599F44B}" srcOrd="1" destOrd="0" presId="urn:microsoft.com/office/officeart/2005/8/layout/hList1"/>
    <dgm:cxn modelId="{F83C646B-62A7-458C-A8C0-211C86DAEB8A}" type="presParOf" srcId="{33492883-10BA-4DFA-AA45-A1BBB46D3EA9}" destId="{0F7E4574-4365-43B6-9674-33EE870AC42A}" srcOrd="1" destOrd="0" presId="urn:microsoft.com/office/officeart/2005/8/layout/hList1"/>
    <dgm:cxn modelId="{06053534-3A2D-45DB-B44C-3B32C9FF0DED}" type="presParOf" srcId="{33492883-10BA-4DFA-AA45-A1BBB46D3EA9}" destId="{D0CC40E9-E0B6-4AF5-B5AD-7F79716AE1A3}" srcOrd="2" destOrd="0" presId="urn:microsoft.com/office/officeart/2005/8/layout/hList1"/>
    <dgm:cxn modelId="{C06BE8E2-F080-44FF-8801-692A76576A86}" type="presParOf" srcId="{D0CC40E9-E0B6-4AF5-B5AD-7F79716AE1A3}" destId="{AEDF7CCD-18E8-4B1F-9070-4290BCBA30A3}" srcOrd="0" destOrd="0" presId="urn:microsoft.com/office/officeart/2005/8/layout/hList1"/>
    <dgm:cxn modelId="{4FD4530D-4750-4266-A99D-BDD8DCEE2E6A}" type="presParOf" srcId="{D0CC40E9-E0B6-4AF5-B5AD-7F79716AE1A3}" destId="{B6EA1100-645E-428A-8FE1-082BF15DF4C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337D33D-B23C-4A38-84FF-43904D434252}" type="doc">
      <dgm:prSet loTypeId="urn:microsoft.com/office/officeart/2005/8/layout/hList1" loCatId="list" qsTypeId="urn:microsoft.com/office/officeart/2005/8/quickstyle/simple5" qsCatId="simple" csTypeId="urn:microsoft.com/office/officeart/2005/8/colors/accent0_3" csCatId="mainScheme" phldr="1"/>
      <dgm:spPr/>
      <dgm:t>
        <a:bodyPr/>
        <a:lstStyle/>
        <a:p>
          <a:endParaRPr lang="en-US"/>
        </a:p>
      </dgm:t>
    </dgm:pt>
    <dgm:pt modelId="{DE5EC2BD-488A-4C72-ABC3-45EEFE13BC8F}">
      <dgm:prSet custT="1"/>
      <dgm:spPr/>
      <dgm:t>
        <a:bodyPr/>
        <a:lstStyle/>
        <a:p>
          <a:r>
            <a:rPr lang="en-US" sz="1400" dirty="0">
              <a:latin typeface="Arial Black" panose="020B0A04020102020204" pitchFamily="34" charset="0"/>
            </a:rPr>
            <a:t>Known For: </a:t>
          </a:r>
        </a:p>
      </dgm:t>
    </dgm:pt>
    <dgm:pt modelId="{84B9C2DE-B9B6-465C-B03C-1CE2FEA20ED7}" type="parTrans" cxnId="{1392BB28-00A7-4DB8-A8F1-890BD2485FDF}">
      <dgm:prSet/>
      <dgm:spPr/>
      <dgm:t>
        <a:bodyPr/>
        <a:lstStyle/>
        <a:p>
          <a:endParaRPr lang="en-US"/>
        </a:p>
      </dgm:t>
    </dgm:pt>
    <dgm:pt modelId="{25639CED-AF0D-47C5-8F41-F3456DF431D8}" type="sibTrans" cxnId="{1392BB28-00A7-4DB8-A8F1-890BD2485FDF}">
      <dgm:prSet/>
      <dgm:spPr/>
      <dgm:t>
        <a:bodyPr/>
        <a:lstStyle/>
        <a:p>
          <a:endParaRPr lang="en-US"/>
        </a:p>
      </dgm:t>
    </dgm:pt>
    <dgm:pt modelId="{F7AADD3A-271E-41D6-B245-3D1B3949BCCC}">
      <dgm:prSet custT="1"/>
      <dgm:spPr/>
      <dgm:t>
        <a:bodyPr/>
        <a:lstStyle/>
        <a:p>
          <a:r>
            <a:rPr lang="en-US" sz="1550" dirty="0">
              <a:latin typeface="Arial Black" panose="020B0A04020102020204" pitchFamily="34" charset="0"/>
            </a:rPr>
            <a:t>Steering the company in the right direction of pursuing the non-carbonated beverage segment.</a:t>
          </a:r>
        </a:p>
      </dgm:t>
    </dgm:pt>
    <dgm:pt modelId="{AC1E094A-CC88-4A84-BA77-EC03CC62F61E}" type="parTrans" cxnId="{6D0FCA5C-1A14-409E-9810-C64D524AE527}">
      <dgm:prSet/>
      <dgm:spPr/>
      <dgm:t>
        <a:bodyPr/>
        <a:lstStyle/>
        <a:p>
          <a:endParaRPr lang="en-US"/>
        </a:p>
      </dgm:t>
    </dgm:pt>
    <dgm:pt modelId="{2C57BD31-CF64-4587-8CC3-E4F93CEB00E3}" type="sibTrans" cxnId="{6D0FCA5C-1A14-409E-9810-C64D524AE527}">
      <dgm:prSet/>
      <dgm:spPr/>
      <dgm:t>
        <a:bodyPr/>
        <a:lstStyle/>
        <a:p>
          <a:endParaRPr lang="en-US"/>
        </a:p>
      </dgm:t>
    </dgm:pt>
    <dgm:pt modelId="{3CC6E21B-2BAA-4F41-867E-212491CBBF50}">
      <dgm:prSet custT="1"/>
      <dgm:spPr/>
      <dgm:t>
        <a:bodyPr/>
        <a:lstStyle/>
        <a:p>
          <a:endParaRPr lang="en-US" sz="2000" dirty="0">
            <a:latin typeface="Arial Black" panose="020B0A04020102020204" pitchFamily="34" charset="0"/>
          </a:endParaRPr>
        </a:p>
      </dgm:t>
    </dgm:pt>
    <dgm:pt modelId="{5F740482-3D5D-4F1C-942E-72590ED5C2CB}" type="parTrans" cxnId="{9D41D0C6-6B8F-456A-B0AD-27E21B1AF85D}">
      <dgm:prSet/>
      <dgm:spPr/>
      <dgm:t>
        <a:bodyPr/>
        <a:lstStyle/>
        <a:p>
          <a:endParaRPr lang="en-US"/>
        </a:p>
      </dgm:t>
    </dgm:pt>
    <dgm:pt modelId="{D3751F1A-925D-4A22-87E6-A4AFF10184C7}" type="sibTrans" cxnId="{9D41D0C6-6B8F-456A-B0AD-27E21B1AF85D}">
      <dgm:prSet/>
      <dgm:spPr/>
      <dgm:t>
        <a:bodyPr/>
        <a:lstStyle/>
        <a:p>
          <a:endParaRPr lang="en-US"/>
        </a:p>
      </dgm:t>
    </dgm:pt>
    <dgm:pt modelId="{5B0F9231-863D-432E-BC88-9560EABD26A8}">
      <dgm:prSet/>
      <dgm:spPr/>
      <dgm:t>
        <a:bodyPr/>
        <a:lstStyle/>
        <a:p>
          <a:r>
            <a:rPr lang="en-US">
              <a:latin typeface="Arial Black" panose="020B0A04020102020204" pitchFamily="34" charset="0"/>
            </a:rPr>
            <a:t>Notable Management Decisions:</a:t>
          </a:r>
        </a:p>
      </dgm:t>
    </dgm:pt>
    <dgm:pt modelId="{393E241C-01FF-45B5-93C7-A0E069B73007}" type="parTrans" cxnId="{D3C70B9A-1189-470E-8124-224B33C13DA1}">
      <dgm:prSet/>
      <dgm:spPr/>
      <dgm:t>
        <a:bodyPr/>
        <a:lstStyle/>
        <a:p>
          <a:endParaRPr lang="en-US"/>
        </a:p>
      </dgm:t>
    </dgm:pt>
    <dgm:pt modelId="{F20CAE3F-5371-4901-8F35-6CEC8EF0E050}" type="sibTrans" cxnId="{D3C70B9A-1189-470E-8124-224B33C13DA1}">
      <dgm:prSet/>
      <dgm:spPr/>
      <dgm:t>
        <a:bodyPr/>
        <a:lstStyle/>
        <a:p>
          <a:endParaRPr lang="en-US"/>
        </a:p>
      </dgm:t>
    </dgm:pt>
    <dgm:pt modelId="{03360AF9-B849-47F4-BF3D-732D27825037}">
      <dgm:prSet custT="1"/>
      <dgm:spPr/>
      <dgm:t>
        <a:bodyPr/>
        <a:lstStyle/>
        <a:p>
          <a:r>
            <a:rPr lang="en-US" sz="1550" dirty="0">
              <a:latin typeface="Arial Black" panose="020B0A04020102020204" pitchFamily="34" charset="0"/>
            </a:rPr>
            <a:t>Creating marketing campaigns like the “Joy of Pepsi” campaign to help boost the company’s brand recognition and market share.</a:t>
          </a:r>
        </a:p>
      </dgm:t>
    </dgm:pt>
    <dgm:pt modelId="{21FF2BFC-303B-4973-9AED-CE68B06E091F}" type="parTrans" cxnId="{06D334BB-0513-4B82-AFA5-00AAE1C40DD6}">
      <dgm:prSet/>
      <dgm:spPr/>
      <dgm:t>
        <a:bodyPr/>
        <a:lstStyle/>
        <a:p>
          <a:endParaRPr lang="en-US"/>
        </a:p>
      </dgm:t>
    </dgm:pt>
    <dgm:pt modelId="{04E998D0-E4C2-4B4B-80B9-59510A1624AE}" type="sibTrans" cxnId="{06D334BB-0513-4B82-AFA5-00AAE1C40DD6}">
      <dgm:prSet/>
      <dgm:spPr/>
      <dgm:t>
        <a:bodyPr/>
        <a:lstStyle/>
        <a:p>
          <a:endParaRPr lang="en-US"/>
        </a:p>
      </dgm:t>
    </dgm:pt>
    <dgm:pt modelId="{D883BE9E-FFDD-4D12-9458-CD0069B05431}">
      <dgm:prSet custT="1"/>
      <dgm:spPr/>
      <dgm:t>
        <a:bodyPr/>
        <a:lstStyle/>
        <a:p>
          <a:endParaRPr lang="en-US" sz="1450" dirty="0">
            <a:latin typeface="Arial Black" panose="020B0A04020102020204" pitchFamily="34" charset="0"/>
          </a:endParaRPr>
        </a:p>
      </dgm:t>
    </dgm:pt>
    <dgm:pt modelId="{B9453778-2903-421B-9D9F-7585059D4ABD}" type="parTrans" cxnId="{BBD17E9B-4CD8-401F-B22C-082CB8545EC2}">
      <dgm:prSet/>
      <dgm:spPr/>
      <dgm:t>
        <a:bodyPr/>
        <a:lstStyle/>
        <a:p>
          <a:endParaRPr lang="en-US"/>
        </a:p>
      </dgm:t>
    </dgm:pt>
    <dgm:pt modelId="{60B101B3-FC62-4EAB-8A4B-2D5864382F09}" type="sibTrans" cxnId="{BBD17E9B-4CD8-401F-B22C-082CB8545EC2}">
      <dgm:prSet/>
      <dgm:spPr/>
      <dgm:t>
        <a:bodyPr/>
        <a:lstStyle/>
        <a:p>
          <a:endParaRPr lang="en-US"/>
        </a:p>
      </dgm:t>
    </dgm:pt>
    <dgm:pt modelId="{E6B6ACB6-5AAB-4A51-BF6A-B5EBF37B938E}">
      <dgm:prSet custT="1"/>
      <dgm:spPr/>
      <dgm:t>
        <a:bodyPr/>
        <a:lstStyle/>
        <a:p>
          <a:r>
            <a:rPr lang="en-US" sz="1600" dirty="0">
              <a:latin typeface="+mj-lt"/>
              <a:cs typeface="Calibri"/>
            </a:rPr>
            <a:t>Creating an acquisition with Quaker Oats that allowed PepsiCo to control 83.6% of the sports drink market.</a:t>
          </a:r>
          <a:endParaRPr lang="en-US" sz="1800" dirty="0">
            <a:latin typeface="Arial Black" panose="020B0A04020102020204" pitchFamily="34" charset="0"/>
          </a:endParaRPr>
        </a:p>
      </dgm:t>
    </dgm:pt>
    <dgm:pt modelId="{67E58442-F9F7-4DAF-902B-C6FD019AB844}" type="sibTrans" cxnId="{7A9D6E12-1259-45CB-AE79-04E34D1FA373}">
      <dgm:prSet/>
      <dgm:spPr/>
      <dgm:t>
        <a:bodyPr/>
        <a:lstStyle/>
        <a:p>
          <a:endParaRPr lang="en-US"/>
        </a:p>
      </dgm:t>
    </dgm:pt>
    <dgm:pt modelId="{5D747A7E-21D1-46A8-8037-0B40F802FAAF}" type="parTrans" cxnId="{7A9D6E12-1259-45CB-AE79-04E34D1FA373}">
      <dgm:prSet/>
      <dgm:spPr/>
      <dgm:t>
        <a:bodyPr/>
        <a:lstStyle/>
        <a:p>
          <a:endParaRPr lang="en-US"/>
        </a:p>
      </dgm:t>
    </dgm:pt>
    <dgm:pt modelId="{4F4BE21F-EA3E-413A-8892-225B424481AE}">
      <dgm:prSet custT="1"/>
      <dgm:spPr/>
      <dgm:t>
        <a:bodyPr/>
        <a:lstStyle/>
        <a:p>
          <a:r>
            <a:rPr lang="en-US" sz="1600" dirty="0">
              <a:latin typeface="+mj-lt"/>
              <a:cs typeface="Calibri"/>
            </a:rPr>
            <a:t>Working to expand the PepsiCo noncarbonated-beverage product line.</a:t>
          </a:r>
        </a:p>
      </dgm:t>
    </dgm:pt>
    <dgm:pt modelId="{0A2AEB92-C946-45F2-BEE7-F64C7BF65159}" type="sibTrans" cxnId="{C821FF48-3A3D-4B89-A89D-03B79C1D4F6D}">
      <dgm:prSet/>
      <dgm:spPr/>
      <dgm:t>
        <a:bodyPr/>
        <a:lstStyle/>
        <a:p>
          <a:endParaRPr lang="en-US"/>
        </a:p>
      </dgm:t>
    </dgm:pt>
    <dgm:pt modelId="{B09A35CB-8345-46F8-B4FA-242E0BAC9AF7}" type="parTrans" cxnId="{C821FF48-3A3D-4B89-A89D-03B79C1D4F6D}">
      <dgm:prSet/>
      <dgm:spPr/>
      <dgm:t>
        <a:bodyPr/>
        <a:lstStyle/>
        <a:p>
          <a:endParaRPr lang="en-US"/>
        </a:p>
      </dgm:t>
    </dgm:pt>
    <dgm:pt modelId="{1D870D52-9BD6-450B-B450-B5DEFBBF9821}">
      <dgm:prSet custT="1"/>
      <dgm:spPr/>
      <dgm:t>
        <a:bodyPr/>
        <a:lstStyle/>
        <a:p>
          <a:r>
            <a:rPr lang="en-US" sz="1600">
              <a:latin typeface="+mj-lt"/>
              <a:cs typeface="Calibri"/>
            </a:rPr>
            <a:t>Investing heavily in power and brand building</a:t>
          </a:r>
          <a:endParaRPr lang="en-US" sz="1600" dirty="0">
            <a:latin typeface="+mj-lt"/>
            <a:cs typeface="Calibri"/>
          </a:endParaRPr>
        </a:p>
      </dgm:t>
    </dgm:pt>
    <dgm:pt modelId="{7B07D393-9CE7-4B30-8879-6B63C505306F}" type="sibTrans" cxnId="{4DE7C3CD-9767-4D59-8F0A-73222D4FA88E}">
      <dgm:prSet/>
      <dgm:spPr/>
      <dgm:t>
        <a:bodyPr/>
        <a:lstStyle/>
        <a:p>
          <a:endParaRPr lang="en-US"/>
        </a:p>
      </dgm:t>
    </dgm:pt>
    <dgm:pt modelId="{FFEC0FA3-26E2-4379-8DB2-BFDC7D2AF5BB}" type="parTrans" cxnId="{4DE7C3CD-9767-4D59-8F0A-73222D4FA88E}">
      <dgm:prSet/>
      <dgm:spPr/>
      <dgm:t>
        <a:bodyPr/>
        <a:lstStyle/>
        <a:p>
          <a:endParaRPr lang="en-US"/>
        </a:p>
      </dgm:t>
    </dgm:pt>
    <dgm:pt modelId="{33492883-10BA-4DFA-AA45-A1BBB46D3EA9}" type="pres">
      <dgm:prSet presAssocID="{6337D33D-B23C-4A38-84FF-43904D434252}" presName="Name0" presStyleCnt="0">
        <dgm:presLayoutVars>
          <dgm:dir/>
          <dgm:animLvl val="lvl"/>
          <dgm:resizeHandles val="exact"/>
        </dgm:presLayoutVars>
      </dgm:prSet>
      <dgm:spPr/>
    </dgm:pt>
    <dgm:pt modelId="{4EE1CB7C-A6B9-40DB-88E7-1D2C4A1223FD}" type="pres">
      <dgm:prSet presAssocID="{DE5EC2BD-488A-4C72-ABC3-45EEFE13BC8F}" presName="composite" presStyleCnt="0"/>
      <dgm:spPr/>
    </dgm:pt>
    <dgm:pt modelId="{14A8F8E0-0CE6-4A0A-9C62-7687D1A746DF}" type="pres">
      <dgm:prSet presAssocID="{DE5EC2BD-488A-4C72-ABC3-45EEFE13BC8F}" presName="parTx" presStyleLbl="alignNode1" presStyleIdx="0" presStyleCnt="2">
        <dgm:presLayoutVars>
          <dgm:chMax val="0"/>
          <dgm:chPref val="0"/>
          <dgm:bulletEnabled val="1"/>
        </dgm:presLayoutVars>
      </dgm:prSet>
      <dgm:spPr/>
    </dgm:pt>
    <dgm:pt modelId="{A4ED6F8E-F971-4236-8E7D-530DF599F44B}" type="pres">
      <dgm:prSet presAssocID="{DE5EC2BD-488A-4C72-ABC3-45EEFE13BC8F}" presName="desTx" presStyleLbl="alignAccFollowNode1" presStyleIdx="0" presStyleCnt="2">
        <dgm:presLayoutVars>
          <dgm:bulletEnabled val="1"/>
        </dgm:presLayoutVars>
      </dgm:prSet>
      <dgm:spPr/>
    </dgm:pt>
    <dgm:pt modelId="{0F7E4574-4365-43B6-9674-33EE870AC42A}" type="pres">
      <dgm:prSet presAssocID="{25639CED-AF0D-47C5-8F41-F3456DF431D8}" presName="space" presStyleCnt="0"/>
      <dgm:spPr/>
    </dgm:pt>
    <dgm:pt modelId="{D0CC40E9-E0B6-4AF5-B5AD-7F79716AE1A3}" type="pres">
      <dgm:prSet presAssocID="{5B0F9231-863D-432E-BC88-9560EABD26A8}" presName="composite" presStyleCnt="0"/>
      <dgm:spPr/>
    </dgm:pt>
    <dgm:pt modelId="{AEDF7CCD-18E8-4B1F-9070-4290BCBA30A3}" type="pres">
      <dgm:prSet presAssocID="{5B0F9231-863D-432E-BC88-9560EABD26A8}" presName="parTx" presStyleLbl="alignNode1" presStyleIdx="1" presStyleCnt="2">
        <dgm:presLayoutVars>
          <dgm:chMax val="0"/>
          <dgm:chPref val="0"/>
          <dgm:bulletEnabled val="1"/>
        </dgm:presLayoutVars>
      </dgm:prSet>
      <dgm:spPr/>
    </dgm:pt>
    <dgm:pt modelId="{B6EA1100-645E-428A-8FE1-082BF15DF4CF}" type="pres">
      <dgm:prSet presAssocID="{5B0F9231-863D-432E-BC88-9560EABD26A8}" presName="desTx" presStyleLbl="alignAccFollowNode1" presStyleIdx="1" presStyleCnt="2">
        <dgm:presLayoutVars>
          <dgm:bulletEnabled val="1"/>
        </dgm:presLayoutVars>
      </dgm:prSet>
      <dgm:spPr/>
    </dgm:pt>
  </dgm:ptLst>
  <dgm:cxnLst>
    <dgm:cxn modelId="{DE387301-20C4-4809-8B41-08A883182937}" type="presOf" srcId="{D883BE9E-FFDD-4D12-9458-CD0069B05431}" destId="{A4ED6F8E-F971-4236-8E7D-530DF599F44B}" srcOrd="0" destOrd="2" presId="urn:microsoft.com/office/officeart/2005/8/layout/hList1"/>
    <dgm:cxn modelId="{2ED3890C-DD0E-4DC6-BBA9-9C75C8729273}" type="presOf" srcId="{E6B6ACB6-5AAB-4A51-BF6A-B5EBF37B938E}" destId="{B6EA1100-645E-428A-8FE1-082BF15DF4CF}" srcOrd="0" destOrd="0" presId="urn:microsoft.com/office/officeart/2005/8/layout/hList1"/>
    <dgm:cxn modelId="{7A9D6E12-1259-45CB-AE79-04E34D1FA373}" srcId="{5B0F9231-863D-432E-BC88-9560EABD26A8}" destId="{E6B6ACB6-5AAB-4A51-BF6A-B5EBF37B938E}" srcOrd="0" destOrd="0" parTransId="{5D747A7E-21D1-46A8-8037-0B40F802FAAF}" sibTransId="{67E58442-F9F7-4DAF-902B-C6FD019AB844}"/>
    <dgm:cxn modelId="{1392BB28-00A7-4DB8-A8F1-890BD2485FDF}" srcId="{6337D33D-B23C-4A38-84FF-43904D434252}" destId="{DE5EC2BD-488A-4C72-ABC3-45EEFE13BC8F}" srcOrd="0" destOrd="0" parTransId="{84B9C2DE-B9B6-465C-B03C-1CE2FEA20ED7}" sibTransId="{25639CED-AF0D-47C5-8F41-F3456DF431D8}"/>
    <dgm:cxn modelId="{A6E6DC3C-C178-4A78-957F-FD81B6552945}" type="presOf" srcId="{3CC6E21B-2BAA-4F41-867E-212491CBBF50}" destId="{A4ED6F8E-F971-4236-8E7D-530DF599F44B}" srcOrd="0" destOrd="3" presId="urn:microsoft.com/office/officeart/2005/8/layout/hList1"/>
    <dgm:cxn modelId="{0407755C-EE50-456C-BCF7-7F97091902B9}" type="presOf" srcId="{6337D33D-B23C-4A38-84FF-43904D434252}" destId="{33492883-10BA-4DFA-AA45-A1BBB46D3EA9}" srcOrd="0" destOrd="0" presId="urn:microsoft.com/office/officeart/2005/8/layout/hList1"/>
    <dgm:cxn modelId="{6D0FCA5C-1A14-409E-9810-C64D524AE527}" srcId="{DE5EC2BD-488A-4C72-ABC3-45EEFE13BC8F}" destId="{F7AADD3A-271E-41D6-B245-3D1B3949BCCC}" srcOrd="0" destOrd="0" parTransId="{AC1E094A-CC88-4A84-BA77-EC03CC62F61E}" sibTransId="{2C57BD31-CF64-4587-8CC3-E4F93CEB00E3}"/>
    <dgm:cxn modelId="{C821FF48-3A3D-4B89-A89D-03B79C1D4F6D}" srcId="{5B0F9231-863D-432E-BC88-9560EABD26A8}" destId="{4F4BE21F-EA3E-413A-8892-225B424481AE}" srcOrd="1" destOrd="0" parTransId="{B09A35CB-8345-46F8-B4FA-242E0BAC9AF7}" sibTransId="{0A2AEB92-C946-45F2-BEE7-F64C7BF65159}"/>
    <dgm:cxn modelId="{CA3E4150-A501-4829-82FB-1DA4EA7B3D81}" type="presOf" srcId="{F7AADD3A-271E-41D6-B245-3D1B3949BCCC}" destId="{A4ED6F8E-F971-4236-8E7D-530DF599F44B}" srcOrd="0" destOrd="0" presId="urn:microsoft.com/office/officeart/2005/8/layout/hList1"/>
    <dgm:cxn modelId="{960B7571-F3C8-46C5-B457-482931FE5546}" type="presOf" srcId="{5B0F9231-863D-432E-BC88-9560EABD26A8}" destId="{AEDF7CCD-18E8-4B1F-9070-4290BCBA30A3}" srcOrd="0" destOrd="0" presId="urn:microsoft.com/office/officeart/2005/8/layout/hList1"/>
    <dgm:cxn modelId="{02213887-4B9C-44CC-88EF-371124D232B3}" type="presOf" srcId="{DE5EC2BD-488A-4C72-ABC3-45EEFE13BC8F}" destId="{14A8F8E0-0CE6-4A0A-9C62-7687D1A746DF}" srcOrd="0" destOrd="0" presId="urn:microsoft.com/office/officeart/2005/8/layout/hList1"/>
    <dgm:cxn modelId="{D3C70B9A-1189-470E-8124-224B33C13DA1}" srcId="{6337D33D-B23C-4A38-84FF-43904D434252}" destId="{5B0F9231-863D-432E-BC88-9560EABD26A8}" srcOrd="1" destOrd="0" parTransId="{393E241C-01FF-45B5-93C7-A0E069B73007}" sibTransId="{F20CAE3F-5371-4901-8F35-6CEC8EF0E050}"/>
    <dgm:cxn modelId="{BBD17E9B-4CD8-401F-B22C-082CB8545EC2}" srcId="{DE5EC2BD-488A-4C72-ABC3-45EEFE13BC8F}" destId="{D883BE9E-FFDD-4D12-9458-CD0069B05431}" srcOrd="2" destOrd="0" parTransId="{B9453778-2903-421B-9D9F-7585059D4ABD}" sibTransId="{60B101B3-FC62-4EAB-8A4B-2D5864382F09}"/>
    <dgm:cxn modelId="{4E6030AA-F98A-45CC-BBBE-C1EBECCD173F}" type="presOf" srcId="{03360AF9-B849-47F4-BF3D-732D27825037}" destId="{A4ED6F8E-F971-4236-8E7D-530DF599F44B}" srcOrd="0" destOrd="1" presId="urn:microsoft.com/office/officeart/2005/8/layout/hList1"/>
    <dgm:cxn modelId="{0C8111B2-C702-49B7-99EB-4E7B4564D470}" type="presOf" srcId="{1D870D52-9BD6-450B-B450-B5DEFBBF9821}" destId="{B6EA1100-645E-428A-8FE1-082BF15DF4CF}" srcOrd="0" destOrd="2" presId="urn:microsoft.com/office/officeart/2005/8/layout/hList1"/>
    <dgm:cxn modelId="{06D334BB-0513-4B82-AFA5-00AAE1C40DD6}" srcId="{DE5EC2BD-488A-4C72-ABC3-45EEFE13BC8F}" destId="{03360AF9-B849-47F4-BF3D-732D27825037}" srcOrd="1" destOrd="0" parTransId="{21FF2BFC-303B-4973-9AED-CE68B06E091F}" sibTransId="{04E998D0-E4C2-4B4B-80B9-59510A1624AE}"/>
    <dgm:cxn modelId="{9D41D0C6-6B8F-456A-B0AD-27E21B1AF85D}" srcId="{DE5EC2BD-488A-4C72-ABC3-45EEFE13BC8F}" destId="{3CC6E21B-2BAA-4F41-867E-212491CBBF50}" srcOrd="3" destOrd="0" parTransId="{5F740482-3D5D-4F1C-942E-72590ED5C2CB}" sibTransId="{D3751F1A-925D-4A22-87E6-A4AFF10184C7}"/>
    <dgm:cxn modelId="{4DE7C3CD-9767-4D59-8F0A-73222D4FA88E}" srcId="{5B0F9231-863D-432E-BC88-9560EABD26A8}" destId="{1D870D52-9BD6-450B-B450-B5DEFBBF9821}" srcOrd="2" destOrd="0" parTransId="{FFEC0FA3-26E2-4379-8DB2-BFDC7D2AF5BB}" sibTransId="{7B07D393-9CE7-4B30-8879-6B63C505306F}"/>
    <dgm:cxn modelId="{632E7CFB-516A-4954-9625-DD71B7F8CE30}" type="presOf" srcId="{4F4BE21F-EA3E-413A-8892-225B424481AE}" destId="{B6EA1100-645E-428A-8FE1-082BF15DF4CF}" srcOrd="0" destOrd="1" presId="urn:microsoft.com/office/officeart/2005/8/layout/hList1"/>
    <dgm:cxn modelId="{C89F0073-EF34-4212-AA5F-D05474F44C3E}" type="presParOf" srcId="{33492883-10BA-4DFA-AA45-A1BBB46D3EA9}" destId="{4EE1CB7C-A6B9-40DB-88E7-1D2C4A1223FD}" srcOrd="0" destOrd="0" presId="urn:microsoft.com/office/officeart/2005/8/layout/hList1"/>
    <dgm:cxn modelId="{E14228DE-D072-46DE-A14E-1A1B14E08E8D}" type="presParOf" srcId="{4EE1CB7C-A6B9-40DB-88E7-1D2C4A1223FD}" destId="{14A8F8E0-0CE6-4A0A-9C62-7687D1A746DF}" srcOrd="0" destOrd="0" presId="urn:microsoft.com/office/officeart/2005/8/layout/hList1"/>
    <dgm:cxn modelId="{F4D8C157-BAA2-4090-84B9-3677BE5414AF}" type="presParOf" srcId="{4EE1CB7C-A6B9-40DB-88E7-1D2C4A1223FD}" destId="{A4ED6F8E-F971-4236-8E7D-530DF599F44B}" srcOrd="1" destOrd="0" presId="urn:microsoft.com/office/officeart/2005/8/layout/hList1"/>
    <dgm:cxn modelId="{F83C646B-62A7-458C-A8C0-211C86DAEB8A}" type="presParOf" srcId="{33492883-10BA-4DFA-AA45-A1BBB46D3EA9}" destId="{0F7E4574-4365-43B6-9674-33EE870AC42A}" srcOrd="1" destOrd="0" presId="urn:microsoft.com/office/officeart/2005/8/layout/hList1"/>
    <dgm:cxn modelId="{06053534-3A2D-45DB-B44C-3B32C9FF0DED}" type="presParOf" srcId="{33492883-10BA-4DFA-AA45-A1BBB46D3EA9}" destId="{D0CC40E9-E0B6-4AF5-B5AD-7F79716AE1A3}" srcOrd="2" destOrd="0" presId="urn:microsoft.com/office/officeart/2005/8/layout/hList1"/>
    <dgm:cxn modelId="{C06BE8E2-F080-44FF-8801-692A76576A86}" type="presParOf" srcId="{D0CC40E9-E0B6-4AF5-B5AD-7F79716AE1A3}" destId="{AEDF7CCD-18E8-4B1F-9070-4290BCBA30A3}" srcOrd="0" destOrd="0" presId="urn:microsoft.com/office/officeart/2005/8/layout/hList1"/>
    <dgm:cxn modelId="{4FD4530D-4750-4266-A99D-BDD8DCEE2E6A}" type="presParOf" srcId="{D0CC40E9-E0B6-4AF5-B5AD-7F79716AE1A3}" destId="{B6EA1100-645E-428A-8FE1-082BF15DF4C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BCAEB5-0628-471C-BC1E-308582DE969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542E49F8-0F26-4F42-A2D4-694CDE73064F}" type="pres">
      <dgm:prSet presAssocID="{E6BCAEB5-0628-471C-BC1E-308582DE969B}" presName="diagram" presStyleCnt="0">
        <dgm:presLayoutVars>
          <dgm:dir/>
          <dgm:resizeHandles val="exact"/>
        </dgm:presLayoutVars>
      </dgm:prSet>
      <dgm:spPr/>
    </dgm:pt>
  </dgm:ptLst>
  <dgm:cxnLst>
    <dgm:cxn modelId="{1A03BD0D-47AB-4181-8537-6277A7E2F211}" type="presOf" srcId="{E6BCAEB5-0628-471C-BC1E-308582DE969B}" destId="{542E49F8-0F26-4F42-A2D4-694CDE73064F}"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ECF33-FFFF-4FA7-B193-F8AB921975D0}">
      <dsp:nvSpPr>
        <dsp:cNvPr id="0" name=""/>
        <dsp:cNvSpPr/>
      </dsp:nvSpPr>
      <dsp:spPr>
        <a:xfrm>
          <a:off x="24645" y="11"/>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On December 4, 2000, PepsiCo, Inc., and the Quaker Oats Company announced their merger, with PepsiCo acquiring Quaker Oats in a stock-for-stock deal valuing Quaker at around $14 billion.</a:t>
          </a:r>
        </a:p>
      </dsp:txBody>
      <dsp:txXfrm>
        <a:off x="24645" y="11"/>
        <a:ext cx="3270721" cy="1962432"/>
      </dsp:txXfrm>
    </dsp:sp>
    <dsp:sp modelId="{F29D5077-CF73-43AF-9161-A4CBE7E59B4B}">
      <dsp:nvSpPr>
        <dsp:cNvPr id="0" name=""/>
        <dsp:cNvSpPr/>
      </dsp:nvSpPr>
      <dsp:spPr>
        <a:xfrm>
          <a:off x="3622439" y="11"/>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The acquisition gave PepsiCo access to Gatorade and control of 83.6% of the sports drink market, consolidating its lead in the noncarbonated-beverages segment. </a:t>
          </a:r>
        </a:p>
      </dsp:txBody>
      <dsp:txXfrm>
        <a:off x="3622439" y="11"/>
        <a:ext cx="3270721" cy="1962432"/>
      </dsp:txXfrm>
    </dsp:sp>
    <dsp:sp modelId="{30521B10-A67F-4708-A5D6-56A0E52B8B6B}">
      <dsp:nvSpPr>
        <dsp:cNvPr id="0" name=""/>
        <dsp:cNvSpPr/>
      </dsp:nvSpPr>
      <dsp:spPr>
        <a:xfrm>
          <a:off x="7220232" y="11"/>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Analysts estimated that PepsiCo would control around 33% of the U.S. noncarbonated-beverage market after the Gatorade acquisition, far ahead of Coca-Cola's 21%.</a:t>
          </a:r>
        </a:p>
      </dsp:txBody>
      <dsp:txXfrm>
        <a:off x="7220232" y="11"/>
        <a:ext cx="3270721" cy="1962432"/>
      </dsp:txXfrm>
    </dsp:sp>
    <dsp:sp modelId="{ACBB2B69-0558-4C71-A543-932F981BF05B}">
      <dsp:nvSpPr>
        <dsp:cNvPr id="0" name=""/>
        <dsp:cNvSpPr/>
      </dsp:nvSpPr>
      <dsp:spPr>
        <a:xfrm>
          <a:off x="24645" y="2289516"/>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Coca-Cola had recently run into difficulties due to various reasons including business mistakes by Doug </a:t>
          </a:r>
          <a:r>
            <a:rPr lang="en-US" sz="1500" kern="1200" dirty="0" err="1">
              <a:latin typeface="Arial Black" panose="020B0A04020102020204" pitchFamily="34" charset="0"/>
            </a:rPr>
            <a:t>Ivester</a:t>
          </a:r>
          <a:r>
            <a:rPr lang="en-US" sz="1500" kern="1200" dirty="0">
              <a:latin typeface="Arial Black" panose="020B0A04020102020204" pitchFamily="34" charset="0"/>
            </a:rPr>
            <a:t>, CEO from 1997 to 1999, while PepsiCo had invigorated management. </a:t>
          </a:r>
        </a:p>
      </dsp:txBody>
      <dsp:txXfrm>
        <a:off x="24645" y="2289516"/>
        <a:ext cx="3270721" cy="1962432"/>
      </dsp:txXfrm>
    </dsp:sp>
    <dsp:sp modelId="{D20C7427-3EF7-4BD9-9504-9ECC9C0A35D1}">
      <dsp:nvSpPr>
        <dsp:cNvPr id="0" name=""/>
        <dsp:cNvSpPr/>
      </dsp:nvSpPr>
      <dsp:spPr>
        <a:xfrm>
          <a:off x="3622439" y="2289516"/>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PepsiCo's acquisition of Quaker Oats gave them control of the sports drink market and further consolidated their lead in the noncarbonated-beverages segment. </a:t>
          </a:r>
        </a:p>
      </dsp:txBody>
      <dsp:txXfrm>
        <a:off x="3622439" y="2289516"/>
        <a:ext cx="3270721" cy="1962432"/>
      </dsp:txXfrm>
    </dsp:sp>
    <dsp:sp modelId="{E2D5CEEC-16FE-4ADF-A260-7501B0866A5E}">
      <dsp:nvSpPr>
        <dsp:cNvPr id="0" name=""/>
        <dsp:cNvSpPr/>
      </dsp:nvSpPr>
      <dsp:spPr>
        <a:xfrm>
          <a:off x="7220232" y="2289516"/>
          <a:ext cx="3270721" cy="196243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latin typeface="Arial Black" panose="020B0A04020102020204" pitchFamily="34" charset="0"/>
            </a:rPr>
            <a:t>After Douglas Daft became the new head of Coca-Cola, major changes were made to the company to help get it back on track.</a:t>
          </a:r>
        </a:p>
      </dsp:txBody>
      <dsp:txXfrm>
        <a:off x="7220232" y="2289516"/>
        <a:ext cx="3270721" cy="19624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D2392-8E51-4525-9F88-4290CEC27231}">
      <dsp:nvSpPr>
        <dsp:cNvPr id="0" name=""/>
        <dsp:cNvSpPr/>
      </dsp:nvSpPr>
      <dsp:spPr>
        <a:xfrm>
          <a:off x="0" y="312171"/>
          <a:ext cx="11711571" cy="1735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95732" rIns="908948" bIns="128016" numCol="1" spcCol="1270" anchor="t" anchorCtr="0">
          <a:noAutofit/>
        </a:bodyPr>
        <a:lstStyle/>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Coca-Cola had consistently ranked first or second in Fortune's annual ranking of the top wealth creators, largely due to its strategy of spinning off its bottling operations to avoid consolidation on its balance sheet.</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Coca-Cola was consistently doing better than Pepsi-Co during this period.</a:t>
          </a:r>
        </a:p>
      </dsp:txBody>
      <dsp:txXfrm>
        <a:off x="0" y="312171"/>
        <a:ext cx="11711571" cy="1735650"/>
      </dsp:txXfrm>
    </dsp:sp>
    <dsp:sp modelId="{F4C7C219-3B90-4950-B1FB-743D90177C71}">
      <dsp:nvSpPr>
        <dsp:cNvPr id="0" name=""/>
        <dsp:cNvSpPr/>
      </dsp:nvSpPr>
      <dsp:spPr>
        <a:xfrm>
          <a:off x="585578" y="31731"/>
          <a:ext cx="8198099"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1993 to 1996</a:t>
          </a:r>
        </a:p>
      </dsp:txBody>
      <dsp:txXfrm>
        <a:off x="612958" y="59111"/>
        <a:ext cx="8143339" cy="506120"/>
      </dsp:txXfrm>
    </dsp:sp>
    <dsp:sp modelId="{AB085963-DD2B-48D3-B822-DDCDEF49A78C}">
      <dsp:nvSpPr>
        <dsp:cNvPr id="0" name=""/>
        <dsp:cNvSpPr/>
      </dsp:nvSpPr>
      <dsp:spPr>
        <a:xfrm>
          <a:off x="0" y="2430861"/>
          <a:ext cx="11711571" cy="14663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95732" rIns="908948" bIns="128016" numCol="1" spcCol="1270" anchor="t" anchorCtr="0">
          <a:noAutofit/>
        </a:bodyPr>
        <a:lstStyle/>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Coca-Cola had recently run into difficulties due to various reasons including business mistakes by Doug </a:t>
          </a:r>
          <a:r>
            <a:rPr lang="en-US" sz="1800" kern="1200" dirty="0" err="1">
              <a:latin typeface="Arial Black" panose="020B0A04020102020204" pitchFamily="34" charset="0"/>
            </a:rPr>
            <a:t>Ivester</a:t>
          </a:r>
          <a:r>
            <a:rPr lang="en-US" sz="1800" kern="1200" dirty="0">
              <a:latin typeface="Arial Black" panose="020B0A04020102020204" pitchFamily="34" charset="0"/>
            </a:rPr>
            <a:t>, CEO from 1997 to 1999.</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Coca-Cola’s Dasani brand did not enter the market until 1999.</a:t>
          </a:r>
        </a:p>
      </dsp:txBody>
      <dsp:txXfrm>
        <a:off x="0" y="2430861"/>
        <a:ext cx="11711571" cy="1466325"/>
      </dsp:txXfrm>
    </dsp:sp>
    <dsp:sp modelId="{31C0C389-6D7A-49BD-84CA-CC4861AF15D6}">
      <dsp:nvSpPr>
        <dsp:cNvPr id="0" name=""/>
        <dsp:cNvSpPr/>
      </dsp:nvSpPr>
      <dsp:spPr>
        <a:xfrm>
          <a:off x="585578" y="2150421"/>
          <a:ext cx="8198099"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1997 to 1999</a:t>
          </a:r>
        </a:p>
      </dsp:txBody>
      <dsp:txXfrm>
        <a:off x="612958" y="2177801"/>
        <a:ext cx="8143339" cy="506120"/>
      </dsp:txXfrm>
    </dsp:sp>
    <dsp:sp modelId="{5D460422-3B82-4D70-966C-C7A11EAA6FB1}">
      <dsp:nvSpPr>
        <dsp:cNvPr id="0" name=""/>
        <dsp:cNvSpPr/>
      </dsp:nvSpPr>
      <dsp:spPr>
        <a:xfrm>
          <a:off x="0" y="4311958"/>
          <a:ext cx="11711571" cy="179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95732" rIns="908948" bIns="128016" numCol="1" spcCol="1270" anchor="t" anchorCtr="0">
          <a:noAutofit/>
        </a:bodyPr>
        <a:lstStyle/>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Coca-Cola was making annual sales that were approximately $20.5 billion.</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The company’s market value reached approximately $110.1 billion.</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err="1">
              <a:latin typeface="Arial Black" panose="020B0A04020102020204" pitchFamily="34" charset="0"/>
            </a:rPr>
            <a:t>Ivester</a:t>
          </a:r>
          <a:r>
            <a:rPr lang="en-US" sz="1800" kern="1200" dirty="0">
              <a:latin typeface="Arial Black" panose="020B0A04020102020204" pitchFamily="34" charset="0"/>
            </a:rPr>
            <a:t> had been eased out and Douglas Daft became the new head of Coca-Cola.</a:t>
          </a:r>
        </a:p>
      </dsp:txBody>
      <dsp:txXfrm>
        <a:off x="0" y="4311958"/>
        <a:ext cx="11711571" cy="1795500"/>
      </dsp:txXfrm>
    </dsp:sp>
    <dsp:sp modelId="{BCD9D438-39B4-450E-9320-2F57B7C71E36}">
      <dsp:nvSpPr>
        <dsp:cNvPr id="0" name=""/>
        <dsp:cNvSpPr/>
      </dsp:nvSpPr>
      <dsp:spPr>
        <a:xfrm>
          <a:off x="585578" y="3999786"/>
          <a:ext cx="8198099"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2000</a:t>
          </a:r>
        </a:p>
      </dsp:txBody>
      <dsp:txXfrm>
        <a:off x="612958" y="4027166"/>
        <a:ext cx="8143339" cy="506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D2392-8E51-4525-9F88-4290CEC27231}">
      <dsp:nvSpPr>
        <dsp:cNvPr id="0" name=""/>
        <dsp:cNvSpPr/>
      </dsp:nvSpPr>
      <dsp:spPr>
        <a:xfrm>
          <a:off x="0" y="317561"/>
          <a:ext cx="11711571" cy="141907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54076" rIns="908948" bIns="128016" numCol="1" spcCol="1270" anchor="t" anchorCtr="0">
          <a:noAutofit/>
        </a:bodyPr>
        <a:lstStyle/>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mj-lt"/>
            </a:rPr>
            <a:t>PepsiCo test-marketed Aquafina as early as 1994</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mj-lt"/>
            </a:rPr>
            <a:t>PepsiCo, in alliance with Starbucks, introduced the highly popular Starbucks Frappuccino in 1996</a:t>
          </a:r>
        </a:p>
      </dsp:txBody>
      <dsp:txXfrm>
        <a:off x="0" y="317561"/>
        <a:ext cx="11711571" cy="1419075"/>
      </dsp:txXfrm>
    </dsp:sp>
    <dsp:sp modelId="{F4C7C219-3B90-4950-B1FB-743D90177C71}">
      <dsp:nvSpPr>
        <dsp:cNvPr id="0" name=""/>
        <dsp:cNvSpPr/>
      </dsp:nvSpPr>
      <dsp:spPr>
        <a:xfrm>
          <a:off x="585578" y="55311"/>
          <a:ext cx="8198099"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1993 to 1996</a:t>
          </a:r>
        </a:p>
      </dsp:txBody>
      <dsp:txXfrm>
        <a:off x="610076" y="79809"/>
        <a:ext cx="8149103" cy="452844"/>
      </dsp:txXfrm>
    </dsp:sp>
    <dsp:sp modelId="{AB085963-DD2B-48D3-B822-DDCDEF49A78C}">
      <dsp:nvSpPr>
        <dsp:cNvPr id="0" name=""/>
        <dsp:cNvSpPr/>
      </dsp:nvSpPr>
      <dsp:spPr>
        <a:xfrm>
          <a:off x="0" y="2068026"/>
          <a:ext cx="11711571" cy="171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54076" rIns="908948" bIns="128016" numCol="1" spcCol="1270" anchor="t" anchorCtr="0">
          <a:noAutofit/>
        </a:bodyPr>
        <a:lstStyle/>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PepsiCo started to realize its strengths and what to produce more of.</a:t>
          </a:r>
        </a:p>
        <a:p>
          <a:pPr marL="171450" lvl="1" indent="-171450" algn="l" defTabSz="800100" rtl="0">
            <a:lnSpc>
              <a:spcPct val="90000"/>
            </a:lnSpc>
            <a:spcBef>
              <a:spcPct val="0"/>
            </a:spcBef>
            <a:spcAft>
              <a:spcPct val="15000"/>
            </a:spcAft>
            <a:buSzPct val="100000"/>
            <a:buFont typeface="Arial" panose="020B0604020202020204" pitchFamily="34" charset="0"/>
            <a:buChar char="•"/>
          </a:pPr>
          <a:r>
            <a:rPr lang="en-US" sz="1800" kern="1200" dirty="0">
              <a:latin typeface="Arial Black" panose="020B0A04020102020204" pitchFamily="34" charset="0"/>
            </a:rPr>
            <a:t>Positioning PepsiCo as a focused snack and beverage company in 2000 was mostly due to the bottling process that was done by the CEO from 1997, Enrico.</a:t>
          </a:r>
        </a:p>
      </dsp:txBody>
      <dsp:txXfrm>
        <a:off x="0" y="2068026"/>
        <a:ext cx="11711571" cy="1713600"/>
      </dsp:txXfrm>
    </dsp:sp>
    <dsp:sp modelId="{31C0C389-6D7A-49BD-84CA-CC4861AF15D6}">
      <dsp:nvSpPr>
        <dsp:cNvPr id="0" name=""/>
        <dsp:cNvSpPr/>
      </dsp:nvSpPr>
      <dsp:spPr>
        <a:xfrm>
          <a:off x="585578" y="1817106"/>
          <a:ext cx="8198099"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1997 to 1999</a:t>
          </a:r>
        </a:p>
      </dsp:txBody>
      <dsp:txXfrm>
        <a:off x="610076" y="1841604"/>
        <a:ext cx="8149103" cy="452844"/>
      </dsp:txXfrm>
    </dsp:sp>
    <dsp:sp modelId="{5D460422-3B82-4D70-966C-C7A11EAA6FB1}">
      <dsp:nvSpPr>
        <dsp:cNvPr id="0" name=""/>
        <dsp:cNvSpPr/>
      </dsp:nvSpPr>
      <dsp:spPr>
        <a:xfrm>
          <a:off x="0" y="4149192"/>
          <a:ext cx="11711571" cy="1927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8948" tIns="354076" rIns="908948" bIns="99568" numCol="1" spcCol="1270" anchor="t" anchorCtr="0">
          <a:noAutofit/>
        </a:bodyPr>
        <a:lstStyle/>
        <a:p>
          <a:pPr marL="114300" lvl="1" indent="-114300" algn="l" defTabSz="622300" rtl="0">
            <a:lnSpc>
              <a:spcPct val="90000"/>
            </a:lnSpc>
            <a:spcBef>
              <a:spcPct val="0"/>
            </a:spcBef>
            <a:spcAft>
              <a:spcPct val="15000"/>
            </a:spcAft>
            <a:buSzPct val="100000"/>
            <a:buFont typeface="Arial" panose="020B0604020202020204" pitchFamily="34" charset="0"/>
            <a:buChar char="•"/>
          </a:pPr>
          <a:r>
            <a:rPr lang="en-US" sz="1400" kern="1200" dirty="0">
              <a:latin typeface="Arial Black" panose="020B0A04020102020204" pitchFamily="34" charset="0"/>
            </a:rPr>
            <a:t>Aquafina was the number one ranked bottled-water brand in the U.S. market in 2000.</a:t>
          </a:r>
        </a:p>
        <a:p>
          <a:pPr marL="114300" lvl="1" indent="-114300" algn="l" defTabSz="622300" rtl="0">
            <a:lnSpc>
              <a:spcPct val="90000"/>
            </a:lnSpc>
            <a:spcBef>
              <a:spcPct val="0"/>
            </a:spcBef>
            <a:spcAft>
              <a:spcPct val="15000"/>
            </a:spcAft>
            <a:buSzPct val="100000"/>
            <a:buFont typeface="Arial" panose="020B0604020202020204" pitchFamily="34" charset="0"/>
            <a:buChar char="•"/>
          </a:pPr>
          <a:r>
            <a:rPr lang="en-US" sz="1400" kern="1200" dirty="0">
              <a:latin typeface="Arial Black" panose="020B0A04020102020204" pitchFamily="34" charset="0"/>
            </a:rPr>
            <a:t>During Enrico's term, PepsiCo's return on equity almost doubled and reached roughly 30% in 2000.</a:t>
          </a:r>
        </a:p>
        <a:p>
          <a:pPr marL="114300" lvl="1" indent="-114300" algn="l" defTabSz="622300" rtl="0">
            <a:lnSpc>
              <a:spcPct val="90000"/>
            </a:lnSpc>
            <a:spcBef>
              <a:spcPct val="0"/>
            </a:spcBef>
            <a:spcAft>
              <a:spcPct val="15000"/>
            </a:spcAft>
            <a:buSzPct val="100000"/>
            <a:buFont typeface="Arial" panose="020B0604020202020204" pitchFamily="34" charset="0"/>
            <a:buChar char="•"/>
          </a:pPr>
          <a:r>
            <a:rPr lang="en-US" sz="1400" kern="1200" dirty="0">
              <a:latin typeface="Arial Black" panose="020B0A04020102020204" pitchFamily="34" charset="0"/>
            </a:rPr>
            <a:t>December 4, 2000, PepsiCo, Inc., and the Quaker Oats Company announced their merger, with PepsiCo acquiring Quaker Oats in a stock-for-stock deal valuing Quaker at around $14 billion.</a:t>
          </a:r>
        </a:p>
        <a:p>
          <a:pPr marL="114300" lvl="1" indent="-114300" algn="l" defTabSz="622300" rtl="0">
            <a:lnSpc>
              <a:spcPct val="90000"/>
            </a:lnSpc>
            <a:spcBef>
              <a:spcPct val="0"/>
            </a:spcBef>
            <a:spcAft>
              <a:spcPct val="15000"/>
            </a:spcAft>
            <a:buSzPct val="100000"/>
            <a:buFont typeface="Arial" panose="020B0604020202020204" pitchFamily="34" charset="0"/>
            <a:buChar char="•"/>
          </a:pPr>
          <a:r>
            <a:rPr lang="en-US" sz="1400" kern="1200" dirty="0">
              <a:latin typeface="Arial Black" panose="020B0A04020102020204" pitchFamily="34" charset="0"/>
            </a:rPr>
            <a:t>In 2000, PepsiCo, Inc., was a $20 billion company involved in the snack food, soft drink and noncarbonated beverage businesses.</a:t>
          </a:r>
        </a:p>
      </dsp:txBody>
      <dsp:txXfrm>
        <a:off x="0" y="4149192"/>
        <a:ext cx="11711571" cy="1927800"/>
      </dsp:txXfrm>
    </dsp:sp>
    <dsp:sp modelId="{BCD9D438-39B4-450E-9320-2F57B7C71E36}">
      <dsp:nvSpPr>
        <dsp:cNvPr id="0" name=""/>
        <dsp:cNvSpPr/>
      </dsp:nvSpPr>
      <dsp:spPr>
        <a:xfrm>
          <a:off x="585578" y="3873426"/>
          <a:ext cx="8198099"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9869" tIns="0" rIns="309869"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Arial Black" panose="020B0A04020102020204" pitchFamily="34" charset="0"/>
            </a:rPr>
            <a:t>2000</a:t>
          </a:r>
        </a:p>
      </dsp:txBody>
      <dsp:txXfrm>
        <a:off x="610076" y="3897924"/>
        <a:ext cx="8149103"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8F8E0-0CE6-4A0A-9C62-7687D1A746DF}">
      <dsp:nvSpPr>
        <dsp:cNvPr id="0" name=""/>
        <dsp:cNvSpPr/>
      </dsp:nvSpPr>
      <dsp:spPr>
        <a:xfrm>
          <a:off x="32" y="4224"/>
          <a:ext cx="3137143" cy="1094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Black" panose="020B0A04020102020204" pitchFamily="34" charset="0"/>
            </a:rPr>
            <a:t>Known For: </a:t>
          </a:r>
        </a:p>
      </dsp:txBody>
      <dsp:txXfrm>
        <a:off x="32" y="4224"/>
        <a:ext cx="3137143" cy="1094400"/>
      </dsp:txXfrm>
    </dsp:sp>
    <dsp:sp modelId="{A4ED6F8E-F971-4236-8E7D-530DF599F44B}">
      <dsp:nvSpPr>
        <dsp:cNvPr id="0" name=""/>
        <dsp:cNvSpPr/>
      </dsp:nvSpPr>
      <dsp:spPr>
        <a:xfrm>
          <a:off x="32" y="1098624"/>
          <a:ext cx="3137143" cy="3011951"/>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latin typeface="Arial Black" panose="020B0A04020102020204" pitchFamily="34" charset="0"/>
            </a:rPr>
            <a:t>Missing major opportunities to steer the company in the right direction.</a:t>
          </a:r>
        </a:p>
        <a:p>
          <a:pPr marL="228600" lvl="1" indent="-228600" algn="l" defTabSz="889000">
            <a:lnSpc>
              <a:spcPct val="90000"/>
            </a:lnSpc>
            <a:spcBef>
              <a:spcPct val="0"/>
            </a:spcBef>
            <a:spcAft>
              <a:spcPct val="15000"/>
            </a:spcAft>
            <a:buChar char="•"/>
          </a:pPr>
          <a:r>
            <a:rPr lang="en-US" sz="2000" kern="1200" dirty="0">
              <a:latin typeface="Arial Black" panose="020B0A04020102020204" pitchFamily="34" charset="0"/>
            </a:rPr>
            <a:t>Ruining the financial stability of the company.</a:t>
          </a:r>
        </a:p>
      </dsp:txBody>
      <dsp:txXfrm>
        <a:off x="32" y="1098624"/>
        <a:ext cx="3137143" cy="3011951"/>
      </dsp:txXfrm>
    </dsp:sp>
    <dsp:sp modelId="{AEDF7CCD-18E8-4B1F-9070-4290BCBA30A3}">
      <dsp:nvSpPr>
        <dsp:cNvPr id="0" name=""/>
        <dsp:cNvSpPr/>
      </dsp:nvSpPr>
      <dsp:spPr>
        <a:xfrm>
          <a:off x="3576376" y="4224"/>
          <a:ext cx="3137143" cy="1094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Arial Black" panose="020B0A04020102020204" pitchFamily="34" charset="0"/>
            </a:rPr>
            <a:t>Notable Management Decisions:</a:t>
          </a:r>
        </a:p>
      </dsp:txBody>
      <dsp:txXfrm>
        <a:off x="3576376" y="4224"/>
        <a:ext cx="3137143" cy="1094400"/>
      </dsp:txXfrm>
    </dsp:sp>
    <dsp:sp modelId="{B6EA1100-645E-428A-8FE1-082BF15DF4CF}">
      <dsp:nvSpPr>
        <dsp:cNvPr id="0" name=""/>
        <dsp:cNvSpPr/>
      </dsp:nvSpPr>
      <dsp:spPr>
        <a:xfrm>
          <a:off x="3576376" y="1098624"/>
          <a:ext cx="3137143" cy="3011951"/>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latin typeface="Arial Black" panose="020B0A04020102020204" pitchFamily="34" charset="0"/>
            </a:rPr>
            <a:t>Instituting a 7.7% price hike on syrup</a:t>
          </a:r>
          <a:endParaRPr lang="en-US" sz="1800" kern="1200" dirty="0">
            <a:latin typeface="Arial Black" panose="020B0A04020102020204" pitchFamily="34" charset="0"/>
          </a:endParaRPr>
        </a:p>
        <a:p>
          <a:pPr marL="171450" lvl="1" indent="-171450" algn="l" defTabSz="800100">
            <a:lnSpc>
              <a:spcPct val="90000"/>
            </a:lnSpc>
            <a:spcBef>
              <a:spcPct val="0"/>
            </a:spcBef>
            <a:spcAft>
              <a:spcPct val="15000"/>
            </a:spcAft>
            <a:buChar char="•"/>
          </a:pPr>
          <a:r>
            <a:rPr lang="en-US" sz="1800" kern="1200">
              <a:latin typeface="Arial Black" panose="020B0A04020102020204" pitchFamily="34" charset="0"/>
            </a:rPr>
            <a:t>Insisting on pushing Coca-Cola's core soft-drink brands.</a:t>
          </a:r>
          <a:endParaRPr lang="en-US" sz="1800" kern="1200" dirty="0">
            <a:latin typeface="Arial Black" panose="020B0A04020102020204" pitchFamily="34" charset="0"/>
          </a:endParaRPr>
        </a:p>
        <a:p>
          <a:pPr marL="171450" lvl="1" indent="-171450" algn="l" defTabSz="800100">
            <a:lnSpc>
              <a:spcPct val="90000"/>
            </a:lnSpc>
            <a:spcBef>
              <a:spcPct val="0"/>
            </a:spcBef>
            <a:spcAft>
              <a:spcPct val="15000"/>
            </a:spcAft>
            <a:buChar char="•"/>
          </a:pPr>
          <a:r>
            <a:rPr lang="en-US" sz="1800" kern="1200">
              <a:latin typeface="Arial Black" panose="020B0A04020102020204" pitchFamily="34" charset="0"/>
            </a:rPr>
            <a:t>Aggravating the difficulties that Coca-Cola faced due to external factors</a:t>
          </a:r>
          <a:endParaRPr lang="en-US" sz="1800" kern="1200" dirty="0">
            <a:latin typeface="Arial Black" panose="020B0A04020102020204" pitchFamily="34" charset="0"/>
          </a:endParaRPr>
        </a:p>
      </dsp:txBody>
      <dsp:txXfrm>
        <a:off x="3576376" y="1098624"/>
        <a:ext cx="3137143" cy="30119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8F8E0-0CE6-4A0A-9C62-7687D1A746DF}">
      <dsp:nvSpPr>
        <dsp:cNvPr id="0" name=""/>
        <dsp:cNvSpPr/>
      </dsp:nvSpPr>
      <dsp:spPr>
        <a:xfrm>
          <a:off x="32" y="29654"/>
          <a:ext cx="3137143" cy="76972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Black" panose="020B0A04020102020204" pitchFamily="34" charset="0"/>
            </a:rPr>
            <a:t>Known For: </a:t>
          </a:r>
        </a:p>
      </dsp:txBody>
      <dsp:txXfrm>
        <a:off x="32" y="29654"/>
        <a:ext cx="3137143" cy="769725"/>
      </dsp:txXfrm>
    </dsp:sp>
    <dsp:sp modelId="{A4ED6F8E-F971-4236-8E7D-530DF599F44B}">
      <dsp:nvSpPr>
        <dsp:cNvPr id="0" name=""/>
        <dsp:cNvSpPr/>
      </dsp:nvSpPr>
      <dsp:spPr>
        <a:xfrm>
          <a:off x="32" y="799380"/>
          <a:ext cx="3137143" cy="3285765"/>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Arial Black" panose="020B0A04020102020204" pitchFamily="34" charset="0"/>
            </a:rPr>
            <a:t>Steering Coca-Cola back in the right direction and making up for the mistakes that the previous CEO committed.</a:t>
          </a:r>
          <a:endParaRPr lang="en-US" sz="2000" kern="1200" dirty="0">
            <a:latin typeface="Arial Black" panose="020B0A04020102020204" pitchFamily="34" charset="0"/>
          </a:endParaRPr>
        </a:p>
        <a:p>
          <a:pPr marL="171450" lvl="1" indent="-171450" algn="l" defTabSz="800100">
            <a:lnSpc>
              <a:spcPct val="90000"/>
            </a:lnSpc>
            <a:spcBef>
              <a:spcPct val="0"/>
            </a:spcBef>
            <a:spcAft>
              <a:spcPct val="15000"/>
            </a:spcAft>
            <a:buChar char="•"/>
          </a:pPr>
          <a:r>
            <a:rPr lang="en-US" sz="1800" kern="1200" dirty="0">
              <a:latin typeface="Arial Black" panose="020B0A04020102020204" pitchFamily="34" charset="0"/>
            </a:rPr>
            <a:t>Repairing the company financially and structurally.</a:t>
          </a:r>
        </a:p>
        <a:p>
          <a:pPr marL="228600" lvl="1" indent="-228600" algn="l" defTabSz="889000">
            <a:lnSpc>
              <a:spcPct val="90000"/>
            </a:lnSpc>
            <a:spcBef>
              <a:spcPct val="0"/>
            </a:spcBef>
            <a:spcAft>
              <a:spcPct val="15000"/>
            </a:spcAft>
            <a:buChar char="•"/>
          </a:pPr>
          <a:endParaRPr lang="en-US" sz="2000" kern="1200" dirty="0">
            <a:latin typeface="Arial Black" panose="020B0A04020102020204" pitchFamily="34" charset="0"/>
          </a:endParaRPr>
        </a:p>
      </dsp:txBody>
      <dsp:txXfrm>
        <a:off x="32" y="799380"/>
        <a:ext cx="3137143" cy="3285765"/>
      </dsp:txXfrm>
    </dsp:sp>
    <dsp:sp modelId="{AEDF7CCD-18E8-4B1F-9070-4290BCBA30A3}">
      <dsp:nvSpPr>
        <dsp:cNvPr id="0" name=""/>
        <dsp:cNvSpPr/>
      </dsp:nvSpPr>
      <dsp:spPr>
        <a:xfrm>
          <a:off x="3576376" y="29654"/>
          <a:ext cx="3137143" cy="769725"/>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Black" panose="020B0A04020102020204" pitchFamily="34" charset="0"/>
            </a:rPr>
            <a:t>Notable Management Decisions:</a:t>
          </a:r>
        </a:p>
      </dsp:txBody>
      <dsp:txXfrm>
        <a:off x="3576376" y="29654"/>
        <a:ext cx="3137143" cy="769725"/>
      </dsp:txXfrm>
    </dsp:sp>
    <dsp:sp modelId="{B6EA1100-645E-428A-8FE1-082BF15DF4CF}">
      <dsp:nvSpPr>
        <dsp:cNvPr id="0" name=""/>
        <dsp:cNvSpPr/>
      </dsp:nvSpPr>
      <dsp:spPr>
        <a:xfrm>
          <a:off x="3576376" y="799380"/>
          <a:ext cx="3137143" cy="3285765"/>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Arial Black" panose="020B0A04020102020204" pitchFamily="34" charset="0"/>
              <a:cs typeface="Calibri"/>
            </a:rPr>
            <a:t>Working to come up with new, noncarbonated products.</a:t>
          </a:r>
          <a:endParaRPr lang="en-US" sz="1800" kern="1200" dirty="0">
            <a:latin typeface="Arial Black" panose="020B0A04020102020204" pitchFamily="34" charset="0"/>
          </a:endParaRPr>
        </a:p>
        <a:p>
          <a:pPr marL="171450" lvl="1" indent="-171450" algn="l" defTabSz="800100">
            <a:lnSpc>
              <a:spcPct val="90000"/>
            </a:lnSpc>
            <a:spcBef>
              <a:spcPct val="0"/>
            </a:spcBef>
            <a:spcAft>
              <a:spcPct val="15000"/>
            </a:spcAft>
            <a:buChar char="•"/>
          </a:pPr>
          <a:r>
            <a:rPr lang="en-US" sz="1800" kern="1200" dirty="0">
              <a:latin typeface="Arial Black" panose="020B0A04020102020204" pitchFamily="34" charset="0"/>
              <a:cs typeface="Calibri"/>
            </a:rPr>
            <a:t>Cutting staff and reducing bureaucracy</a:t>
          </a:r>
        </a:p>
        <a:p>
          <a:pPr marL="171450" lvl="1" indent="-171450" algn="l" defTabSz="800100">
            <a:lnSpc>
              <a:spcPct val="90000"/>
            </a:lnSpc>
            <a:spcBef>
              <a:spcPct val="0"/>
            </a:spcBef>
            <a:spcAft>
              <a:spcPct val="15000"/>
            </a:spcAft>
            <a:buChar char="•"/>
          </a:pPr>
          <a:r>
            <a:rPr lang="en-US" sz="1800" kern="1200" dirty="0">
              <a:latin typeface="Arial Black" panose="020B0A04020102020204" pitchFamily="34" charset="0"/>
              <a:cs typeface="Calibri"/>
            </a:rPr>
            <a:t>Spinning off some bottling operations to restructure and consolidate others</a:t>
          </a:r>
        </a:p>
      </dsp:txBody>
      <dsp:txXfrm>
        <a:off x="3576376" y="799380"/>
        <a:ext cx="3137143" cy="32857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A8F8E0-0CE6-4A0A-9C62-7687D1A746DF}">
      <dsp:nvSpPr>
        <dsp:cNvPr id="0" name=""/>
        <dsp:cNvSpPr/>
      </dsp:nvSpPr>
      <dsp:spPr>
        <a:xfrm>
          <a:off x="32" y="14579"/>
          <a:ext cx="3137143" cy="374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9568" tIns="56896" rIns="99568" bIns="56896"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Black" panose="020B0A04020102020204" pitchFamily="34" charset="0"/>
            </a:rPr>
            <a:t>Known For: </a:t>
          </a:r>
        </a:p>
      </dsp:txBody>
      <dsp:txXfrm>
        <a:off x="32" y="14579"/>
        <a:ext cx="3137143" cy="374400"/>
      </dsp:txXfrm>
    </dsp:sp>
    <dsp:sp modelId="{A4ED6F8E-F971-4236-8E7D-530DF599F44B}">
      <dsp:nvSpPr>
        <dsp:cNvPr id="0" name=""/>
        <dsp:cNvSpPr/>
      </dsp:nvSpPr>
      <dsp:spPr>
        <a:xfrm>
          <a:off x="32" y="388979"/>
          <a:ext cx="3137143" cy="3711240"/>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113792" bIns="128016" numCol="1" spcCol="1270" anchor="t" anchorCtr="0">
          <a:noAutofit/>
        </a:bodyPr>
        <a:lstStyle/>
        <a:p>
          <a:pPr marL="114300" lvl="1" indent="-114300" algn="l" defTabSz="688975">
            <a:lnSpc>
              <a:spcPct val="90000"/>
            </a:lnSpc>
            <a:spcBef>
              <a:spcPct val="0"/>
            </a:spcBef>
            <a:spcAft>
              <a:spcPct val="15000"/>
            </a:spcAft>
            <a:buChar char="•"/>
          </a:pPr>
          <a:r>
            <a:rPr lang="en-US" sz="1550" kern="1200" dirty="0">
              <a:latin typeface="Arial Black" panose="020B0A04020102020204" pitchFamily="34" charset="0"/>
            </a:rPr>
            <a:t>Steering the company in the right direction of pursuing the non-carbonated beverage segment.</a:t>
          </a:r>
        </a:p>
        <a:p>
          <a:pPr marL="114300" lvl="1" indent="-114300" algn="l" defTabSz="688975">
            <a:lnSpc>
              <a:spcPct val="90000"/>
            </a:lnSpc>
            <a:spcBef>
              <a:spcPct val="0"/>
            </a:spcBef>
            <a:spcAft>
              <a:spcPct val="15000"/>
            </a:spcAft>
            <a:buChar char="•"/>
          </a:pPr>
          <a:r>
            <a:rPr lang="en-US" sz="1550" kern="1200" dirty="0">
              <a:latin typeface="Arial Black" panose="020B0A04020102020204" pitchFamily="34" charset="0"/>
            </a:rPr>
            <a:t>Creating marketing campaigns like the “Joy of Pepsi” campaign to help boost the company’s brand recognition and market share.</a:t>
          </a:r>
        </a:p>
        <a:p>
          <a:pPr marL="114300" lvl="1" indent="-114300" algn="l" defTabSz="644525">
            <a:lnSpc>
              <a:spcPct val="90000"/>
            </a:lnSpc>
            <a:spcBef>
              <a:spcPct val="0"/>
            </a:spcBef>
            <a:spcAft>
              <a:spcPct val="15000"/>
            </a:spcAft>
            <a:buChar char="•"/>
          </a:pPr>
          <a:endParaRPr lang="en-US" sz="1450" kern="1200" dirty="0">
            <a:latin typeface="Arial Black" panose="020B0A04020102020204" pitchFamily="34" charset="0"/>
          </a:endParaRPr>
        </a:p>
        <a:p>
          <a:pPr marL="228600" lvl="1" indent="-228600" algn="l" defTabSz="889000">
            <a:lnSpc>
              <a:spcPct val="90000"/>
            </a:lnSpc>
            <a:spcBef>
              <a:spcPct val="0"/>
            </a:spcBef>
            <a:spcAft>
              <a:spcPct val="15000"/>
            </a:spcAft>
            <a:buChar char="•"/>
          </a:pPr>
          <a:endParaRPr lang="en-US" sz="2000" kern="1200" dirty="0">
            <a:latin typeface="Arial Black" panose="020B0A04020102020204" pitchFamily="34" charset="0"/>
          </a:endParaRPr>
        </a:p>
      </dsp:txBody>
      <dsp:txXfrm>
        <a:off x="32" y="388979"/>
        <a:ext cx="3137143" cy="3711240"/>
      </dsp:txXfrm>
    </dsp:sp>
    <dsp:sp modelId="{AEDF7CCD-18E8-4B1F-9070-4290BCBA30A3}">
      <dsp:nvSpPr>
        <dsp:cNvPr id="0" name=""/>
        <dsp:cNvSpPr/>
      </dsp:nvSpPr>
      <dsp:spPr>
        <a:xfrm>
          <a:off x="3576376" y="14579"/>
          <a:ext cx="3137143" cy="374400"/>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635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300" kern="1200">
              <a:latin typeface="Arial Black" panose="020B0A04020102020204" pitchFamily="34" charset="0"/>
            </a:rPr>
            <a:t>Notable Management Decisions:</a:t>
          </a:r>
        </a:p>
      </dsp:txBody>
      <dsp:txXfrm>
        <a:off x="3576376" y="14579"/>
        <a:ext cx="3137143" cy="374400"/>
      </dsp:txXfrm>
    </dsp:sp>
    <dsp:sp modelId="{B6EA1100-645E-428A-8FE1-082BF15DF4CF}">
      <dsp:nvSpPr>
        <dsp:cNvPr id="0" name=""/>
        <dsp:cNvSpPr/>
      </dsp:nvSpPr>
      <dsp:spPr>
        <a:xfrm>
          <a:off x="3576376" y="388979"/>
          <a:ext cx="3137143" cy="3711240"/>
        </a:xfrm>
        <a:prstGeom prst="rect">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latin typeface="+mj-lt"/>
              <a:cs typeface="Calibri"/>
            </a:rPr>
            <a:t>Creating an acquisition with Quaker Oats that allowed PepsiCo to control 83.6% of the sports drink market.</a:t>
          </a:r>
          <a:endParaRPr lang="en-US" sz="1800" kern="1200" dirty="0">
            <a:latin typeface="Arial Black" panose="020B0A04020102020204" pitchFamily="34" charset="0"/>
          </a:endParaRPr>
        </a:p>
        <a:p>
          <a:pPr marL="171450" lvl="1" indent="-171450" algn="l" defTabSz="711200">
            <a:lnSpc>
              <a:spcPct val="90000"/>
            </a:lnSpc>
            <a:spcBef>
              <a:spcPct val="0"/>
            </a:spcBef>
            <a:spcAft>
              <a:spcPct val="15000"/>
            </a:spcAft>
            <a:buChar char="•"/>
          </a:pPr>
          <a:r>
            <a:rPr lang="en-US" sz="1600" kern="1200" dirty="0">
              <a:latin typeface="+mj-lt"/>
              <a:cs typeface="Calibri"/>
            </a:rPr>
            <a:t>Working to expand the PepsiCo noncarbonated-beverage product line.</a:t>
          </a:r>
        </a:p>
        <a:p>
          <a:pPr marL="171450" lvl="1" indent="-171450" algn="l" defTabSz="711200">
            <a:lnSpc>
              <a:spcPct val="90000"/>
            </a:lnSpc>
            <a:spcBef>
              <a:spcPct val="0"/>
            </a:spcBef>
            <a:spcAft>
              <a:spcPct val="15000"/>
            </a:spcAft>
            <a:buChar char="•"/>
          </a:pPr>
          <a:r>
            <a:rPr lang="en-US" sz="1600" kern="1200">
              <a:latin typeface="+mj-lt"/>
              <a:cs typeface="Calibri"/>
            </a:rPr>
            <a:t>Investing heavily in power and brand building</a:t>
          </a:r>
          <a:endParaRPr lang="en-US" sz="1600" kern="1200" dirty="0">
            <a:latin typeface="+mj-lt"/>
            <a:cs typeface="Calibri"/>
          </a:endParaRPr>
        </a:p>
      </dsp:txBody>
      <dsp:txXfrm>
        <a:off x="3576376" y="388979"/>
        <a:ext cx="3137143" cy="37112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67274-A49A-E616-D0FC-A8A8B84781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9C62CD-8564-D4C7-79FB-D83E4F4A72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06CF83-EC15-552E-27DD-1FF09AAC18D4}"/>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3CE932AE-8765-2BBA-610B-FC48B7E51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8DBCF4-F148-26E2-F9F4-DA7B726A10C9}"/>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418917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3E113-2148-1B09-094D-F4031FCD72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756565-F4A8-DABC-62BE-38A765CB9A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8EA7DC-5E01-99BE-B548-9B9A83FED821}"/>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075F2B5C-2DF6-09F2-0C9D-74CF3A0888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251A7-0D14-8921-B368-4FC0474E6C09}"/>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408656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DA82-9982-F62D-4BD6-9E31B52622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8E8197-4FBE-8A97-3BFE-DFD177F443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58DAD5-7287-E7F2-FA94-A3E28952E047}"/>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FB7FDB13-0DB4-0932-F827-9782653B2F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1A22C-8FFC-2C72-AB9B-D5DC16C7689C}"/>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287343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248AF-0646-6C25-C98E-6941973969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82C381-F2E5-1AE4-33E5-F709F1D7E1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3C8097-F966-B386-34C9-38BB0F9E9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7A9C45-9D02-49D9-B6C3-B817B786ABB6}"/>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6" name="Footer Placeholder 5">
            <a:extLst>
              <a:ext uri="{FF2B5EF4-FFF2-40B4-BE49-F238E27FC236}">
                <a16:creationId xmlns:a16="http://schemas.microsoft.com/office/drawing/2014/main" id="{A737B611-3AAD-20CA-0C44-7A8BC82DC8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F32B62-AB7D-66A4-B72A-64E95B73B882}"/>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972942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EAE98-8CF8-E64E-F47E-FF9821A31C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CA46F1-5A2A-FE94-0A68-1C89F5C10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E9838B-0672-A1B8-91AE-413D00AAC1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AD81ED7-CF08-E7C4-4E92-1598BB0F41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DF2AF7-0613-72FD-EF8C-B70690B154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8D8E46-FE59-9DA7-D5E7-7AF2784C2ABE}"/>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8" name="Footer Placeholder 7">
            <a:extLst>
              <a:ext uri="{FF2B5EF4-FFF2-40B4-BE49-F238E27FC236}">
                <a16:creationId xmlns:a16="http://schemas.microsoft.com/office/drawing/2014/main" id="{DA26BCF5-CD83-7D3E-8B2B-A2EADB9D82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BE49EE-54FE-D23E-34BA-50DC39C7BE65}"/>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72209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30C12-3E00-BA35-10C4-216FBD1385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D3A436-BD8F-F1DF-4622-1E7D33CBB8C9}"/>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4" name="Footer Placeholder 3">
            <a:extLst>
              <a:ext uri="{FF2B5EF4-FFF2-40B4-BE49-F238E27FC236}">
                <a16:creationId xmlns:a16="http://schemas.microsoft.com/office/drawing/2014/main" id="{93938E27-6685-F3FD-AB71-CE9C4726C5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785954-2B6D-D493-F86D-082C45F618D5}"/>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922412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CF9C87-2AEF-DA8D-D1F0-79FD22F2F27B}"/>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3" name="Footer Placeholder 2">
            <a:extLst>
              <a:ext uri="{FF2B5EF4-FFF2-40B4-BE49-F238E27FC236}">
                <a16:creationId xmlns:a16="http://schemas.microsoft.com/office/drawing/2014/main" id="{06ECA09E-E98D-EDE5-9D4A-261A432FD9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09C08E-4244-261F-A461-AB0628E3778F}"/>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91395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DB7C7-9207-B204-30CC-BBB05D8753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8878EE-3009-FC86-0AB3-9554809D97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B0D2F5-5A45-AF1A-7CD0-46D8E8246C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BBEA1E-2F20-2ED7-2726-5FC34F93F8CF}"/>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6" name="Footer Placeholder 5">
            <a:extLst>
              <a:ext uri="{FF2B5EF4-FFF2-40B4-BE49-F238E27FC236}">
                <a16:creationId xmlns:a16="http://schemas.microsoft.com/office/drawing/2014/main" id="{CE2BEFF6-DFFC-A3FA-CB59-6739A57B2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12056B-C021-9331-BC91-4D55EF10B48A}"/>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14599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26413-0B00-07F9-C6A5-52DD7B4397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E3D979-93A8-8635-60ED-D5F31E01D6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FB887E-51A0-0598-CA14-4E7D3E3C2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6BB5E3-38C6-C322-55AE-FF48BDF72379}"/>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6" name="Footer Placeholder 5">
            <a:extLst>
              <a:ext uri="{FF2B5EF4-FFF2-40B4-BE49-F238E27FC236}">
                <a16:creationId xmlns:a16="http://schemas.microsoft.com/office/drawing/2014/main" id="{20943BC3-81F2-9201-78A7-9F56BA713C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3CAE7C-F45B-E7AF-965A-B386A646C6F9}"/>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815091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F037A-309A-190A-8E8C-85238B6546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F53860-867C-559A-D9D9-143244C522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7E36F9-FE69-E05A-10B1-C6CBB81563CF}"/>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BDD40D07-AB1B-3524-C634-D4608D47BB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608AF-4E92-687E-6E54-DB5A1A6E7938}"/>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75495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4685DE-86BC-C46C-BFED-88580AB9C0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19D0C9A-5E56-D566-306F-06BB415C8F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4A20F0-962D-2DF7-98C5-4AEF8E1553B7}"/>
              </a:ext>
            </a:extLst>
          </p:cNvPr>
          <p:cNvSpPr>
            <a:spLocks noGrp="1"/>
          </p:cNvSpPr>
          <p:nvPr>
            <p:ph type="dt" sz="half" idx="10"/>
          </p:nvPr>
        </p:nvSpPr>
        <p:spPr/>
        <p:txBody>
          <a:body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4B9E29E7-8E06-02FA-3819-8E3043448C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C4F21-059E-1AF9-DF9C-12EBCB0D9426}"/>
              </a:ext>
            </a:extLst>
          </p:cNvPr>
          <p:cNvSpPr>
            <a:spLocks noGrp="1"/>
          </p:cNvSpPr>
          <p:nvPr>
            <p:ph type="sldNum" sz="quarter" idx="12"/>
          </p:nvPr>
        </p:nvSpPr>
        <p:spPr/>
        <p:txBody>
          <a:bodyPr/>
          <a:lstStyle/>
          <a:p>
            <a:fld id="{F86DED46-94F8-4BB4-8BDB-DC00F45C5FF2}" type="slidenum">
              <a:rPr lang="en-US" smtClean="0"/>
              <a:t>‹#›</a:t>
            </a:fld>
            <a:endParaRPr lang="en-US"/>
          </a:p>
        </p:txBody>
      </p:sp>
    </p:spTree>
    <p:extLst>
      <p:ext uri="{BB962C8B-B14F-4D97-AF65-F5344CB8AC3E}">
        <p14:creationId xmlns:p14="http://schemas.microsoft.com/office/powerpoint/2010/main" val="20659638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06B104-2982-4C5F-87E0-4AF1CB73913B}"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155779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Arial Black" panose="020B0A04020102020204" pitchFamily="34" charset="0"/>
              </a:defRPr>
            </a:lvl1pPr>
            <a:lvl2pPr>
              <a:defRPr>
                <a:latin typeface="Arial Black" panose="020B0A04020102020204" pitchFamily="34" charset="0"/>
              </a:defRPr>
            </a:lvl2pPr>
            <a:lvl3pPr>
              <a:defRPr>
                <a:latin typeface="Arial Black" panose="020B0A04020102020204" pitchFamily="34" charset="0"/>
              </a:defRPr>
            </a:lvl3pPr>
            <a:lvl4pPr>
              <a:defRPr>
                <a:latin typeface="Arial Black" panose="020B0A04020102020204" pitchFamily="34" charset="0"/>
              </a:defRPr>
            </a:lvl4pPr>
            <a:lvl5pPr>
              <a:defRPr>
                <a:latin typeface="Arial Black" panose="020B0A040201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C06B104-2982-4C5F-87E0-4AF1CB73913B}"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502007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06B104-2982-4C5F-87E0-4AF1CB73913B}"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2267045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06B104-2982-4C5F-87E0-4AF1CB73913B}"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3823452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06B104-2982-4C5F-87E0-4AF1CB73913B}" type="datetimeFigureOut">
              <a:rPr lang="en-US" smtClean="0"/>
              <a:t>4/11/2023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556575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06B104-2982-4C5F-87E0-4AF1CB73913B}" type="datetimeFigureOut">
              <a:rPr lang="en-US" smtClean="0"/>
              <a:t>4/11/2023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27816291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06B104-2982-4C5F-87E0-4AF1CB73913B}" type="datetimeFigureOut">
              <a:rPr lang="en-US" smtClean="0"/>
              <a:t>4/11/2023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36897200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06B104-2982-4C5F-87E0-4AF1CB73913B}"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28440076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06B104-2982-4C5F-87E0-4AF1CB73913B}" type="datetimeFigureOut">
              <a:rPr lang="en-US" smtClean="0"/>
              <a:t>4/11/2023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1563008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06B104-2982-4C5F-87E0-4AF1CB73913B}"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4246792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06B104-2982-4C5F-87E0-4AF1CB73913B}" type="datetimeFigureOut">
              <a:rPr lang="en-US" smtClean="0"/>
              <a:t>4/11/2023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6D9D53-81BB-4AE1-9C69-9082D6954522}" type="slidenum">
              <a:rPr lang="en-US" smtClean="0"/>
              <a:t>‹#›</a:t>
            </a:fld>
            <a:endParaRPr lang="en-US"/>
          </a:p>
        </p:txBody>
      </p:sp>
    </p:spTree>
    <p:extLst>
      <p:ext uri="{BB962C8B-B14F-4D97-AF65-F5344CB8AC3E}">
        <p14:creationId xmlns:p14="http://schemas.microsoft.com/office/powerpoint/2010/main" val="3207218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E75946-56D9-E776-72E4-852B280F5D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C8295B-DEBE-3B0F-557E-2F0444F4DF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878142-B36E-7396-E4F9-9BC7FDCAD5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843A5F-716E-4791-8701-5823110E26E6}" type="datetimeFigureOut">
              <a:rPr lang="en-US" smtClean="0"/>
              <a:t>4/11/2023</a:t>
            </a:fld>
            <a:endParaRPr lang="en-US"/>
          </a:p>
        </p:txBody>
      </p:sp>
      <p:sp>
        <p:nvSpPr>
          <p:cNvPr id="5" name="Footer Placeholder 4">
            <a:extLst>
              <a:ext uri="{FF2B5EF4-FFF2-40B4-BE49-F238E27FC236}">
                <a16:creationId xmlns:a16="http://schemas.microsoft.com/office/drawing/2014/main" id="{8EBBB6DB-20B4-D35C-550D-F67628A445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1C081F-740F-B77F-03A9-B855ACFCAD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DED46-94F8-4BB4-8BDB-DC00F45C5FF2}" type="slidenum">
              <a:rPr lang="en-US" smtClean="0"/>
              <a:t>‹#›</a:t>
            </a:fld>
            <a:endParaRPr lang="en-US"/>
          </a:p>
        </p:txBody>
      </p:sp>
    </p:spTree>
    <p:extLst>
      <p:ext uri="{BB962C8B-B14F-4D97-AF65-F5344CB8AC3E}">
        <p14:creationId xmlns:p14="http://schemas.microsoft.com/office/powerpoint/2010/main" val="2475632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843A5F-716E-4791-8701-5823110E26E6}" type="datetimeFigureOut">
              <a:rPr lang="en-US" smtClean="0"/>
              <a:t>4/11/2023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6DED46-94F8-4BB4-8BDB-DC00F45C5FF2}" type="slidenum">
              <a:rPr lang="en-US" smtClean="0"/>
              <a:t>‹#›</a:t>
            </a:fld>
            <a:endParaRPr lang="en-US"/>
          </a:p>
        </p:txBody>
      </p:sp>
    </p:spTree>
    <p:extLst>
      <p:ext uri="{BB962C8B-B14F-4D97-AF65-F5344CB8AC3E}">
        <p14:creationId xmlns:p14="http://schemas.microsoft.com/office/powerpoint/2010/main" val="583291684"/>
      </p:ext>
    </p:extLst>
  </p:cSld>
  <p:clrMap bg1="dk1" tx1="lt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edium.com/@branniganblog/gerrymandering-and-coca-cola-how-americas-division-affects-us-everywhere-783e7365022c"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managementcue.it/pepsi-vs-cola-cola-chi-vince/12826/" TargetMode="External"/><Relationship Id="rId3" Type="http://schemas.openxmlformats.org/officeDocument/2006/relationships/diagramLayout" Target="../diagrams/layout1.xml"/><Relationship Id="rId7" Type="http://schemas.openxmlformats.org/officeDocument/2006/relationships/image" Target="../media/image2.jpg"/><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4.jpg"/><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5.jpg"/><Relationship Id="rId2" Type="http://schemas.openxmlformats.org/officeDocument/2006/relationships/diagramData" Target="../diagrams/data6.xml"/><Relationship Id="rId1"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3.xml"/><Relationship Id="rId4" Type="http://schemas.openxmlformats.org/officeDocument/2006/relationships/hyperlink" Target="http://materiallysocial.blogspot.com/2018/03/what-is-value.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hyperlink" Target="https://www.pexels.com/photo/close-up-photography-of-people-holding-coca-cola-bottles-106686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13.xml"/><Relationship Id="rId4" Type="http://schemas.openxmlformats.org/officeDocument/2006/relationships/hyperlink" Target="https://www.publicdomainpictures.net/en/view-image.php?image=199914&amp;picture=coca-cola-truck"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13.xml"/><Relationship Id="rId4" Type="http://schemas.openxmlformats.org/officeDocument/2006/relationships/hyperlink" Target="https://www.bcdb.com/cartoons/Other_Studios/W/Jay_Ward_Productions/Quaker_Oats_Company_Commercial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13.xml"/><Relationship Id="rId4" Type="http://schemas.openxmlformats.org/officeDocument/2006/relationships/hyperlink" Target="https://www.picpedia.org/highway-signs/s/stocks-and-shares.html"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perierga.gr/2011/02/pepsi-coca-cola-i-exelixi-ton-simaton-tous/" TargetMode="External"/><Relationship Id="rId3" Type="http://schemas.openxmlformats.org/officeDocument/2006/relationships/hyperlink" Target="https://www.flickr.com/photos/39160147@N03/13556198874" TargetMode="External"/><Relationship Id="rId7" Type="http://schemas.openxmlformats.org/officeDocument/2006/relationships/hyperlink" Target="https://de.wikipedia.org/wiki/Datei:Aquafina_logo.svg" TargetMode="External"/><Relationship Id="rId12" Type="http://schemas.openxmlformats.org/officeDocument/2006/relationships/image" Target="../media/image26.jpg"/><Relationship Id="rId2" Type="http://schemas.openxmlformats.org/officeDocument/2006/relationships/image" Target="../media/image21.jpg"/><Relationship Id="rId1" Type="http://schemas.openxmlformats.org/officeDocument/2006/relationships/slideLayout" Target="../slideLayouts/slideLayout13.xml"/><Relationship Id="rId6" Type="http://schemas.openxmlformats.org/officeDocument/2006/relationships/image" Target="../media/image23.png"/><Relationship Id="rId11" Type="http://schemas.openxmlformats.org/officeDocument/2006/relationships/hyperlink" Target="https://en.wikipedia.org/wiki/Lipton" TargetMode="External"/><Relationship Id="rId5" Type="http://schemas.openxmlformats.org/officeDocument/2006/relationships/hyperlink" Target="https://www.wikipolitiks.org/wiki/PepsiCo_Inc" TargetMode="External"/><Relationship Id="rId10"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hyperlink" Target="https://www.jesuismalin.be/2011/04/18/reduction-de-1e-sur-le-nouveau-tropicana/" TargetMode="Externa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hyperlink" Target="https://www.flickr.com/photos/amberkennedy/3233865673/" TargetMode="External"/><Relationship Id="rId7" Type="http://schemas.openxmlformats.org/officeDocument/2006/relationships/hyperlink" Target="https://www.flickr.com/photos/jeepersmedia/13555935473/" TargetMode="External"/><Relationship Id="rId2" Type="http://schemas.openxmlformats.org/officeDocument/2006/relationships/image" Target="../media/image27.jpg"/><Relationship Id="rId1" Type="http://schemas.openxmlformats.org/officeDocument/2006/relationships/slideLayout" Target="../slideLayouts/slideLayout13.xml"/><Relationship Id="rId6" Type="http://schemas.openxmlformats.org/officeDocument/2006/relationships/image" Target="../media/image29.jpg"/><Relationship Id="rId5" Type="http://schemas.openxmlformats.org/officeDocument/2006/relationships/hyperlink" Target="https://uncyclopedia.ca/wiki/The_Quaker_Oats_guy" TargetMode="Externa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33.jpg"/><Relationship Id="rId3" Type="http://schemas.openxmlformats.org/officeDocument/2006/relationships/hyperlink" Target="https://en.wikipedia.org/wiki/Glaceau_Smartwater" TargetMode="External"/><Relationship Id="rId7" Type="http://schemas.openxmlformats.org/officeDocument/2006/relationships/hyperlink" Target="https://www.flickr.com/photos/jeepersmedia/26829852420" TargetMode="External"/><Relationship Id="rId2" Type="http://schemas.openxmlformats.org/officeDocument/2006/relationships/image" Target="../media/image30.jpg"/><Relationship Id="rId1" Type="http://schemas.openxmlformats.org/officeDocument/2006/relationships/slideLayout" Target="../slideLayouts/slideLayout13.xml"/><Relationship Id="rId6" Type="http://schemas.openxmlformats.org/officeDocument/2006/relationships/image" Target="../media/image32.jpg"/><Relationship Id="rId5" Type="http://schemas.openxmlformats.org/officeDocument/2006/relationships/hyperlink" Target="https://clipset.com/vitaminwater-sabor-facebook-connect/" TargetMode="External"/><Relationship Id="rId4" Type="http://schemas.openxmlformats.org/officeDocument/2006/relationships/image" Target="../media/image31.jpg"/><Relationship Id="rId9" Type="http://schemas.openxmlformats.org/officeDocument/2006/relationships/hyperlink" Target="https://luisamontalvo.blogspot.com/2013/08/coca-cola-life-de-argentina-para-e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3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Logo&#10;&#10;Description automatically generated">
            <a:extLst>
              <a:ext uri="{FF2B5EF4-FFF2-40B4-BE49-F238E27FC236}">
                <a16:creationId xmlns:a16="http://schemas.microsoft.com/office/drawing/2014/main" id="{F9FBFA0F-C663-6B4C-F47D-6F9DB81861B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618" b="17382"/>
          <a:stretch/>
        </p:blipFill>
        <p:spPr>
          <a:xfrm>
            <a:off x="-3048" y="0"/>
            <a:ext cx="12191999" cy="6857990"/>
          </a:xfrm>
          <a:prstGeom prst="rect">
            <a:avLst/>
          </a:prstGeom>
        </p:spPr>
      </p:pic>
      <p:sp>
        <p:nvSpPr>
          <p:cNvPr id="30" name="Rectangle 3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3706673A-C32D-5EAE-B1B4-45320943EF2A}"/>
              </a:ext>
            </a:extLst>
          </p:cNvPr>
          <p:cNvSpPr>
            <a:spLocks noGrp="1"/>
          </p:cNvSpPr>
          <p:nvPr>
            <p:ph type="subTitle" idx="1"/>
          </p:nvPr>
        </p:nvSpPr>
        <p:spPr>
          <a:xfrm>
            <a:off x="83014" y="5822303"/>
            <a:ext cx="3537263" cy="1035688"/>
          </a:xfrm>
          <a:effectLst>
            <a:outerShdw blurRad="50800" dist="38100" dir="2700000" algn="tl" rotWithShape="0">
              <a:prstClr val="black">
                <a:alpha val="40000"/>
              </a:prstClr>
            </a:outerShdw>
          </a:effectLst>
        </p:spPr>
        <p:txBody>
          <a:bodyPr>
            <a:normAutofit lnSpcReduction="10000"/>
          </a:bodyPr>
          <a:lstStyle/>
          <a:p>
            <a:r>
              <a:rPr lang="en-US" dirty="0">
                <a:latin typeface="Arial Black" panose="020B0A04020102020204" pitchFamily="34" charset="0"/>
              </a:rPr>
              <a:t>By: Nicholas Ricci, Daniel Phelps, and Michael Willman</a:t>
            </a:r>
          </a:p>
        </p:txBody>
      </p:sp>
    </p:spTree>
    <p:extLst>
      <p:ext uri="{BB962C8B-B14F-4D97-AF65-F5344CB8AC3E}">
        <p14:creationId xmlns:p14="http://schemas.microsoft.com/office/powerpoint/2010/main" val="3513449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p:txBody>
          <a:bodyPr>
            <a:normAutofit/>
          </a:bodyPr>
          <a:lstStyle/>
          <a:p>
            <a:r>
              <a:rPr lang="en-US" sz="5400" dirty="0">
                <a:solidFill>
                  <a:schemeClr val="bg1"/>
                </a:solidFill>
                <a:latin typeface="Arial Black" panose="020B0A04020102020204" pitchFamily="34" charset="0"/>
              </a:rPr>
              <a:t>Executive Summary</a:t>
            </a:r>
          </a:p>
        </p:txBody>
      </p:sp>
      <p:graphicFrame>
        <p:nvGraphicFramePr>
          <p:cNvPr id="22" name="Content Placeholder 2">
            <a:extLst>
              <a:ext uri="{FF2B5EF4-FFF2-40B4-BE49-F238E27FC236}">
                <a16:creationId xmlns:a16="http://schemas.microsoft.com/office/drawing/2014/main" id="{8313A94F-68D9-EB13-95CC-32A7E98088FC}"/>
              </a:ext>
            </a:extLst>
          </p:cNvPr>
          <p:cNvGraphicFramePr>
            <a:graphicFrameLocks noGrp="1"/>
          </p:cNvGraphicFramePr>
          <p:nvPr>
            <p:ph idx="1"/>
            <p:extLst>
              <p:ext uri="{D42A27DB-BD31-4B8C-83A1-F6EECF244321}">
                <p14:modId xmlns:p14="http://schemas.microsoft.com/office/powerpoint/2010/main" val="2335159101"/>
              </p:ext>
            </p:extLst>
          </p:nvPr>
        </p:nvGraphicFramePr>
        <p:xfrm>
          <a:off x="836676" y="1892062"/>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Icon">
            <a:extLst>
              <a:ext uri="{FF2B5EF4-FFF2-40B4-BE49-F238E27FC236}">
                <a16:creationId xmlns:a16="http://schemas.microsoft.com/office/drawing/2014/main" id="{20C49CDC-F53E-4961-FC84-C4CCE41D44D9}"/>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8515349" y="54863"/>
            <a:ext cx="3007615" cy="1524309"/>
          </a:xfrm>
          <a:prstGeom prst="rect">
            <a:avLst/>
          </a:prstGeom>
        </p:spPr>
      </p:pic>
    </p:spTree>
    <p:extLst>
      <p:ext uri="{BB962C8B-B14F-4D97-AF65-F5344CB8AC3E}">
        <p14:creationId xmlns:p14="http://schemas.microsoft.com/office/powerpoint/2010/main" val="3238416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46EC-41F9-6648-B378-8295A7A5122D}"/>
              </a:ext>
            </a:extLst>
          </p:cNvPr>
          <p:cNvSpPr>
            <a:spLocks noGrp="1"/>
          </p:cNvSpPr>
          <p:nvPr>
            <p:ph type="title"/>
          </p:nvPr>
        </p:nvSpPr>
        <p:spPr>
          <a:xfrm>
            <a:off x="838200" y="167203"/>
            <a:ext cx="10515600" cy="462711"/>
          </a:xfrm>
        </p:spPr>
        <p:txBody>
          <a:bodyPr>
            <a:noAutofit/>
          </a:bodyPr>
          <a:lstStyle/>
          <a:p>
            <a:r>
              <a:rPr lang="en-US" sz="3600" dirty="0">
                <a:solidFill>
                  <a:schemeClr val="bg1"/>
                </a:solidFill>
                <a:latin typeface="Arial Black" panose="020B0A04020102020204" pitchFamily="34" charset="0"/>
                <a:cs typeface="Calibri Light"/>
              </a:rPr>
              <a:t>Overview of the History of Coca-Cola</a:t>
            </a:r>
          </a:p>
        </p:txBody>
      </p:sp>
      <p:graphicFrame>
        <p:nvGraphicFramePr>
          <p:cNvPr id="5" name="Content Placeholder 4">
            <a:extLst>
              <a:ext uri="{FF2B5EF4-FFF2-40B4-BE49-F238E27FC236}">
                <a16:creationId xmlns:a16="http://schemas.microsoft.com/office/drawing/2014/main" id="{C1A4E0F6-DEBD-4B43-A45B-532FD2C6C32A}"/>
              </a:ext>
            </a:extLst>
          </p:cNvPr>
          <p:cNvGraphicFramePr>
            <a:graphicFrameLocks noGrp="1"/>
          </p:cNvGraphicFramePr>
          <p:nvPr>
            <p:ph idx="1"/>
            <p:extLst>
              <p:ext uri="{D42A27DB-BD31-4B8C-83A1-F6EECF244321}">
                <p14:modId xmlns:p14="http://schemas.microsoft.com/office/powerpoint/2010/main" val="3513032165"/>
              </p:ext>
            </p:extLst>
          </p:nvPr>
        </p:nvGraphicFramePr>
        <p:xfrm>
          <a:off x="323667" y="583339"/>
          <a:ext cx="11711571" cy="6107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8817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E46EC-41F9-6648-B378-8295A7A5122D}"/>
              </a:ext>
            </a:extLst>
          </p:cNvPr>
          <p:cNvSpPr>
            <a:spLocks noGrp="1"/>
          </p:cNvSpPr>
          <p:nvPr>
            <p:ph type="title"/>
          </p:nvPr>
        </p:nvSpPr>
        <p:spPr>
          <a:xfrm>
            <a:off x="838200" y="167204"/>
            <a:ext cx="10515600" cy="416136"/>
          </a:xfrm>
        </p:spPr>
        <p:txBody>
          <a:bodyPr>
            <a:noAutofit/>
          </a:bodyPr>
          <a:lstStyle/>
          <a:p>
            <a:r>
              <a:rPr lang="en-US" sz="3600" dirty="0">
                <a:solidFill>
                  <a:schemeClr val="bg1"/>
                </a:solidFill>
                <a:latin typeface="Arial Black" panose="020B0A04020102020204" pitchFamily="34" charset="0"/>
                <a:cs typeface="Calibri Light"/>
              </a:rPr>
              <a:t>Overview of the History of PepsiCo</a:t>
            </a:r>
          </a:p>
        </p:txBody>
      </p:sp>
      <p:graphicFrame>
        <p:nvGraphicFramePr>
          <p:cNvPr id="5" name="Content Placeholder 4">
            <a:extLst>
              <a:ext uri="{FF2B5EF4-FFF2-40B4-BE49-F238E27FC236}">
                <a16:creationId xmlns:a16="http://schemas.microsoft.com/office/drawing/2014/main" id="{C1A4E0F6-DEBD-4B43-A45B-532FD2C6C32A}"/>
              </a:ext>
            </a:extLst>
          </p:cNvPr>
          <p:cNvGraphicFramePr>
            <a:graphicFrameLocks noGrp="1"/>
          </p:cNvGraphicFramePr>
          <p:nvPr>
            <p:ph idx="1"/>
            <p:extLst>
              <p:ext uri="{D42A27DB-BD31-4B8C-83A1-F6EECF244321}">
                <p14:modId xmlns:p14="http://schemas.microsoft.com/office/powerpoint/2010/main" val="388996248"/>
              </p:ext>
            </p:extLst>
          </p:nvPr>
        </p:nvGraphicFramePr>
        <p:xfrm>
          <a:off x="323667" y="583339"/>
          <a:ext cx="11711571" cy="61074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320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08BE7-B745-6D89-3E4A-CB5D4994BC1E}"/>
              </a:ext>
            </a:extLst>
          </p:cNvPr>
          <p:cNvSpPr>
            <a:spLocks noGrp="1"/>
          </p:cNvSpPr>
          <p:nvPr>
            <p:ph type="title"/>
          </p:nvPr>
        </p:nvSpPr>
        <p:spPr>
          <a:xfrm>
            <a:off x="572493" y="238539"/>
            <a:ext cx="11047013" cy="1434415"/>
          </a:xfrm>
        </p:spPr>
        <p:txBody>
          <a:bodyPr anchor="b">
            <a:normAutofit/>
          </a:bodyPr>
          <a:lstStyle/>
          <a:p>
            <a:r>
              <a:rPr lang="en-US" sz="4600" dirty="0">
                <a:solidFill>
                  <a:schemeClr val="bg1"/>
                </a:solidFill>
                <a:latin typeface="+mj-lt"/>
              </a:rPr>
              <a:t>Coca-Cola 1</a:t>
            </a:r>
            <a:r>
              <a:rPr lang="en-US" sz="4600" baseline="30000" dirty="0">
                <a:solidFill>
                  <a:schemeClr val="bg1"/>
                </a:solidFill>
                <a:latin typeface="+mj-lt"/>
              </a:rPr>
              <a:t>st</a:t>
            </a:r>
            <a:r>
              <a:rPr lang="en-US" sz="4600" dirty="0">
                <a:solidFill>
                  <a:schemeClr val="bg1"/>
                </a:solidFill>
                <a:latin typeface="+mj-lt"/>
              </a:rPr>
              <a:t> CEO: Doug </a:t>
            </a:r>
            <a:r>
              <a:rPr lang="en-US" sz="4600" dirty="0" err="1">
                <a:solidFill>
                  <a:schemeClr val="bg1"/>
                </a:solidFill>
                <a:latin typeface="+mj-lt"/>
              </a:rPr>
              <a:t>Ivester</a:t>
            </a:r>
            <a:endParaRPr lang="en-US" sz="4600" dirty="0">
              <a:solidFill>
                <a:schemeClr val="bg1"/>
              </a:solidFill>
              <a:latin typeface="+mj-lt"/>
            </a:endParaRPr>
          </a:p>
        </p:txBody>
      </p:sp>
      <p:sp>
        <p:nvSpPr>
          <p:cNvPr id="24"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person holding a bottle&#10;&#10;Description automatically generated with medium confidence">
            <a:extLst>
              <a:ext uri="{FF2B5EF4-FFF2-40B4-BE49-F238E27FC236}">
                <a16:creationId xmlns:a16="http://schemas.microsoft.com/office/drawing/2014/main" id="{62DA297E-6871-259F-D900-2BA75CECE3A7}"/>
              </a:ext>
            </a:extLst>
          </p:cNvPr>
          <p:cNvPicPr>
            <a:picLocks noChangeAspect="1"/>
          </p:cNvPicPr>
          <p:nvPr/>
        </p:nvPicPr>
        <p:blipFill rotWithShape="1">
          <a:blip r:embed="rId2">
            <a:extLst>
              <a:ext uri="{28A0092B-C50C-407E-A947-70E740481C1C}">
                <a14:useLocalDpi xmlns:a14="http://schemas.microsoft.com/office/drawing/2010/main" val="0"/>
              </a:ext>
            </a:extLst>
          </a:blip>
          <a:srcRect l="26889" r="16556" b="1"/>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graphicFrame>
        <p:nvGraphicFramePr>
          <p:cNvPr id="10" name="Content Placeholder 2">
            <a:extLst>
              <a:ext uri="{FF2B5EF4-FFF2-40B4-BE49-F238E27FC236}">
                <a16:creationId xmlns:a16="http://schemas.microsoft.com/office/drawing/2014/main" id="{846DFF5E-3D37-3918-A576-F3F8EDA22990}"/>
              </a:ext>
            </a:extLst>
          </p:cNvPr>
          <p:cNvGraphicFramePr>
            <a:graphicFrameLocks noGrp="1"/>
          </p:cNvGraphicFramePr>
          <p:nvPr>
            <p:ph idx="1"/>
            <p:extLst>
              <p:ext uri="{D42A27DB-BD31-4B8C-83A1-F6EECF244321}">
                <p14:modId xmlns:p14="http://schemas.microsoft.com/office/powerpoint/2010/main" val="3125087142"/>
              </p:ext>
            </p:extLst>
          </p:nvPr>
        </p:nvGraphicFramePr>
        <p:xfrm>
          <a:off x="4905955" y="2071316"/>
          <a:ext cx="6713552"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4163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08BE7-B745-6D89-3E4A-CB5D4994BC1E}"/>
              </a:ext>
            </a:extLst>
          </p:cNvPr>
          <p:cNvSpPr>
            <a:spLocks noGrp="1"/>
          </p:cNvSpPr>
          <p:nvPr>
            <p:ph type="title"/>
          </p:nvPr>
        </p:nvSpPr>
        <p:spPr>
          <a:xfrm>
            <a:off x="572493" y="238539"/>
            <a:ext cx="11047013" cy="1434415"/>
          </a:xfrm>
        </p:spPr>
        <p:txBody>
          <a:bodyPr anchor="b">
            <a:normAutofit/>
          </a:bodyPr>
          <a:lstStyle/>
          <a:p>
            <a:r>
              <a:rPr lang="pt-BR" sz="4600" dirty="0">
                <a:solidFill>
                  <a:schemeClr val="bg1"/>
                </a:solidFill>
                <a:latin typeface="+mj-lt"/>
              </a:rPr>
              <a:t>Coca-Cola 2nd CEO: Douglas Daft</a:t>
            </a:r>
            <a:endParaRPr lang="en-US" sz="4600" dirty="0">
              <a:solidFill>
                <a:schemeClr val="bg1"/>
              </a:solidFill>
              <a:latin typeface="+mj-lt"/>
            </a:endParaRPr>
          </a:p>
        </p:txBody>
      </p:sp>
      <p:sp>
        <p:nvSpPr>
          <p:cNvPr id="24"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2">
            <a:extLst>
              <a:ext uri="{FF2B5EF4-FFF2-40B4-BE49-F238E27FC236}">
                <a16:creationId xmlns:a16="http://schemas.microsoft.com/office/drawing/2014/main" id="{846DFF5E-3D37-3918-A576-F3F8EDA22990}"/>
              </a:ext>
            </a:extLst>
          </p:cNvPr>
          <p:cNvGraphicFramePr>
            <a:graphicFrameLocks noGrp="1"/>
          </p:cNvGraphicFramePr>
          <p:nvPr>
            <p:ph idx="1"/>
            <p:extLst>
              <p:ext uri="{D42A27DB-BD31-4B8C-83A1-F6EECF244321}">
                <p14:modId xmlns:p14="http://schemas.microsoft.com/office/powerpoint/2010/main" val="2134468067"/>
              </p:ext>
            </p:extLst>
          </p:nvPr>
        </p:nvGraphicFramePr>
        <p:xfrm>
          <a:off x="4905955" y="2071316"/>
          <a:ext cx="6713552"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CE099969-BCB2-F61A-50B2-23A644B1D421}"/>
              </a:ext>
            </a:extLst>
          </p:cNvPr>
          <p:cNvPicPr>
            <a:picLocks noChangeAspect="1"/>
          </p:cNvPicPr>
          <p:nvPr/>
        </p:nvPicPr>
        <p:blipFill rotWithShape="1">
          <a:blip r:embed="rId7">
            <a:extLst>
              <a:ext uri="{28A0092B-C50C-407E-A947-70E740481C1C}">
                <a14:useLocalDpi xmlns:a14="http://schemas.microsoft.com/office/drawing/2010/main" val="0"/>
              </a:ext>
            </a:extLst>
          </a:blip>
          <a:srcRect t="13380" r="1" b="1"/>
          <a:stretch/>
        </p:blipFill>
        <p:spPr>
          <a:xfrm>
            <a:off x="572493" y="2071316"/>
            <a:ext cx="3941064" cy="4096512"/>
          </a:xfrm>
          <a:prstGeom prst="rect">
            <a:avLst/>
          </a:prstGeom>
        </p:spPr>
      </p:pic>
    </p:spTree>
    <p:extLst>
      <p:ext uri="{BB962C8B-B14F-4D97-AF65-F5344CB8AC3E}">
        <p14:creationId xmlns:p14="http://schemas.microsoft.com/office/powerpoint/2010/main" val="1162342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08BE7-B745-6D89-3E4A-CB5D4994BC1E}"/>
              </a:ext>
            </a:extLst>
          </p:cNvPr>
          <p:cNvSpPr>
            <a:spLocks noGrp="1"/>
          </p:cNvSpPr>
          <p:nvPr>
            <p:ph type="title"/>
          </p:nvPr>
        </p:nvSpPr>
        <p:spPr>
          <a:xfrm>
            <a:off x="572493" y="238539"/>
            <a:ext cx="11047013" cy="1434415"/>
          </a:xfrm>
        </p:spPr>
        <p:txBody>
          <a:bodyPr anchor="b">
            <a:normAutofit/>
          </a:bodyPr>
          <a:lstStyle/>
          <a:p>
            <a:r>
              <a:rPr lang="en-US" sz="4600" dirty="0">
                <a:solidFill>
                  <a:schemeClr val="bg1"/>
                </a:solidFill>
                <a:latin typeface="+mj-lt"/>
              </a:rPr>
              <a:t>PepsiCo CEO: Roger Enrico</a:t>
            </a:r>
          </a:p>
        </p:txBody>
      </p:sp>
      <p:sp>
        <p:nvSpPr>
          <p:cNvPr id="24"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Content Placeholder 2">
            <a:extLst>
              <a:ext uri="{FF2B5EF4-FFF2-40B4-BE49-F238E27FC236}">
                <a16:creationId xmlns:a16="http://schemas.microsoft.com/office/drawing/2014/main" id="{846DFF5E-3D37-3918-A576-F3F8EDA22990}"/>
              </a:ext>
            </a:extLst>
          </p:cNvPr>
          <p:cNvGraphicFramePr>
            <a:graphicFrameLocks noGrp="1"/>
          </p:cNvGraphicFramePr>
          <p:nvPr>
            <p:ph idx="1"/>
            <p:extLst>
              <p:ext uri="{D42A27DB-BD31-4B8C-83A1-F6EECF244321}">
                <p14:modId xmlns:p14="http://schemas.microsoft.com/office/powerpoint/2010/main" val="3416305993"/>
              </p:ext>
            </p:extLst>
          </p:nvPr>
        </p:nvGraphicFramePr>
        <p:xfrm>
          <a:off x="4905955" y="2071316"/>
          <a:ext cx="6713552"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13D6FA99-B98A-CD0F-7DF2-05152D659F6B}"/>
              </a:ext>
            </a:extLst>
          </p:cNvPr>
          <p:cNvPicPr>
            <a:picLocks noChangeAspect="1"/>
          </p:cNvPicPr>
          <p:nvPr/>
        </p:nvPicPr>
        <p:blipFill rotWithShape="1">
          <a:blip r:embed="rId7">
            <a:extLst>
              <a:ext uri="{28A0092B-C50C-407E-A947-70E740481C1C}">
                <a14:useLocalDpi xmlns:a14="http://schemas.microsoft.com/office/drawing/2010/main" val="0"/>
              </a:ext>
            </a:extLst>
          </a:blip>
          <a:srcRect l="23313" r="22812"/>
          <a:stretch/>
        </p:blipFill>
        <p:spPr>
          <a:xfrm>
            <a:off x="572493" y="2071316"/>
            <a:ext cx="3941064" cy="4096512"/>
          </a:xfrm>
          <a:prstGeom prst="rect">
            <a:avLst/>
          </a:prstGeom>
        </p:spPr>
      </p:pic>
    </p:spTree>
    <p:extLst>
      <p:ext uri="{BB962C8B-B14F-4D97-AF65-F5344CB8AC3E}">
        <p14:creationId xmlns:p14="http://schemas.microsoft.com/office/powerpoint/2010/main" val="448406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descr="A picture containing text, receipt&#10;&#10;Description automatically generated">
            <a:extLst>
              <a:ext uri="{FF2B5EF4-FFF2-40B4-BE49-F238E27FC236}">
                <a16:creationId xmlns:a16="http://schemas.microsoft.com/office/drawing/2014/main" id="{FCBD7FCA-A369-7CFF-E693-E1D8D3349E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89058" y="-1"/>
            <a:ext cx="5102942" cy="5668296"/>
          </a:xfrm>
          <a:prstGeom prst="rect">
            <a:avLst/>
          </a:prstGeom>
        </p:spPr>
      </p:pic>
      <p:sp>
        <p:nvSpPr>
          <p:cNvPr id="5" name="TextBox 4">
            <a:extLst>
              <a:ext uri="{FF2B5EF4-FFF2-40B4-BE49-F238E27FC236}">
                <a16:creationId xmlns:a16="http://schemas.microsoft.com/office/drawing/2014/main" id="{AF6C44D3-ECDA-51DD-5030-A2E0D195F342}"/>
              </a:ext>
            </a:extLst>
          </p:cNvPr>
          <p:cNvSpPr txBox="1"/>
          <p:nvPr/>
        </p:nvSpPr>
        <p:spPr>
          <a:xfrm>
            <a:off x="0" y="1"/>
            <a:ext cx="7089058" cy="6732612"/>
          </a:xfrm>
          <a:prstGeom prst="rect">
            <a:avLst/>
          </a:prstGeom>
          <a:noFill/>
        </p:spPr>
        <p:txBody>
          <a:bodyPr wrap="square" rtlCol="0">
            <a:spAutoFit/>
          </a:bodyPr>
          <a:lstStyle/>
          <a:p>
            <a:endParaRPr lang="en-US" dirty="0">
              <a:latin typeface="+mj-lt"/>
            </a:endParaRPr>
          </a:p>
          <a:p>
            <a:r>
              <a:rPr lang="en-US" sz="4000" dirty="0">
                <a:solidFill>
                  <a:schemeClr val="bg1"/>
                </a:solidFill>
                <a:latin typeface="+mj-lt"/>
              </a:rPr>
              <a:t>Exhibit 1 Data Analysis</a:t>
            </a:r>
          </a:p>
          <a:p>
            <a:pPr marL="285750" indent="-285750">
              <a:buFont typeface="Arial" panose="020B0604020202020204" pitchFamily="34" charset="0"/>
              <a:buChar char="•"/>
            </a:pPr>
            <a:endParaRPr lang="en-US" dirty="0">
              <a:latin typeface="+mj-lt"/>
            </a:endParaRPr>
          </a:p>
          <a:p>
            <a:pPr marL="285750" indent="-285750">
              <a:buFont typeface="Arial" panose="020B0604020202020204" pitchFamily="34" charset="0"/>
              <a:buChar char="•"/>
            </a:pPr>
            <a:r>
              <a:rPr lang="en-US" sz="1700" dirty="0">
                <a:latin typeface="+mj-lt"/>
              </a:rPr>
              <a:t>The data compares Coca-Cola Company and PepsiCo, Inc from 1992 to 2001.</a:t>
            </a:r>
          </a:p>
          <a:p>
            <a:endParaRPr lang="en-US" sz="1700" dirty="0">
              <a:latin typeface="+mj-lt"/>
            </a:endParaRPr>
          </a:p>
          <a:p>
            <a:pPr marL="285750" indent="-285750">
              <a:buFont typeface="Arial" panose="020B0604020202020204" pitchFamily="34" charset="0"/>
              <a:buChar char="•"/>
            </a:pPr>
            <a:r>
              <a:rPr lang="en-US" sz="1700" dirty="0">
                <a:latin typeface="+mj-lt"/>
              </a:rPr>
              <a:t>It shows the historical EVATM Estimation and Return Comparisons for both companies.</a:t>
            </a:r>
          </a:p>
          <a:p>
            <a:endParaRPr lang="en-US" sz="1700" dirty="0">
              <a:latin typeface="+mj-lt"/>
            </a:endParaRPr>
          </a:p>
          <a:p>
            <a:r>
              <a:rPr lang="en-US" sz="1700" dirty="0">
                <a:latin typeface="+mj-lt"/>
              </a:rPr>
              <a:t>For Coca-Cola Company:</a:t>
            </a:r>
          </a:p>
          <a:p>
            <a:pPr marL="285750" indent="-285750">
              <a:buFont typeface="Arial" panose="020B0604020202020204" pitchFamily="34" charset="0"/>
              <a:buChar char="•"/>
            </a:pPr>
            <a:r>
              <a:rPr lang="en-US" sz="1700" dirty="0">
                <a:latin typeface="+mj-lt"/>
              </a:rPr>
              <a:t>The Return on Invested Capital (ROIC) was generally higher than Weighted Average Cost of Capital (WACC).</a:t>
            </a:r>
          </a:p>
          <a:p>
            <a:pPr marL="285750" indent="-285750">
              <a:buFont typeface="Arial" panose="020B0604020202020204" pitchFamily="34" charset="0"/>
              <a:buChar char="•"/>
            </a:pPr>
            <a:r>
              <a:rPr lang="en-US" sz="1700" dirty="0">
                <a:latin typeface="+mj-lt"/>
              </a:rPr>
              <a:t>The ROIC-WACC spread ranged from 6.4% to 21.4%.</a:t>
            </a:r>
          </a:p>
          <a:p>
            <a:pPr marL="285750" indent="-285750">
              <a:buFont typeface="Arial" panose="020B0604020202020204" pitchFamily="34" charset="0"/>
              <a:buChar char="•"/>
            </a:pPr>
            <a:r>
              <a:rPr lang="en-US" sz="1700" dirty="0">
                <a:latin typeface="+mj-lt"/>
              </a:rPr>
              <a:t>The Economic Value Added (EVA) ranged from 1.063 to 1.602.</a:t>
            </a:r>
          </a:p>
          <a:p>
            <a:endParaRPr lang="en-US" sz="1700" dirty="0">
              <a:latin typeface="+mj-lt"/>
            </a:endParaRPr>
          </a:p>
          <a:p>
            <a:r>
              <a:rPr lang="en-US" sz="1700" dirty="0">
                <a:latin typeface="+mj-lt"/>
              </a:rPr>
              <a:t>For PepsiCo, Inc:</a:t>
            </a:r>
          </a:p>
          <a:p>
            <a:pPr marL="285750" indent="-285750">
              <a:buFont typeface="Arial" panose="020B0604020202020204" pitchFamily="34" charset="0"/>
              <a:buChar char="•"/>
            </a:pPr>
            <a:r>
              <a:rPr lang="en-US" sz="1700" dirty="0">
                <a:latin typeface="+mj-lt"/>
              </a:rPr>
              <a:t>The ROIC was generally higher than WACC.</a:t>
            </a:r>
          </a:p>
          <a:p>
            <a:pPr marL="285750" indent="-285750">
              <a:buFont typeface="Arial" panose="020B0604020202020204" pitchFamily="34" charset="0"/>
              <a:buChar char="•"/>
            </a:pPr>
            <a:r>
              <a:rPr lang="en-US" sz="1700" dirty="0">
                <a:latin typeface="+mj-lt"/>
              </a:rPr>
              <a:t>The ROIC-WACC spread ranged from -2.8% to 22%.</a:t>
            </a:r>
          </a:p>
          <a:p>
            <a:pPr marL="285750" indent="-285750">
              <a:buFont typeface="Arial" panose="020B0604020202020204" pitchFamily="34" charset="0"/>
              <a:buChar char="•"/>
            </a:pPr>
            <a:r>
              <a:rPr lang="en-US" sz="1700" dirty="0">
                <a:latin typeface="+mj-lt"/>
              </a:rPr>
              <a:t>The EVA ranged from -916 to 1,201.</a:t>
            </a:r>
          </a:p>
          <a:p>
            <a:endParaRPr lang="en-US" sz="1700" dirty="0">
              <a:latin typeface="+mj-lt"/>
            </a:endParaRPr>
          </a:p>
          <a:p>
            <a:pPr marL="285750" indent="-285750">
              <a:buFont typeface="Arial" panose="020B0604020202020204" pitchFamily="34" charset="0"/>
              <a:buChar char="•"/>
            </a:pPr>
            <a:r>
              <a:rPr lang="en-US" sz="1650" dirty="0">
                <a:latin typeface="+mj-lt"/>
              </a:rPr>
              <a:t>Both companies experienced fluctuations in their financial performance over the years, with some years showing positive EVA and others showing negative EVA.</a:t>
            </a:r>
          </a:p>
        </p:txBody>
      </p:sp>
      <p:pic>
        <p:nvPicPr>
          <p:cNvPr id="7" name="Picture 6" descr="Calendar">
            <a:extLst>
              <a:ext uri="{FF2B5EF4-FFF2-40B4-BE49-F238E27FC236}">
                <a16:creationId xmlns:a16="http://schemas.microsoft.com/office/drawing/2014/main" id="{6384D1B9-DEED-90E3-56CB-DB353B6B426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089058" y="5668295"/>
            <a:ext cx="5102942" cy="1189704"/>
          </a:xfrm>
          <a:prstGeom prst="rect">
            <a:avLst/>
          </a:prstGeom>
        </p:spPr>
      </p:pic>
    </p:spTree>
    <p:extLst>
      <p:ext uri="{BB962C8B-B14F-4D97-AF65-F5344CB8AC3E}">
        <p14:creationId xmlns:p14="http://schemas.microsoft.com/office/powerpoint/2010/main" val="3075311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Content Placeholder 15" descr="Chart, line chart">
            <a:extLst>
              <a:ext uri="{FF2B5EF4-FFF2-40B4-BE49-F238E27FC236}">
                <a16:creationId xmlns:a16="http://schemas.microsoft.com/office/drawing/2014/main" id="{B4FA6DDE-FFB6-FCE1-D61F-27E5F460C5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77315" y="-1"/>
            <a:ext cx="4414685" cy="3428999"/>
          </a:xfrm>
        </p:spPr>
      </p:pic>
      <p:pic>
        <p:nvPicPr>
          <p:cNvPr id="18" name="Picture 17" descr="Chart, line chart&#10;&#10;Description automatically generated">
            <a:extLst>
              <a:ext uri="{FF2B5EF4-FFF2-40B4-BE49-F238E27FC236}">
                <a16:creationId xmlns:a16="http://schemas.microsoft.com/office/drawing/2014/main" id="{74086EC9-193C-EF68-E95E-77EC70C8C7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7314" y="3429000"/>
            <a:ext cx="4414685" cy="3429001"/>
          </a:xfrm>
          <a:prstGeom prst="rect">
            <a:avLst/>
          </a:prstGeom>
        </p:spPr>
      </p:pic>
      <p:sp>
        <p:nvSpPr>
          <p:cNvPr id="22" name="TextBox 21">
            <a:extLst>
              <a:ext uri="{FF2B5EF4-FFF2-40B4-BE49-F238E27FC236}">
                <a16:creationId xmlns:a16="http://schemas.microsoft.com/office/drawing/2014/main" id="{1ACEA4A0-3BFE-B6A1-DB3D-EE1E9C4FA9D9}"/>
              </a:ext>
            </a:extLst>
          </p:cNvPr>
          <p:cNvSpPr txBox="1"/>
          <p:nvPr/>
        </p:nvSpPr>
        <p:spPr>
          <a:xfrm>
            <a:off x="233263" y="-1"/>
            <a:ext cx="7544049" cy="6832640"/>
          </a:xfrm>
          <a:prstGeom prst="rect">
            <a:avLst/>
          </a:prstGeom>
          <a:noFill/>
        </p:spPr>
        <p:txBody>
          <a:bodyPr wrap="square" rtlCol="0">
            <a:spAutoFit/>
          </a:bodyPr>
          <a:lstStyle/>
          <a:p>
            <a:pPr algn="l"/>
            <a:r>
              <a:rPr lang="en-US" sz="4000" dirty="0">
                <a:solidFill>
                  <a:schemeClr val="bg1"/>
                </a:solidFill>
                <a:latin typeface="+mj-lt"/>
              </a:rPr>
              <a:t>Exhibit 2 Data Analysis</a:t>
            </a:r>
          </a:p>
          <a:p>
            <a:pPr algn="l">
              <a:buFont typeface="Arial" panose="020B0604020202020204" pitchFamily="34" charset="0"/>
              <a:buChar char="•"/>
            </a:pPr>
            <a:endParaRPr lang="en-US" sz="2000" dirty="0">
              <a:solidFill>
                <a:schemeClr val="tx1">
                  <a:lumMod val="95000"/>
                  <a:lumOff val="5000"/>
                </a:schemeClr>
              </a:solidFill>
              <a:latin typeface="+mj-lt"/>
            </a:endParaRPr>
          </a:p>
          <a:p>
            <a:pPr algn="l">
              <a:buFont typeface="Arial" panose="020B0604020202020204" pitchFamily="34" charset="0"/>
              <a:buChar char="•"/>
            </a:pPr>
            <a:r>
              <a:rPr lang="en-US" dirty="0">
                <a:solidFill>
                  <a:schemeClr val="tx1">
                    <a:lumMod val="95000"/>
                    <a:lumOff val="5000"/>
                  </a:schemeClr>
                </a:solidFill>
                <a:latin typeface="+mj-lt"/>
              </a:rPr>
              <a:t>The data </a:t>
            </a:r>
            <a:r>
              <a:rPr lang="en-US" b="0" i="0" dirty="0">
                <a:solidFill>
                  <a:schemeClr val="tx1">
                    <a:lumMod val="95000"/>
                    <a:lumOff val="5000"/>
                  </a:schemeClr>
                </a:solidFill>
                <a:effectLst/>
                <a:latin typeface="+mj-lt"/>
              </a:rPr>
              <a:t>compares Coca-Cola and PepsiCo in terms of return on assets (ROA) and return on equity (ROE) from 1981 to 1999.</a:t>
            </a:r>
          </a:p>
          <a:p>
            <a:pPr algn="l"/>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Both companies experienced a decline in ROA and ROE in the early 1980s, followed by a period of growth until the late 1990s.</a:t>
            </a:r>
          </a:p>
          <a:p>
            <a:pPr algn="l"/>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Coca-Cola had higher ROA and ROE than PepsiCo throughout most of the 1980s and early 1990s.</a:t>
            </a:r>
          </a:p>
          <a:p>
            <a:pPr algn="l"/>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PepsiCo's ROA and ROE surpassed Coca-Cola's in the mid-1990s and continued to rise until the end of the period examined.</a:t>
            </a:r>
          </a:p>
          <a:p>
            <a:pPr algn="l"/>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The difference between the two companies' ROA and ROE narrowed in the late 1990s, but PepsiCo remained ahead of Coca-Cola in both measures.</a:t>
            </a:r>
          </a:p>
          <a:p>
            <a:pPr algn="l"/>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Overall, PepsiCo performed better than Coca-Cola in terms of ROA and ROE during the period examined.</a:t>
            </a:r>
          </a:p>
        </p:txBody>
      </p:sp>
    </p:spTree>
    <p:extLst>
      <p:ext uri="{BB962C8B-B14F-4D97-AF65-F5344CB8AC3E}">
        <p14:creationId xmlns:p14="http://schemas.microsoft.com/office/powerpoint/2010/main" val="1962138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Content Placeholder 6" descr="A screenshot of a computer&#10;&#10;Description automatically generated with medium confidence">
            <a:extLst>
              <a:ext uri="{FF2B5EF4-FFF2-40B4-BE49-F238E27FC236}">
                <a16:creationId xmlns:a16="http://schemas.microsoft.com/office/drawing/2014/main" id="{A97CF224-0AC3-5A9D-EDD4-942AD7303E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31512" y="0"/>
            <a:ext cx="4660488" cy="4326193"/>
          </a:xfrm>
        </p:spPr>
      </p:pic>
      <p:sp>
        <p:nvSpPr>
          <p:cNvPr id="8" name="TextBox 7">
            <a:extLst>
              <a:ext uri="{FF2B5EF4-FFF2-40B4-BE49-F238E27FC236}">
                <a16:creationId xmlns:a16="http://schemas.microsoft.com/office/drawing/2014/main" id="{CE117745-F306-B34E-5AFC-DAAC3C31CCDB}"/>
              </a:ext>
            </a:extLst>
          </p:cNvPr>
          <p:cNvSpPr txBox="1"/>
          <p:nvPr/>
        </p:nvSpPr>
        <p:spPr>
          <a:xfrm>
            <a:off x="7531511" y="4326193"/>
            <a:ext cx="4660489" cy="2308324"/>
          </a:xfrm>
          <a:prstGeom prst="rect">
            <a:avLst/>
          </a:prstGeom>
          <a:noFill/>
        </p:spPr>
        <p:txBody>
          <a:bodyPr wrap="square" rtlCol="0">
            <a:spAutoFit/>
          </a:bodyPr>
          <a:lstStyle/>
          <a:p>
            <a:r>
              <a:rPr lang="en-US" sz="1400" dirty="0">
                <a:solidFill>
                  <a:schemeClr val="bg1"/>
                </a:solidFill>
                <a:latin typeface="Arial Black" panose="020B0A04020102020204" pitchFamily="34" charset="0"/>
              </a:rPr>
              <a:t>Exhibit 3 Key: </a:t>
            </a:r>
          </a:p>
          <a:p>
            <a:r>
              <a:rPr lang="en-US" sz="1000" dirty="0">
                <a:latin typeface="Arial Black" panose="020B0A04020102020204" pitchFamily="34" charset="0"/>
              </a:rPr>
              <a:t>1</a:t>
            </a:r>
            <a:r>
              <a:rPr lang="en-US" sz="1000" baseline="30000" dirty="0">
                <a:latin typeface="Arial Black" panose="020B0A04020102020204" pitchFamily="34" charset="0"/>
              </a:rPr>
              <a:t>st</a:t>
            </a:r>
            <a:r>
              <a:rPr lang="en-US" sz="1000" dirty="0">
                <a:latin typeface="Arial Black" panose="020B0A04020102020204" pitchFamily="34" charset="0"/>
              </a:rPr>
              <a:t> row: Gallonage (in millions)</a:t>
            </a:r>
          </a:p>
          <a:p>
            <a:endParaRPr lang="en-US" sz="1000" dirty="0">
              <a:latin typeface="Arial Black" panose="020B0A04020102020204" pitchFamily="34" charset="0"/>
            </a:endParaRPr>
          </a:p>
          <a:p>
            <a:r>
              <a:rPr lang="en-US" sz="1000" dirty="0">
                <a:latin typeface="Arial Black" panose="020B0A04020102020204" pitchFamily="34" charset="0"/>
              </a:rPr>
              <a:t>2</a:t>
            </a:r>
            <a:r>
              <a:rPr lang="en-US" sz="1000" baseline="30000" dirty="0">
                <a:latin typeface="Arial Black" panose="020B0A04020102020204" pitchFamily="34" charset="0"/>
              </a:rPr>
              <a:t>nd</a:t>
            </a:r>
            <a:r>
              <a:rPr lang="en-US" sz="1000" dirty="0">
                <a:latin typeface="Arial Black" panose="020B0A04020102020204" pitchFamily="34" charset="0"/>
              </a:rPr>
              <a:t> row: Growth</a:t>
            </a:r>
          </a:p>
          <a:p>
            <a:endParaRPr lang="en-US" sz="1000" dirty="0">
              <a:latin typeface="Arial Black" panose="020B0A04020102020204" pitchFamily="34" charset="0"/>
            </a:endParaRPr>
          </a:p>
          <a:p>
            <a:r>
              <a:rPr lang="en-US" sz="1000" dirty="0">
                <a:latin typeface="Arial Black" panose="020B0A04020102020204" pitchFamily="34" charset="0"/>
              </a:rPr>
              <a:t>3</a:t>
            </a:r>
            <a:r>
              <a:rPr lang="en-US" sz="1000" baseline="30000" dirty="0">
                <a:latin typeface="Arial Black" panose="020B0A04020102020204" pitchFamily="34" charset="0"/>
              </a:rPr>
              <a:t>rd</a:t>
            </a:r>
            <a:r>
              <a:rPr lang="en-US" sz="1000" dirty="0">
                <a:latin typeface="Arial Black" panose="020B0A04020102020204" pitchFamily="34" charset="0"/>
              </a:rPr>
              <a:t> row: Market Share</a:t>
            </a:r>
          </a:p>
          <a:p>
            <a:endParaRPr lang="en-US" sz="1000" dirty="0">
              <a:latin typeface="Arial Black" panose="020B0A04020102020204" pitchFamily="34" charset="0"/>
            </a:endParaRPr>
          </a:p>
          <a:p>
            <a:r>
              <a:rPr lang="en-US" sz="1000" dirty="0">
                <a:latin typeface="Arial Black" panose="020B0A04020102020204" pitchFamily="34" charset="0"/>
              </a:rPr>
              <a:t>4</a:t>
            </a:r>
            <a:r>
              <a:rPr lang="en-US" sz="1000" baseline="30000" dirty="0">
                <a:latin typeface="Arial Black" panose="020B0A04020102020204" pitchFamily="34" charset="0"/>
              </a:rPr>
              <a:t>th</a:t>
            </a:r>
            <a:r>
              <a:rPr lang="en-US" sz="1000" dirty="0">
                <a:latin typeface="Arial Black" panose="020B0A04020102020204" pitchFamily="34" charset="0"/>
              </a:rPr>
              <a:t> row: Market Share Gain/(Loss)</a:t>
            </a:r>
          </a:p>
          <a:p>
            <a:endParaRPr lang="en-US" sz="1000" dirty="0">
              <a:latin typeface="Arial Black" panose="020B0A04020102020204" pitchFamily="34" charset="0"/>
            </a:endParaRPr>
          </a:p>
          <a:p>
            <a:r>
              <a:rPr lang="en-US" sz="1000" dirty="0">
                <a:latin typeface="Arial Black" panose="020B0A04020102020204" pitchFamily="34" charset="0"/>
              </a:rPr>
              <a:t>Upper chunk: Coke</a:t>
            </a:r>
          </a:p>
          <a:p>
            <a:endParaRPr lang="en-US" sz="1000" dirty="0">
              <a:solidFill>
                <a:schemeClr val="tx1">
                  <a:lumMod val="95000"/>
                  <a:lumOff val="5000"/>
                </a:schemeClr>
              </a:solidFill>
              <a:latin typeface="Arial Black" panose="020B0A04020102020204" pitchFamily="34" charset="0"/>
            </a:endParaRPr>
          </a:p>
          <a:p>
            <a:r>
              <a:rPr lang="en-US" sz="1000" dirty="0">
                <a:solidFill>
                  <a:schemeClr val="tx1">
                    <a:lumMod val="95000"/>
                    <a:lumOff val="5000"/>
                  </a:schemeClr>
                </a:solidFill>
                <a:latin typeface="Arial Black" panose="020B0A04020102020204" pitchFamily="34" charset="0"/>
              </a:rPr>
              <a:t>Middle chunk: Pepsi</a:t>
            </a:r>
          </a:p>
          <a:p>
            <a:endParaRPr lang="en-US" sz="1000" dirty="0">
              <a:solidFill>
                <a:schemeClr val="tx1">
                  <a:lumMod val="95000"/>
                  <a:lumOff val="5000"/>
                </a:schemeClr>
              </a:solidFill>
              <a:latin typeface="Arial Black" panose="020B0A04020102020204" pitchFamily="34" charset="0"/>
            </a:endParaRPr>
          </a:p>
          <a:p>
            <a:r>
              <a:rPr lang="en-US" sz="1000" dirty="0">
                <a:solidFill>
                  <a:schemeClr val="tx1">
                    <a:lumMod val="95000"/>
                    <a:lumOff val="5000"/>
                  </a:schemeClr>
                </a:solidFill>
                <a:latin typeface="Arial Black" panose="020B0A04020102020204" pitchFamily="34" charset="0"/>
              </a:rPr>
              <a:t>Lower chunk: Soft drink industry</a:t>
            </a:r>
          </a:p>
        </p:txBody>
      </p:sp>
      <p:sp>
        <p:nvSpPr>
          <p:cNvPr id="5" name="TextBox 4">
            <a:extLst>
              <a:ext uri="{FF2B5EF4-FFF2-40B4-BE49-F238E27FC236}">
                <a16:creationId xmlns:a16="http://schemas.microsoft.com/office/drawing/2014/main" id="{2B0496D1-8C33-748C-CC2C-BBCC752CDF4C}"/>
              </a:ext>
            </a:extLst>
          </p:cNvPr>
          <p:cNvSpPr txBox="1"/>
          <p:nvPr/>
        </p:nvSpPr>
        <p:spPr>
          <a:xfrm>
            <a:off x="65315" y="0"/>
            <a:ext cx="7466196" cy="6655668"/>
          </a:xfrm>
          <a:prstGeom prst="rect">
            <a:avLst/>
          </a:prstGeom>
          <a:noFill/>
        </p:spPr>
        <p:txBody>
          <a:bodyPr wrap="square" rtlCol="0">
            <a:spAutoFit/>
          </a:bodyPr>
          <a:lstStyle/>
          <a:p>
            <a:pPr algn="l"/>
            <a:r>
              <a:rPr lang="en-US" sz="4000" dirty="0">
                <a:solidFill>
                  <a:schemeClr val="bg1"/>
                </a:solidFill>
                <a:latin typeface="+mj-lt"/>
              </a:rPr>
              <a:t>Exhibit 3 Data Analysis</a:t>
            </a:r>
            <a:endParaRPr lang="en-US" sz="4000" b="0" i="0" dirty="0">
              <a:solidFill>
                <a:schemeClr val="bg1"/>
              </a:solidFill>
              <a:effectLst/>
              <a:latin typeface="+mj-lt"/>
            </a:endParaRPr>
          </a:p>
          <a:p>
            <a:pPr algn="l">
              <a:buFont typeface="Arial" panose="020B0604020202020204" pitchFamily="34" charset="0"/>
              <a:buChar char="•"/>
            </a:pPr>
            <a:endParaRPr lang="en-US" sz="1900" dirty="0">
              <a:solidFill>
                <a:schemeClr val="tx1">
                  <a:lumMod val="95000"/>
                  <a:lumOff val="5000"/>
                </a:schemeClr>
              </a:solidFill>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Exhibit 3 shows the market shares and volume of Coca-Cola and PepsiCo in the soft-drink market from 1990 to 2000.</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The total soft-drink market volume increased from 11,996.1 million in 1990 to 15,328.0 million in 2000.</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Coca-Cola had a higher market share than PepsiCo throughout the period.</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Both Coca-Cola and PepsiCo increased their market shares from 1990 to 1995, with Coca-Cola's share ranging from 4.0% to 6.0% and PepsiCo's share ranging from 33.1% to 42.9%.</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From 1995 to 2000, Coca-Cola's market share remained relatively stable, while PepsiCo's market share fluctuated between 30.6% and 31.0%.</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Despite fluctuations in market share, both Coca-Cola and PepsiCo experienced growth in volume from 1990 to 2000.</a:t>
            </a:r>
          </a:p>
        </p:txBody>
      </p:sp>
    </p:spTree>
    <p:extLst>
      <p:ext uri="{BB962C8B-B14F-4D97-AF65-F5344CB8AC3E}">
        <p14:creationId xmlns:p14="http://schemas.microsoft.com/office/powerpoint/2010/main" val="3286207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9D490C-CFFF-3274-C8FF-1B8871DE4F29}"/>
              </a:ext>
            </a:extLst>
          </p:cNvPr>
          <p:cNvPicPr>
            <a:picLocks noChangeAspect="1"/>
          </p:cNvPicPr>
          <p:nvPr/>
        </p:nvPicPr>
        <p:blipFill>
          <a:blip r:embed="rId2"/>
          <a:stretch>
            <a:fillRect/>
          </a:stretch>
        </p:blipFill>
        <p:spPr>
          <a:xfrm>
            <a:off x="8030548" y="0"/>
            <a:ext cx="4161452" cy="4203583"/>
          </a:xfrm>
          <a:prstGeom prst="rect">
            <a:avLst/>
          </a:prstGeom>
        </p:spPr>
      </p:pic>
      <p:sp>
        <p:nvSpPr>
          <p:cNvPr id="13" name="TextBox 12">
            <a:extLst>
              <a:ext uri="{FF2B5EF4-FFF2-40B4-BE49-F238E27FC236}">
                <a16:creationId xmlns:a16="http://schemas.microsoft.com/office/drawing/2014/main" id="{B67834FA-99B2-E3C8-3BBD-38DD0F20C4B6}"/>
              </a:ext>
            </a:extLst>
          </p:cNvPr>
          <p:cNvSpPr txBox="1"/>
          <p:nvPr/>
        </p:nvSpPr>
        <p:spPr>
          <a:xfrm>
            <a:off x="149290" y="233265"/>
            <a:ext cx="7881258" cy="6494085"/>
          </a:xfrm>
          <a:prstGeom prst="rect">
            <a:avLst/>
          </a:prstGeom>
          <a:noFill/>
        </p:spPr>
        <p:txBody>
          <a:bodyPr wrap="square" rtlCol="0">
            <a:spAutoFit/>
          </a:bodyPr>
          <a:lstStyle/>
          <a:p>
            <a:pPr algn="l"/>
            <a:r>
              <a:rPr lang="en-US" sz="4000" dirty="0">
                <a:solidFill>
                  <a:schemeClr val="bg1"/>
                </a:solidFill>
                <a:latin typeface="Arial Black" panose="020B0A04020102020204" pitchFamily="34" charset="0"/>
              </a:rPr>
              <a:t>Exhibit 4 Data Analysis</a:t>
            </a:r>
            <a:endParaRPr lang="en-US" sz="4000" b="0" i="0" dirty="0">
              <a:solidFill>
                <a:schemeClr val="bg1"/>
              </a:solidFill>
              <a:effectLst/>
              <a:latin typeface="Arial Black" panose="020B0A04020102020204" pitchFamily="34" charset="0"/>
            </a:endParaRPr>
          </a:p>
          <a:p>
            <a:pPr algn="l">
              <a:buFont typeface="Arial" panose="020B0604020202020204" pitchFamily="34" charset="0"/>
              <a:buChar char="•"/>
            </a:pPr>
            <a:endParaRPr lang="en-US" sz="1900" dirty="0">
              <a:solidFill>
                <a:schemeClr val="tx1">
                  <a:lumMod val="95000"/>
                  <a:lumOff val="5000"/>
                </a:schemeClr>
              </a:solidFill>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Exhibit 4 provides financial ratios and growth data for Coke vs Pepsi in 2001.</a:t>
            </a:r>
          </a:p>
          <a:p>
            <a:pPr algn="l">
              <a:buFont typeface="Arial" panose="020B0604020202020204" pitchFamily="34" charset="0"/>
              <a:buChar char="•"/>
            </a:pPr>
            <a:endParaRPr lang="en-US" sz="170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Activity analysis shows that Coke had lower average days outstanding and higher fixed asset and total asset turnover than Pepsi.</a:t>
            </a:r>
          </a:p>
          <a:p>
            <a:pPr algn="l">
              <a:buFont typeface="Arial" panose="020B0604020202020204" pitchFamily="34" charset="0"/>
              <a:buChar char="•"/>
            </a:pPr>
            <a:endParaRPr lang="en-US" sz="170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Liquidity analysis shows that Pepsi had a higher current and cash ratio than Coke, but Coke had a higher cash from operations ratio.</a:t>
            </a:r>
          </a:p>
          <a:p>
            <a:pPr algn="l">
              <a:buFont typeface="Arial" panose="020B0604020202020204" pitchFamily="34" charset="0"/>
              <a:buChar char="•"/>
            </a:pPr>
            <a:endParaRPr lang="en-US" sz="170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Long-term debt and solvency analysis shows that Coke had a lower debt-equity ratio and higher times interest earned and fixed charge coverage ratio than Pepsi.</a:t>
            </a:r>
          </a:p>
          <a:p>
            <a:pPr algn="l">
              <a:buFont typeface="Arial" panose="020B0604020202020204" pitchFamily="34" charset="0"/>
              <a:buChar char="•"/>
            </a:pPr>
            <a:endParaRPr lang="en-US" sz="170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Profitability analysis shows that Coke had higher operating margin, net profit margin, ROA, and ROE than Pepsi.</a:t>
            </a:r>
          </a:p>
          <a:p>
            <a:pPr algn="l">
              <a:buFont typeface="Arial" panose="020B0604020202020204" pitchFamily="34" charset="0"/>
              <a:buChar char="•"/>
            </a:pPr>
            <a:endParaRPr lang="en-US" sz="170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1700" b="0" i="0" dirty="0">
                <a:solidFill>
                  <a:schemeClr val="tx1">
                    <a:lumMod val="95000"/>
                    <a:lumOff val="5000"/>
                  </a:schemeClr>
                </a:solidFill>
                <a:effectLst/>
                <a:latin typeface="Arial Black" panose="020B0A04020102020204" pitchFamily="34" charset="0"/>
              </a:rPr>
              <a:t>Growth analysis shows that both companies had positive sales growth, but Pepsi had negative growth in net income before unusual gain loss and adjusted NOPAT.</a:t>
            </a:r>
          </a:p>
        </p:txBody>
      </p:sp>
      <p:pic>
        <p:nvPicPr>
          <p:cNvPr id="12" name="Picture 11" descr="Text&#10;&#10;Description automatically generated with low confidence">
            <a:extLst>
              <a:ext uri="{FF2B5EF4-FFF2-40B4-BE49-F238E27FC236}">
                <a16:creationId xmlns:a16="http://schemas.microsoft.com/office/drawing/2014/main" id="{1CF1965C-C9F2-6F0A-A191-41F1CF39507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030547" y="4203584"/>
            <a:ext cx="4161453" cy="2682352"/>
          </a:xfrm>
          <a:prstGeom prst="rect">
            <a:avLst/>
          </a:prstGeom>
        </p:spPr>
      </p:pic>
    </p:spTree>
    <p:extLst>
      <p:ext uri="{BB962C8B-B14F-4D97-AF65-F5344CB8AC3E}">
        <p14:creationId xmlns:p14="http://schemas.microsoft.com/office/powerpoint/2010/main" val="938079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D294D1C-7596-EC16-87BE-B63B9CBADAAD}"/>
              </a:ext>
            </a:extLst>
          </p:cNvPr>
          <p:cNvPicPr>
            <a:picLocks noGrp="1" noChangeAspect="1"/>
          </p:cNvPicPr>
          <p:nvPr>
            <p:ph idx="1"/>
          </p:nvPr>
        </p:nvPicPr>
        <p:blipFill>
          <a:blip r:embed="rId2"/>
          <a:stretch>
            <a:fillRect/>
          </a:stretch>
        </p:blipFill>
        <p:spPr>
          <a:xfrm>
            <a:off x="7374194" y="1"/>
            <a:ext cx="4817806" cy="4118668"/>
          </a:xfrm>
          <a:prstGeom prst="rect">
            <a:avLst/>
          </a:prstGeom>
        </p:spPr>
      </p:pic>
      <p:sp>
        <p:nvSpPr>
          <p:cNvPr id="7" name="TextBox 6">
            <a:extLst>
              <a:ext uri="{FF2B5EF4-FFF2-40B4-BE49-F238E27FC236}">
                <a16:creationId xmlns:a16="http://schemas.microsoft.com/office/drawing/2014/main" id="{15775F8F-2409-1C17-3EA0-F5E606F85A9E}"/>
              </a:ext>
            </a:extLst>
          </p:cNvPr>
          <p:cNvSpPr txBox="1"/>
          <p:nvPr/>
        </p:nvSpPr>
        <p:spPr>
          <a:xfrm>
            <a:off x="245806" y="363794"/>
            <a:ext cx="7128388" cy="6540252"/>
          </a:xfrm>
          <a:prstGeom prst="rect">
            <a:avLst/>
          </a:prstGeom>
          <a:noFill/>
        </p:spPr>
        <p:txBody>
          <a:bodyPr wrap="square" rtlCol="0">
            <a:spAutoFit/>
          </a:bodyPr>
          <a:lstStyle/>
          <a:p>
            <a:pPr algn="l"/>
            <a:r>
              <a:rPr lang="en-US" sz="4000" b="0" i="0" dirty="0">
                <a:solidFill>
                  <a:schemeClr val="bg1"/>
                </a:solidFill>
                <a:effectLst/>
                <a:latin typeface="+mj-lt"/>
              </a:rPr>
              <a:t>Exhibit 5 Data Analysis</a:t>
            </a:r>
          </a:p>
          <a:p>
            <a:pPr algn="l">
              <a:buFont typeface="Arial" panose="020B0604020202020204" pitchFamily="34" charset="0"/>
              <a:buChar char="•"/>
            </a:pPr>
            <a:endParaRPr lang="en-US" sz="1900" dirty="0">
              <a:solidFill>
                <a:schemeClr val="tx1">
                  <a:lumMod val="95000"/>
                  <a:lumOff val="5000"/>
                </a:schemeClr>
              </a:solidFill>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Exhibit 5 shows financial ratios for PepsiCo from 1994 to 2000</a:t>
            </a:r>
          </a:p>
          <a:p>
            <a:pPr algn="l">
              <a:buFont typeface="Arial" panose="020B0604020202020204" pitchFamily="34" charset="0"/>
              <a:buChar char="•"/>
            </a:pPr>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Activity analysis shows mixed results for PepsiCo's average days outstanding and asset turnover</a:t>
            </a:r>
          </a:p>
          <a:p>
            <a:pPr algn="l">
              <a:buFont typeface="Arial" panose="020B0604020202020204" pitchFamily="34" charset="0"/>
              <a:buChar char="•"/>
            </a:pPr>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Liquidity analysis shows a decreasing trend in PepsiCo's current ratio and cash ratio over the years</a:t>
            </a:r>
          </a:p>
          <a:p>
            <a:pPr algn="l">
              <a:buFont typeface="Arial" panose="020B0604020202020204" pitchFamily="34" charset="0"/>
              <a:buChar char="•"/>
            </a:pPr>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Long-term debt and solvency analysis shows a decreasing trend in PepsiCo's debt equity ratio and an increasing trend in its capital expenditure ratio</a:t>
            </a:r>
          </a:p>
          <a:p>
            <a:pPr algn="l">
              <a:buFont typeface="Arial" panose="020B0604020202020204" pitchFamily="34" charset="0"/>
              <a:buChar char="•"/>
            </a:pPr>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Profitability analysis shows an increasing trend in PepsiCo's ROA and ROE, along with an increasing trend in financial leverage effect</a:t>
            </a:r>
          </a:p>
          <a:p>
            <a:pPr algn="l">
              <a:buFont typeface="Arial" panose="020B0604020202020204" pitchFamily="34" charset="0"/>
              <a:buChar char="•"/>
            </a:pPr>
            <a:endParaRPr lang="en-US" b="0" i="0" dirty="0">
              <a:solidFill>
                <a:schemeClr val="tx1">
                  <a:lumMod val="95000"/>
                  <a:lumOff val="5000"/>
                </a:schemeClr>
              </a:solidFill>
              <a:effectLst/>
              <a:latin typeface="+mj-lt"/>
            </a:endParaRPr>
          </a:p>
          <a:p>
            <a:pPr algn="l">
              <a:buFont typeface="Arial" panose="020B0604020202020204" pitchFamily="34" charset="0"/>
              <a:buChar char="•"/>
            </a:pPr>
            <a:r>
              <a:rPr lang="en-US" b="0" i="0" dirty="0">
                <a:solidFill>
                  <a:schemeClr val="tx1">
                    <a:lumMod val="95000"/>
                    <a:lumOff val="5000"/>
                  </a:schemeClr>
                </a:solidFill>
                <a:effectLst/>
                <a:latin typeface="+mj-lt"/>
              </a:rPr>
              <a:t>Growth analysis shows a mixed trend in PepsiCo's sales and net income, with fluctuations in adjusted NOPAT and operating income.</a:t>
            </a:r>
          </a:p>
        </p:txBody>
      </p:sp>
      <p:pic>
        <p:nvPicPr>
          <p:cNvPr id="3" name="Picture 2">
            <a:extLst>
              <a:ext uri="{FF2B5EF4-FFF2-40B4-BE49-F238E27FC236}">
                <a16:creationId xmlns:a16="http://schemas.microsoft.com/office/drawing/2014/main" id="{9026B91E-D48D-3614-2BDE-B9D489FB5BA8}"/>
              </a:ext>
            </a:extLst>
          </p:cNvPr>
          <p:cNvPicPr>
            <a:picLocks noChangeAspect="1"/>
          </p:cNvPicPr>
          <p:nvPr/>
        </p:nvPicPr>
        <p:blipFill>
          <a:blip r:embed="rId3"/>
          <a:stretch>
            <a:fillRect/>
          </a:stretch>
        </p:blipFill>
        <p:spPr>
          <a:xfrm>
            <a:off x="7374193" y="4118669"/>
            <a:ext cx="4817805" cy="2739329"/>
          </a:xfrm>
          <a:prstGeom prst="rect">
            <a:avLst/>
          </a:prstGeom>
        </p:spPr>
      </p:pic>
    </p:spTree>
    <p:extLst>
      <p:ext uri="{BB962C8B-B14F-4D97-AF65-F5344CB8AC3E}">
        <p14:creationId xmlns:p14="http://schemas.microsoft.com/office/powerpoint/2010/main" val="366115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Content Placeholder 6" descr="A picture containing text, receipt&#10;&#10;Description automatically generated">
            <a:extLst>
              <a:ext uri="{FF2B5EF4-FFF2-40B4-BE49-F238E27FC236}">
                <a16:creationId xmlns:a16="http://schemas.microsoft.com/office/drawing/2014/main" id="{07ACE751-8FA2-E41E-D408-61E2BB90A6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95305" y="0"/>
            <a:ext cx="4296696" cy="4865897"/>
          </a:xfrm>
        </p:spPr>
      </p:pic>
      <p:sp>
        <p:nvSpPr>
          <p:cNvPr id="3" name="TextBox 2">
            <a:extLst>
              <a:ext uri="{FF2B5EF4-FFF2-40B4-BE49-F238E27FC236}">
                <a16:creationId xmlns:a16="http://schemas.microsoft.com/office/drawing/2014/main" id="{678C409C-5F51-B609-0FA2-359754EE1E00}"/>
              </a:ext>
            </a:extLst>
          </p:cNvPr>
          <p:cNvSpPr txBox="1"/>
          <p:nvPr/>
        </p:nvSpPr>
        <p:spPr>
          <a:xfrm>
            <a:off x="117985" y="176981"/>
            <a:ext cx="7767514" cy="6740307"/>
          </a:xfrm>
          <a:prstGeom prst="rect">
            <a:avLst/>
          </a:prstGeom>
          <a:noFill/>
        </p:spPr>
        <p:txBody>
          <a:bodyPr wrap="square" rtlCol="0">
            <a:spAutoFit/>
          </a:bodyPr>
          <a:lstStyle/>
          <a:p>
            <a:r>
              <a:rPr lang="en-US" sz="4000" dirty="0">
                <a:solidFill>
                  <a:schemeClr val="bg1"/>
                </a:solidFill>
                <a:latin typeface="Arial Black" panose="020B0A04020102020204" pitchFamily="34" charset="0"/>
              </a:rPr>
              <a:t> Exhibit 6 Data Analysis</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Exhibit 6 presents income statement and balance sheet forecasts for Coca-Cola for three years: 2001, 2002, and 2003.</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Net operating revenue is expected to increase each year, from $20.223 billion in 2001 to $22.508 billion in 2003.</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Gross profit is also expected to increase each year, from $14.131 billion in 2001 to $15.991 billion in 2003.</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Selling expense and general and administrative expense are both expected to increase each year.</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Investments in bottlers, marketable securities, and PP&amp;E are all expected to increase each year.</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Net income is expected to increase each year, from $1.923 billion in 2001 to $1.812 billion in 2003.</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The balance sheet shows that cash and equivalents, AR, and inventory are all expected to increase each year, while prepaid expenses and other are expected to decrease.</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Total liabilities and equity are expected to increase each year, from $21.434 billion in 2001 to $22.311 billion in 2003.</a:t>
            </a:r>
          </a:p>
          <a:p>
            <a:pPr marL="171450" indent="-171450">
              <a:buFont typeface="Arial" panose="020B0604020202020204" pitchFamily="34" charset="0"/>
              <a:buChar char="•"/>
            </a:pPr>
            <a:endParaRPr lang="en-US" sz="1400" dirty="0">
              <a:latin typeface="Arial Black" panose="020B0A04020102020204" pitchFamily="34" charset="0"/>
            </a:endParaRPr>
          </a:p>
          <a:p>
            <a:pPr marL="171450" indent="-171450">
              <a:buFont typeface="Arial" panose="020B0604020202020204" pitchFamily="34" charset="0"/>
              <a:buChar char="•"/>
            </a:pPr>
            <a:r>
              <a:rPr lang="en-US" sz="1400" dirty="0">
                <a:latin typeface="Arial Black" panose="020B0A04020102020204" pitchFamily="34" charset="0"/>
              </a:rPr>
              <a:t>Depreciation, amortization, cash taxes, and capital expenditures are all provided as supplemental information.</a:t>
            </a:r>
          </a:p>
        </p:txBody>
      </p:sp>
      <p:pic>
        <p:nvPicPr>
          <p:cNvPr id="8" name="Picture 7" descr="A picture containing text, red, road, outdoor&#10;&#10;Description automatically generated">
            <a:extLst>
              <a:ext uri="{FF2B5EF4-FFF2-40B4-BE49-F238E27FC236}">
                <a16:creationId xmlns:a16="http://schemas.microsoft.com/office/drawing/2014/main" id="{B7319D0A-29C5-85C5-7649-7B906FF2E1A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890402" y="4865896"/>
            <a:ext cx="4296696" cy="1992103"/>
          </a:xfrm>
          <a:prstGeom prst="rect">
            <a:avLst/>
          </a:prstGeom>
        </p:spPr>
      </p:pic>
    </p:spTree>
    <p:extLst>
      <p:ext uri="{BB962C8B-B14F-4D97-AF65-F5344CB8AC3E}">
        <p14:creationId xmlns:p14="http://schemas.microsoft.com/office/powerpoint/2010/main" val="1879619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Content Placeholder 6" descr="A close-up of a document&#10;&#10;Description automatically generated with medium confidence">
            <a:extLst>
              <a:ext uri="{FF2B5EF4-FFF2-40B4-BE49-F238E27FC236}">
                <a16:creationId xmlns:a16="http://schemas.microsoft.com/office/drawing/2014/main" id="{16BB88CC-4029-C71B-D261-36FA8F8958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5136" y="0"/>
            <a:ext cx="4286863" cy="5018905"/>
          </a:xfrm>
        </p:spPr>
      </p:pic>
      <p:sp>
        <p:nvSpPr>
          <p:cNvPr id="3" name="TextBox 2">
            <a:extLst>
              <a:ext uri="{FF2B5EF4-FFF2-40B4-BE49-F238E27FC236}">
                <a16:creationId xmlns:a16="http://schemas.microsoft.com/office/drawing/2014/main" id="{62662028-E494-0DC8-9CA7-74458C0B9FFE}"/>
              </a:ext>
            </a:extLst>
          </p:cNvPr>
          <p:cNvSpPr txBox="1"/>
          <p:nvPr/>
        </p:nvSpPr>
        <p:spPr>
          <a:xfrm>
            <a:off x="206475" y="186813"/>
            <a:ext cx="7698661" cy="6863417"/>
          </a:xfrm>
          <a:prstGeom prst="rect">
            <a:avLst/>
          </a:prstGeom>
          <a:noFill/>
        </p:spPr>
        <p:txBody>
          <a:bodyPr wrap="square" rtlCol="0">
            <a:spAutoFit/>
          </a:bodyPr>
          <a:lstStyle/>
          <a:p>
            <a:pPr algn="l"/>
            <a:r>
              <a:rPr lang="en-US" sz="4000" b="0" i="0" dirty="0">
                <a:solidFill>
                  <a:schemeClr val="bg1"/>
                </a:solidFill>
                <a:effectLst/>
                <a:latin typeface="+mj-lt"/>
              </a:rPr>
              <a:t>Exhibit 7 Data Analysis</a:t>
            </a:r>
          </a:p>
          <a:p>
            <a:pPr algn="l">
              <a:buFont typeface="Arial" panose="020B0604020202020204" pitchFamily="34" charset="0"/>
              <a:buChar char="•"/>
            </a:pPr>
            <a:endParaRPr lang="en-US" dirty="0">
              <a:solidFill>
                <a:schemeClr val="tx1">
                  <a:lumMod val="95000"/>
                  <a:lumOff val="5000"/>
                </a:schemeClr>
              </a:solidFill>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Exhibit 7 presents financial data for PepsiCo and Coke in 2001</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The income statement shows revenues for beverages, Frito-Lay, and Quaker Foods</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PepsiCo's operating profit is broken down by segment and includes synergies and corporate expenses</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The balance sheet includes information on cash, investments, AR, inventories, and other assets</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Total assets, liabilities, and equity are provided</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Net income and provision for taxes are also reported</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Depreciation, amortization, cash taxes, and capital expenditures are presented as supplemental information</a:t>
            </a:r>
          </a:p>
          <a:p>
            <a:pPr algn="l">
              <a:buFont typeface="Arial" panose="020B0604020202020204" pitchFamily="34" charset="0"/>
              <a:buChar char="•"/>
            </a:pPr>
            <a:endParaRPr lang="en-US" sz="1750" b="0" i="0" dirty="0">
              <a:solidFill>
                <a:schemeClr val="tx1">
                  <a:lumMod val="95000"/>
                  <a:lumOff val="5000"/>
                </a:schemeClr>
              </a:solidFill>
              <a:effectLst/>
              <a:latin typeface="+mj-lt"/>
            </a:endParaRPr>
          </a:p>
          <a:p>
            <a:pPr algn="l">
              <a:buFont typeface="Arial" panose="020B0604020202020204" pitchFamily="34" charset="0"/>
              <a:buChar char="•"/>
            </a:pPr>
            <a:r>
              <a:rPr lang="en-US" sz="1750" b="0" i="0" dirty="0">
                <a:solidFill>
                  <a:schemeClr val="tx1">
                    <a:lumMod val="95000"/>
                    <a:lumOff val="5000"/>
                  </a:schemeClr>
                </a:solidFill>
                <a:effectLst/>
                <a:latin typeface="+mj-lt"/>
              </a:rPr>
              <a:t>The end of 2000 had an accumulated goodwill amortization of $751 million</a:t>
            </a:r>
          </a:p>
        </p:txBody>
      </p:sp>
      <p:pic>
        <p:nvPicPr>
          <p:cNvPr id="8" name="Picture 7" descr="A person wearing a hat&#10;&#10;Description automatically generated with low confidence">
            <a:extLst>
              <a:ext uri="{FF2B5EF4-FFF2-40B4-BE49-F238E27FC236}">
                <a16:creationId xmlns:a16="http://schemas.microsoft.com/office/drawing/2014/main" id="{303E78AD-5737-92B2-71B3-E7FBB965ED1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905136" y="5018905"/>
            <a:ext cx="4286863" cy="1839095"/>
          </a:xfrm>
          <a:prstGeom prst="rect">
            <a:avLst/>
          </a:prstGeom>
        </p:spPr>
      </p:pic>
    </p:spTree>
    <p:extLst>
      <p:ext uri="{BB962C8B-B14F-4D97-AF65-F5344CB8AC3E}">
        <p14:creationId xmlns:p14="http://schemas.microsoft.com/office/powerpoint/2010/main" val="2207760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6" name="Content Placeholder 5" descr="Chart, histogram">
            <a:extLst>
              <a:ext uri="{FF2B5EF4-FFF2-40B4-BE49-F238E27FC236}">
                <a16:creationId xmlns:a16="http://schemas.microsoft.com/office/drawing/2014/main" id="{74AEBEE5-DACB-0BC4-CC49-668BCF75DA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538452" y="0"/>
            <a:ext cx="5653548" cy="5144791"/>
          </a:xfrm>
        </p:spPr>
      </p:pic>
      <p:sp>
        <p:nvSpPr>
          <p:cNvPr id="14" name="TextBox 13">
            <a:extLst>
              <a:ext uri="{FF2B5EF4-FFF2-40B4-BE49-F238E27FC236}">
                <a16:creationId xmlns:a16="http://schemas.microsoft.com/office/drawing/2014/main" id="{D09A6F8E-AA83-CCF1-8B53-FAE03D192A26}"/>
              </a:ext>
            </a:extLst>
          </p:cNvPr>
          <p:cNvSpPr txBox="1"/>
          <p:nvPr/>
        </p:nvSpPr>
        <p:spPr>
          <a:xfrm>
            <a:off x="88491" y="147485"/>
            <a:ext cx="6449962" cy="6394058"/>
          </a:xfrm>
          <a:prstGeom prst="rect">
            <a:avLst/>
          </a:prstGeom>
          <a:noFill/>
        </p:spPr>
        <p:txBody>
          <a:bodyPr wrap="square" rtlCol="0">
            <a:spAutoFit/>
          </a:bodyPr>
          <a:lstStyle/>
          <a:p>
            <a:pPr algn="l"/>
            <a:r>
              <a:rPr lang="en-US" sz="3800" b="0" i="0" dirty="0">
                <a:solidFill>
                  <a:schemeClr val="bg1"/>
                </a:solidFill>
                <a:effectLst/>
                <a:latin typeface="Arial Black" panose="020B0A04020102020204" pitchFamily="34" charset="0"/>
              </a:rPr>
              <a:t>Exhibit 8 Data Analysis</a:t>
            </a:r>
          </a:p>
          <a:p>
            <a:pPr algn="l">
              <a:buFont typeface="Arial" panose="020B0604020202020204" pitchFamily="34" charset="0"/>
              <a:buChar char="•"/>
            </a:pPr>
            <a:endParaRPr lang="en-US" sz="2300" dirty="0">
              <a:solidFill>
                <a:schemeClr val="tx1">
                  <a:lumMod val="95000"/>
                  <a:lumOff val="5000"/>
                </a:schemeClr>
              </a:solidFill>
              <a:latin typeface="Arial Black" panose="020B0A04020102020204" pitchFamily="34" charset="0"/>
            </a:endParaRPr>
          </a:p>
          <a:p>
            <a:pPr algn="l">
              <a:buFont typeface="Arial" panose="020B0604020202020204" pitchFamily="34" charset="0"/>
              <a:buChar char="•"/>
            </a:pPr>
            <a:r>
              <a:rPr lang="en-US" sz="2050" b="0" i="0" dirty="0">
                <a:solidFill>
                  <a:schemeClr val="tx1">
                    <a:lumMod val="95000"/>
                    <a:lumOff val="5000"/>
                  </a:schemeClr>
                </a:solidFill>
                <a:effectLst/>
                <a:latin typeface="Arial Black" panose="020B0A04020102020204" pitchFamily="34" charset="0"/>
              </a:rPr>
              <a:t>Exhibit 8 compares the share price performance of Coca-Cola Co. and PepsiCo Inc. relative to S&amp;P 500 from January 1993 to December 2000.</a:t>
            </a:r>
          </a:p>
          <a:p>
            <a:pPr algn="l">
              <a:buFont typeface="Arial" panose="020B0604020202020204" pitchFamily="34" charset="0"/>
              <a:buChar char="•"/>
            </a:pPr>
            <a:endParaRPr lang="en-US" sz="205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2050" b="0" i="0" dirty="0">
                <a:solidFill>
                  <a:schemeClr val="tx1">
                    <a:lumMod val="95000"/>
                    <a:lumOff val="5000"/>
                  </a:schemeClr>
                </a:solidFill>
                <a:effectLst/>
                <a:latin typeface="Arial Black" panose="020B0A04020102020204" pitchFamily="34" charset="0"/>
              </a:rPr>
              <a:t>The exhibit includes a graph of the share price performance of both companies and the S&amp;P 500 index.</a:t>
            </a:r>
          </a:p>
          <a:p>
            <a:pPr algn="l">
              <a:buFont typeface="Arial" panose="020B0604020202020204" pitchFamily="34" charset="0"/>
              <a:buChar char="•"/>
            </a:pPr>
            <a:endParaRPr lang="en-US" sz="205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2050" b="0" i="0" dirty="0">
                <a:solidFill>
                  <a:schemeClr val="tx1">
                    <a:lumMod val="95000"/>
                    <a:lumOff val="5000"/>
                  </a:schemeClr>
                </a:solidFill>
                <a:effectLst/>
                <a:latin typeface="Arial Black" panose="020B0A04020102020204" pitchFamily="34" charset="0"/>
              </a:rPr>
              <a:t>The exhibit also includes the current yields on U.S. Treasuries with various maturities ranging from 3-month to 20-year.</a:t>
            </a:r>
          </a:p>
          <a:p>
            <a:pPr algn="l">
              <a:buFont typeface="Arial" panose="020B0604020202020204" pitchFamily="34" charset="0"/>
              <a:buChar char="•"/>
            </a:pPr>
            <a:endParaRPr lang="en-US" sz="2050" b="0" i="0" dirty="0">
              <a:solidFill>
                <a:schemeClr val="tx1">
                  <a:lumMod val="95000"/>
                  <a:lumOff val="5000"/>
                </a:schemeClr>
              </a:solidFill>
              <a:effectLst/>
              <a:latin typeface="Arial Black" panose="020B0A04020102020204" pitchFamily="34" charset="0"/>
            </a:endParaRPr>
          </a:p>
          <a:p>
            <a:pPr algn="l">
              <a:buFont typeface="Arial" panose="020B0604020202020204" pitchFamily="34" charset="0"/>
              <a:buChar char="•"/>
            </a:pPr>
            <a:r>
              <a:rPr lang="en-US" sz="2050" b="0" i="0" dirty="0">
                <a:solidFill>
                  <a:schemeClr val="tx1">
                    <a:lumMod val="95000"/>
                    <a:lumOff val="5000"/>
                  </a:schemeClr>
                </a:solidFill>
                <a:effectLst/>
                <a:latin typeface="Arial Black" panose="020B0A04020102020204" pitchFamily="34" charset="0"/>
              </a:rPr>
              <a:t>Historical equity risk premiums (1926-1999) are provided, with the geometric mean at 5.90% and arithmetic mean at 7.50%.</a:t>
            </a:r>
          </a:p>
        </p:txBody>
      </p:sp>
      <p:pic>
        <p:nvPicPr>
          <p:cNvPr id="3" name="Picture 2" descr="A picture containing text, sky, outdoor, sign&#10;&#10;Description automatically generated">
            <a:extLst>
              <a:ext uri="{FF2B5EF4-FFF2-40B4-BE49-F238E27FC236}">
                <a16:creationId xmlns:a16="http://schemas.microsoft.com/office/drawing/2014/main" id="{027DB5EE-74EB-F64B-0B68-628D8772320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38452" y="5144791"/>
            <a:ext cx="5653548" cy="1713209"/>
          </a:xfrm>
          <a:prstGeom prst="rect">
            <a:avLst/>
          </a:prstGeom>
        </p:spPr>
      </p:pic>
    </p:spTree>
    <p:extLst>
      <p:ext uri="{BB962C8B-B14F-4D97-AF65-F5344CB8AC3E}">
        <p14:creationId xmlns:p14="http://schemas.microsoft.com/office/powerpoint/2010/main" val="2299432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a:xfrm>
            <a:off x="838200" y="255640"/>
            <a:ext cx="10515600" cy="1160206"/>
          </a:xfrm>
        </p:spPr>
        <p:txBody>
          <a:bodyPr>
            <a:noAutofit/>
          </a:bodyPr>
          <a:lstStyle/>
          <a:p>
            <a:br>
              <a:rPr lang="en-US" sz="3100" dirty="0"/>
            </a:br>
            <a:br>
              <a:rPr lang="en-US" sz="2400" dirty="0"/>
            </a:br>
            <a:r>
              <a:rPr lang="en-US" sz="2400" dirty="0">
                <a:solidFill>
                  <a:schemeClr val="bg1"/>
                </a:solidFill>
                <a:latin typeface="+mj-lt"/>
              </a:rPr>
              <a:t>What was the beverage industry trend in 2000? How are two companies doing in the noncarbonated beverages market so far? </a:t>
            </a:r>
            <a:br>
              <a:rPr lang="en-US" sz="800" dirty="0">
                <a:latin typeface="+mj-lt"/>
              </a:rPr>
            </a:br>
            <a:br>
              <a:rPr lang="en-US" sz="3100" dirty="0"/>
            </a:br>
            <a:endParaRPr lang="en-US" sz="3100" dirty="0"/>
          </a:p>
        </p:txBody>
      </p:sp>
      <p:sp>
        <p:nvSpPr>
          <p:cNvPr id="4" name="Content Placeholder 3">
            <a:extLst>
              <a:ext uri="{FF2B5EF4-FFF2-40B4-BE49-F238E27FC236}">
                <a16:creationId xmlns:a16="http://schemas.microsoft.com/office/drawing/2014/main" id="{2DAF7188-2AF4-85D4-0841-8EB76678188A}"/>
              </a:ext>
            </a:extLst>
          </p:cNvPr>
          <p:cNvSpPr>
            <a:spLocks noGrp="1"/>
          </p:cNvSpPr>
          <p:nvPr>
            <p:ph idx="1"/>
          </p:nvPr>
        </p:nvSpPr>
        <p:spPr>
          <a:xfrm>
            <a:off x="471948" y="1415846"/>
            <a:ext cx="10881852" cy="4077928"/>
          </a:xfrm>
        </p:spPr>
        <p:txBody>
          <a:bodyPr>
            <a:noAutofit/>
          </a:bodyPr>
          <a:lstStyle/>
          <a:p>
            <a:r>
              <a:rPr lang="en-US" sz="1800" dirty="0"/>
              <a:t>In 2000, the beverage industry trend was shifting towards noncarbonated beverages. PepsiCo's acquisition of Quaker Oats, including Gatorade, consolidated its lead in the noncarbonated-beverage market.</a:t>
            </a:r>
          </a:p>
          <a:p>
            <a:r>
              <a:rPr lang="en-US" sz="1800" dirty="0"/>
              <a:t>Coca-Cola faced difficulties in becoming a dominant player in the noncarbonated-beverage market. </a:t>
            </a:r>
          </a:p>
          <a:p>
            <a:r>
              <a:rPr lang="en-US" sz="1800" dirty="0"/>
              <a:t>PepsiCo had strong brands, including Gatorade, Aquafina, Tropicana, and Lipton, positioning it to threaten Coca-Cola's lead in the domestic beverage category. </a:t>
            </a:r>
          </a:p>
          <a:p>
            <a:r>
              <a:rPr lang="en-US" sz="1800" dirty="0"/>
              <a:t>PepsiCo was estimated to control around 33% of the U.S. noncarbonated-beverage market after the Gatorade acquisition, while Coca-Cola controlled 21%. </a:t>
            </a:r>
          </a:p>
          <a:p>
            <a:r>
              <a:rPr lang="en-US" sz="1800" dirty="0"/>
              <a:t>Coca-Cola's new CEO, Douglas Daft, acknowledged the importance of becoming a dominant player in the noncarbonated-beverage market and worked to come up with new, noncarbonated products. </a:t>
            </a:r>
          </a:p>
          <a:p>
            <a:r>
              <a:rPr lang="en-US" sz="1800" dirty="0"/>
              <a:t>It remained to be seen whether Coca-Cola would be able to return to its pre-1998 profit margins.</a:t>
            </a:r>
          </a:p>
        </p:txBody>
      </p:sp>
      <p:pic>
        <p:nvPicPr>
          <p:cNvPr id="6" name="Picture 5" descr="Graphical user interface, application&#10;&#10;Description automatically generated">
            <a:extLst>
              <a:ext uri="{FF2B5EF4-FFF2-40B4-BE49-F238E27FC236}">
                <a16:creationId xmlns:a16="http://schemas.microsoft.com/office/drawing/2014/main" id="{E9E996AA-8D9E-ED9B-7D4C-C41E4279F83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94668" y="5614218"/>
            <a:ext cx="2133600" cy="1243781"/>
          </a:xfrm>
          <a:prstGeom prst="rect">
            <a:avLst/>
          </a:prstGeom>
        </p:spPr>
      </p:pic>
      <p:pic>
        <p:nvPicPr>
          <p:cNvPr id="9" name="Picture 8" descr="Logo&#10;&#10;Description automatically generated">
            <a:extLst>
              <a:ext uri="{FF2B5EF4-FFF2-40B4-BE49-F238E27FC236}">
                <a16:creationId xmlns:a16="http://schemas.microsoft.com/office/drawing/2014/main" id="{5FA4405D-FFF1-AD34-6322-ED24FE61EBF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0106" y="5614219"/>
            <a:ext cx="2133600" cy="1243781"/>
          </a:xfrm>
          <a:prstGeom prst="rect">
            <a:avLst/>
          </a:prstGeom>
        </p:spPr>
      </p:pic>
      <p:pic>
        <p:nvPicPr>
          <p:cNvPr id="13" name="Picture 12" descr="Logo, company name&#10;&#10;Description automatically generated">
            <a:extLst>
              <a:ext uri="{FF2B5EF4-FFF2-40B4-BE49-F238E27FC236}">
                <a16:creationId xmlns:a16="http://schemas.microsoft.com/office/drawing/2014/main" id="{54E41C6D-11E0-F6F8-645C-E7F733F16C1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128268" y="5614217"/>
            <a:ext cx="2133600" cy="1243782"/>
          </a:xfrm>
          <a:prstGeom prst="rect">
            <a:avLst/>
          </a:prstGeom>
        </p:spPr>
      </p:pic>
      <p:pic>
        <p:nvPicPr>
          <p:cNvPr id="16" name="Picture 15" descr="A picture containing orange, oranges, fruit drink&#10;&#10;Description automatically generated">
            <a:extLst>
              <a:ext uri="{FF2B5EF4-FFF2-40B4-BE49-F238E27FC236}">
                <a16:creationId xmlns:a16="http://schemas.microsoft.com/office/drawing/2014/main" id="{1CEB0FA2-75A8-961D-3C17-754BE8F6C59F}"/>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6261868" y="5614217"/>
            <a:ext cx="1426958" cy="1243783"/>
          </a:xfrm>
          <a:prstGeom prst="rect">
            <a:avLst/>
          </a:prstGeom>
        </p:spPr>
      </p:pic>
      <p:pic>
        <p:nvPicPr>
          <p:cNvPr id="19" name="Picture 18" descr="Logo&#10;&#10;Description automatically generated with medium confidence">
            <a:extLst>
              <a:ext uri="{FF2B5EF4-FFF2-40B4-BE49-F238E27FC236}">
                <a16:creationId xmlns:a16="http://schemas.microsoft.com/office/drawing/2014/main" id="{0DB84DAC-41CB-771C-281D-95403E0AD257}"/>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7688826" y="5614216"/>
            <a:ext cx="1769806" cy="1243783"/>
          </a:xfrm>
          <a:prstGeom prst="rect">
            <a:avLst/>
          </a:prstGeom>
        </p:spPr>
      </p:pic>
      <p:pic>
        <p:nvPicPr>
          <p:cNvPr id="22" name="Picture 21" descr="A picture containing text, bottle, beverage, soft drink&#10;&#10;Description automatically generated">
            <a:extLst>
              <a:ext uri="{FF2B5EF4-FFF2-40B4-BE49-F238E27FC236}">
                <a16:creationId xmlns:a16="http://schemas.microsoft.com/office/drawing/2014/main" id="{B15253E3-2857-1776-7C43-36C4B19E0998}"/>
              </a:ext>
            </a:extLst>
          </p:cNvPr>
          <p:cNvPicPr>
            <a:picLocks noChangeAspect="1"/>
          </p:cNvPicPr>
          <p:nvPr/>
        </p:nvPicPr>
        <p:blipFill>
          <a:blip r:embed="rId12">
            <a:extLst>
              <a:ext uri="{28A0092B-C50C-407E-A947-70E740481C1C}">
                <a14:useLocalDpi xmlns:a14="http://schemas.microsoft.com/office/drawing/2010/main" val="0"/>
              </a:ext>
              <a:ext uri="{837473B0-CC2E-450A-ABE3-18F120FF3D39}">
                <a1611:picAttrSrcUrl xmlns:a1611="http://schemas.microsoft.com/office/drawing/2016/11/main" r:id="rId13"/>
              </a:ext>
            </a:extLst>
          </a:blip>
          <a:stretch>
            <a:fillRect/>
          </a:stretch>
        </p:blipFill>
        <p:spPr>
          <a:xfrm>
            <a:off x="9458632" y="5614216"/>
            <a:ext cx="2733368" cy="1243784"/>
          </a:xfrm>
          <a:prstGeom prst="rect">
            <a:avLst/>
          </a:prstGeom>
        </p:spPr>
      </p:pic>
    </p:spTree>
    <p:extLst>
      <p:ext uri="{BB962C8B-B14F-4D97-AF65-F5344CB8AC3E}">
        <p14:creationId xmlns:p14="http://schemas.microsoft.com/office/powerpoint/2010/main" val="3029527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a:xfrm>
            <a:off x="838200" y="365125"/>
            <a:ext cx="10515600" cy="959245"/>
          </a:xfrm>
        </p:spPr>
        <p:txBody>
          <a:bodyPr>
            <a:noAutofit/>
          </a:bodyPr>
          <a:lstStyle/>
          <a:p>
            <a:br>
              <a:rPr lang="en-US" sz="3600" dirty="0"/>
            </a:br>
            <a:r>
              <a:rPr lang="en-US" sz="2400" dirty="0">
                <a:solidFill>
                  <a:schemeClr val="bg1"/>
                </a:solidFill>
                <a:latin typeface="+mj-lt"/>
              </a:rPr>
              <a:t>Based on the ratio analysis represented in Exhibits 4 and 5, which company is in a better financial shape? Why?</a:t>
            </a:r>
            <a:br>
              <a:rPr lang="en-US" sz="3600" dirty="0"/>
            </a:br>
            <a:endParaRPr lang="en-US" sz="3600" dirty="0"/>
          </a:p>
        </p:txBody>
      </p:sp>
      <p:graphicFrame>
        <p:nvGraphicFramePr>
          <p:cNvPr id="5" name="Content Placeholder 2">
            <a:extLst>
              <a:ext uri="{FF2B5EF4-FFF2-40B4-BE49-F238E27FC236}">
                <a16:creationId xmlns:a16="http://schemas.microsoft.com/office/drawing/2014/main" id="{98F90B03-44F4-4DB5-0C95-B15493E6DE4E}"/>
              </a:ext>
            </a:extLst>
          </p:cNvPr>
          <p:cNvGraphicFramePr>
            <a:graphicFrameLocks noGrp="1"/>
          </p:cNvGraphicFramePr>
          <p:nvPr>
            <p:ph idx="1"/>
            <p:extLst>
              <p:ext uri="{D42A27DB-BD31-4B8C-83A1-F6EECF244321}">
                <p14:modId xmlns:p14="http://schemas.microsoft.com/office/powerpoint/2010/main" val="2652525078"/>
              </p:ext>
            </p:extLst>
          </p:nvPr>
        </p:nvGraphicFramePr>
        <p:xfrm>
          <a:off x="836676" y="1892062"/>
          <a:ext cx="10515600"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638E3E5-6439-850B-3965-9BED8675AB6C}"/>
              </a:ext>
            </a:extLst>
          </p:cNvPr>
          <p:cNvSpPr txBox="1"/>
          <p:nvPr/>
        </p:nvSpPr>
        <p:spPr>
          <a:xfrm>
            <a:off x="550608" y="1324370"/>
            <a:ext cx="10687664" cy="5586145"/>
          </a:xfrm>
          <a:prstGeom prst="rect">
            <a:avLst/>
          </a:prstGeom>
          <a:noFill/>
        </p:spPr>
        <p:txBody>
          <a:bodyPr wrap="square" rtlCol="0">
            <a:spAutoFit/>
          </a:bodyPr>
          <a:lstStyle/>
          <a:p>
            <a:pPr marL="285750" lvl="0" indent="-285750">
              <a:buFont typeface="Arial" panose="020B0604020202020204" pitchFamily="34" charset="0"/>
              <a:buChar char="•"/>
            </a:pPr>
            <a:r>
              <a:rPr lang="en-US" sz="1700" dirty="0">
                <a:latin typeface="+mj-lt"/>
              </a:rPr>
              <a:t>Exhibits 4 and 5 provide ratio analysis of Coca-Cola and PepsiCo for the years 2001-2003 based on EVA (economic value added). </a:t>
            </a:r>
          </a:p>
          <a:p>
            <a:pPr marL="285750" lvl="0" indent="-285750">
              <a:buFont typeface="Arial" panose="020B0604020202020204" pitchFamily="34" charset="0"/>
              <a:buChar char="•"/>
            </a:pPr>
            <a:endParaRPr lang="en-US" sz="1700" dirty="0">
              <a:latin typeface="+mj-lt"/>
            </a:endParaRPr>
          </a:p>
          <a:p>
            <a:pPr marL="285750" lvl="0" indent="-285750">
              <a:buFont typeface="Arial" panose="020B0604020202020204" pitchFamily="34" charset="0"/>
              <a:buChar char="•"/>
            </a:pPr>
            <a:r>
              <a:rPr lang="en-US" sz="1700" dirty="0">
                <a:latin typeface="+mj-lt"/>
              </a:rPr>
              <a:t>EVA measures a company's true economic profit by subtracting the cost of capital from its operating profit. </a:t>
            </a:r>
            <a:br>
              <a:rPr lang="en-US" sz="1700" dirty="0">
                <a:latin typeface="+mj-lt"/>
              </a:rPr>
            </a:br>
            <a:endParaRPr lang="en-US" sz="1700" dirty="0">
              <a:latin typeface="+mj-lt"/>
            </a:endParaRPr>
          </a:p>
          <a:p>
            <a:pPr marL="285750" lvl="0" indent="-285750">
              <a:buFont typeface="Arial" panose="020B0604020202020204" pitchFamily="34" charset="0"/>
              <a:buChar char="•"/>
            </a:pPr>
            <a:r>
              <a:rPr lang="en-US" sz="1700" dirty="0">
                <a:latin typeface="+mj-lt"/>
              </a:rPr>
              <a:t>PepsiCo appears to be in better financial shape than Coca-Cola during the analyzed years, based on the EVA analysis.</a:t>
            </a:r>
            <a:br>
              <a:rPr lang="en-US" sz="1700" dirty="0">
                <a:latin typeface="+mj-lt"/>
              </a:rPr>
            </a:br>
            <a:endParaRPr lang="en-US" sz="1700" dirty="0">
              <a:latin typeface="+mj-lt"/>
            </a:endParaRPr>
          </a:p>
          <a:p>
            <a:pPr marL="285750" lvl="0" indent="-285750">
              <a:buFont typeface="Arial" panose="020B0604020202020204" pitchFamily="34" charset="0"/>
              <a:buChar char="•"/>
            </a:pPr>
            <a:r>
              <a:rPr lang="en-US" sz="1700" dirty="0">
                <a:latin typeface="+mj-lt"/>
              </a:rPr>
              <a:t> In all three years, PepsiCo had a higher EVA than Coca-Cola, indicating that it generated more economic value for shareholders. </a:t>
            </a:r>
            <a:br>
              <a:rPr lang="en-US" sz="1700" dirty="0">
                <a:latin typeface="+mj-lt"/>
              </a:rPr>
            </a:br>
            <a:endParaRPr lang="en-US" sz="1700" dirty="0">
              <a:latin typeface="+mj-lt"/>
            </a:endParaRPr>
          </a:p>
          <a:p>
            <a:pPr marL="285750" lvl="0" indent="-285750">
              <a:buFont typeface="Arial" panose="020B0604020202020204" pitchFamily="34" charset="0"/>
              <a:buChar char="•"/>
            </a:pPr>
            <a:r>
              <a:rPr lang="en-US" sz="1700" dirty="0">
                <a:latin typeface="+mj-lt"/>
              </a:rPr>
              <a:t>Possible reason for PepsiCo's better financial performance is its strong presence in the noncarbonated-beverage market, particularly after the acquisition of Quaker Oats and Gatorade. </a:t>
            </a:r>
            <a:br>
              <a:rPr lang="en-US" sz="1700" dirty="0">
                <a:latin typeface="+mj-lt"/>
              </a:rPr>
            </a:br>
            <a:endParaRPr lang="en-US" sz="1700" dirty="0">
              <a:latin typeface="+mj-lt"/>
            </a:endParaRPr>
          </a:p>
          <a:p>
            <a:pPr marL="285750" lvl="0" indent="-285750">
              <a:buFont typeface="Arial" panose="020B0604020202020204" pitchFamily="34" charset="0"/>
              <a:buChar char="•"/>
            </a:pPr>
            <a:r>
              <a:rPr lang="en-US" sz="1700" dirty="0">
                <a:latin typeface="+mj-lt"/>
              </a:rPr>
              <a:t>Coca-Cola was struggling with declining sales and profitability in its core soft-drink brands. </a:t>
            </a:r>
            <a:br>
              <a:rPr lang="en-US" sz="1700" dirty="0">
                <a:latin typeface="+mj-lt"/>
              </a:rPr>
            </a:br>
            <a:endParaRPr lang="en-US" sz="1700" dirty="0">
              <a:latin typeface="+mj-lt"/>
            </a:endParaRPr>
          </a:p>
          <a:p>
            <a:pPr marL="285750" lvl="0" indent="-285750">
              <a:buFont typeface="Arial" panose="020B0604020202020204" pitchFamily="34" charset="0"/>
              <a:buChar char="•"/>
            </a:pPr>
            <a:r>
              <a:rPr lang="en-US" sz="1700" dirty="0">
                <a:latin typeface="+mj-lt"/>
              </a:rPr>
              <a:t>EVA analysis is one measure of financial performance and does not provide a complete picture of the companies' overall financial health.</a:t>
            </a:r>
          </a:p>
        </p:txBody>
      </p:sp>
    </p:spTree>
    <p:extLst>
      <p:ext uri="{BB962C8B-B14F-4D97-AF65-F5344CB8AC3E}">
        <p14:creationId xmlns:p14="http://schemas.microsoft.com/office/powerpoint/2010/main" val="2518324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a:xfrm>
            <a:off x="838200" y="557188"/>
            <a:ext cx="10515600" cy="873405"/>
          </a:xfrm>
        </p:spPr>
        <p:txBody>
          <a:bodyPr>
            <a:normAutofit fontScale="90000"/>
          </a:bodyPr>
          <a:lstStyle/>
          <a:p>
            <a:br>
              <a:rPr lang="en-US" sz="3600" dirty="0"/>
            </a:br>
            <a:br>
              <a:rPr lang="en-US" sz="3600" dirty="0"/>
            </a:br>
            <a:br>
              <a:rPr lang="en-US" sz="3600" dirty="0"/>
            </a:br>
            <a:r>
              <a:rPr lang="en-US" sz="2700" dirty="0">
                <a:solidFill>
                  <a:schemeClr val="bg1"/>
                </a:solidFill>
                <a:latin typeface="+mj-lt"/>
              </a:rPr>
              <a:t>How is the EVA of Coca-Cola and Pepsi compared from a historical point of view?</a:t>
            </a:r>
            <a:br>
              <a:rPr lang="en-US" sz="3600" dirty="0">
                <a:latin typeface="+mj-lt"/>
              </a:rPr>
            </a:br>
            <a:br>
              <a:rPr lang="en-US" sz="3600" dirty="0"/>
            </a:br>
            <a:br>
              <a:rPr lang="en-US" sz="3600" dirty="0"/>
            </a:br>
            <a:endParaRPr lang="en-US" sz="3600" dirty="0"/>
          </a:p>
        </p:txBody>
      </p:sp>
      <p:sp>
        <p:nvSpPr>
          <p:cNvPr id="4" name="Content Placeholder 3">
            <a:extLst>
              <a:ext uri="{FF2B5EF4-FFF2-40B4-BE49-F238E27FC236}">
                <a16:creationId xmlns:a16="http://schemas.microsoft.com/office/drawing/2014/main" id="{255D0B8C-14C0-5A61-2DBC-1393F355E416}"/>
              </a:ext>
            </a:extLst>
          </p:cNvPr>
          <p:cNvSpPr>
            <a:spLocks noGrp="1"/>
          </p:cNvSpPr>
          <p:nvPr>
            <p:ph idx="1"/>
          </p:nvPr>
        </p:nvSpPr>
        <p:spPr>
          <a:xfrm>
            <a:off x="838200" y="1442091"/>
            <a:ext cx="10515600" cy="4143439"/>
          </a:xfrm>
        </p:spPr>
        <p:txBody>
          <a:bodyPr>
            <a:normAutofit fontScale="47500" lnSpcReduction="20000"/>
          </a:bodyPr>
          <a:lstStyle/>
          <a:p>
            <a:r>
              <a:rPr lang="en-US" sz="3400" dirty="0">
                <a:latin typeface="Arial Black" panose="020B0A04020102020204" pitchFamily="34" charset="0"/>
              </a:rPr>
              <a:t>It was unclear whether Coca-Cola would continue to outperform PepsiCo in terms of EVA in the next few years.</a:t>
            </a:r>
          </a:p>
          <a:p>
            <a:endParaRPr lang="en-US" sz="3400" dirty="0">
              <a:latin typeface="Arial Black" panose="020B0A04020102020204" pitchFamily="34" charset="0"/>
            </a:endParaRPr>
          </a:p>
          <a:p>
            <a:r>
              <a:rPr lang="en-US" sz="3400" dirty="0"/>
              <a:t>Coca-Cola consistently outperformed PepsiCo in terms of EVA from 1993 to 1998. Coca-Cola faced challenges in the early 2000s, such as the Asian financial crisis, South America's difficulties, and Russia's devaluation of the ruble. </a:t>
            </a:r>
          </a:p>
          <a:p>
            <a:endParaRPr lang="en-US" sz="3400" dirty="0"/>
          </a:p>
          <a:p>
            <a:r>
              <a:rPr lang="en-US" sz="3400" dirty="0"/>
              <a:t>Business mistakes by Doug </a:t>
            </a:r>
            <a:r>
              <a:rPr lang="en-US" sz="3400" dirty="0" err="1"/>
              <a:t>Ivester</a:t>
            </a:r>
            <a:r>
              <a:rPr lang="en-US" sz="3400" dirty="0"/>
              <a:t>, CEO from 1997 to 1999, resulted in a 41% decrease in net income for Coca-Cola. </a:t>
            </a:r>
          </a:p>
          <a:p>
            <a:endParaRPr lang="en-US" sz="3400" dirty="0"/>
          </a:p>
          <a:p>
            <a:r>
              <a:rPr lang="en-US" sz="3400" dirty="0"/>
              <a:t>PepsiCo had strong brands in the noncarbonated-beverage segment such as Aquafina, Tropicana, and Lipton. PepsiCo gained control of 83.6% of the sports drink market by acquiring Quaker Oats, including Gatorade. </a:t>
            </a:r>
          </a:p>
          <a:p>
            <a:endParaRPr lang="en-US" sz="3400" dirty="0"/>
          </a:p>
          <a:p>
            <a:r>
              <a:rPr lang="en-US" sz="3400" dirty="0"/>
              <a:t>After the Gatorade acquisition, analysts estimated that PepsiCo would control around 33% of the U.S. noncarbonated-beverage market, far ahead of Coca-Cola's 21%.</a:t>
            </a:r>
            <a:br>
              <a:rPr lang="en-US" sz="1400" dirty="0">
                <a:latin typeface="+mj-lt"/>
              </a:rPr>
            </a:br>
            <a:endParaRPr lang="en-US" sz="1400" dirty="0"/>
          </a:p>
        </p:txBody>
      </p:sp>
      <p:pic>
        <p:nvPicPr>
          <p:cNvPr id="13" name="Picture 12" descr="Logo">
            <a:extLst>
              <a:ext uri="{FF2B5EF4-FFF2-40B4-BE49-F238E27FC236}">
                <a16:creationId xmlns:a16="http://schemas.microsoft.com/office/drawing/2014/main" id="{F196DB19-C0CB-BD55-460F-016D35F57B5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 y="5608527"/>
            <a:ext cx="3548226" cy="1249473"/>
          </a:xfrm>
          <a:prstGeom prst="rect">
            <a:avLst/>
          </a:prstGeom>
        </p:spPr>
      </p:pic>
      <p:pic>
        <p:nvPicPr>
          <p:cNvPr id="16" name="Picture 15">
            <a:extLst>
              <a:ext uri="{FF2B5EF4-FFF2-40B4-BE49-F238E27FC236}">
                <a16:creationId xmlns:a16="http://schemas.microsoft.com/office/drawing/2014/main" id="{84A2CF61-D2C0-CD1A-9740-618ABD3A8B65}"/>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952918" y="5608527"/>
            <a:ext cx="3236034" cy="1260971"/>
          </a:xfrm>
          <a:prstGeom prst="rect">
            <a:avLst/>
          </a:prstGeom>
        </p:spPr>
      </p:pic>
      <p:pic>
        <p:nvPicPr>
          <p:cNvPr id="19" name="Picture 18" descr="A picture containing bottle, orange, beverage&#10;&#10;Description automatically generated">
            <a:extLst>
              <a:ext uri="{FF2B5EF4-FFF2-40B4-BE49-F238E27FC236}">
                <a16:creationId xmlns:a16="http://schemas.microsoft.com/office/drawing/2014/main" id="{6FABC18B-C171-5332-9BB4-3E3420D720C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3548225" y="5597028"/>
            <a:ext cx="5404693" cy="1260971"/>
          </a:xfrm>
          <a:prstGeom prst="rect">
            <a:avLst/>
          </a:prstGeom>
        </p:spPr>
      </p:pic>
    </p:spTree>
    <p:extLst>
      <p:ext uri="{BB962C8B-B14F-4D97-AF65-F5344CB8AC3E}">
        <p14:creationId xmlns:p14="http://schemas.microsoft.com/office/powerpoint/2010/main" val="499487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a:xfrm>
            <a:off x="838200" y="172065"/>
            <a:ext cx="10515600" cy="1276861"/>
          </a:xfrm>
        </p:spPr>
        <p:txBody>
          <a:bodyPr>
            <a:noAutofit/>
          </a:bodyPr>
          <a:lstStyle/>
          <a:p>
            <a:br>
              <a:rPr lang="en-US" sz="3700" dirty="0"/>
            </a:br>
            <a:br>
              <a:rPr lang="en-US" sz="3700" dirty="0"/>
            </a:br>
            <a:br>
              <a:rPr lang="en-US" sz="3700" dirty="0"/>
            </a:br>
            <a:br>
              <a:rPr lang="en-US" sz="3700" dirty="0">
                <a:solidFill>
                  <a:schemeClr val="bg1"/>
                </a:solidFill>
              </a:rPr>
            </a:br>
            <a:r>
              <a:rPr lang="en-US" sz="2400" dirty="0">
                <a:solidFill>
                  <a:schemeClr val="bg1"/>
                </a:solidFill>
                <a:latin typeface="+mj-lt"/>
              </a:rPr>
              <a:t>Is the historic trend reversed for Pepsi? What company is the best investment based on the EVA analysis? </a:t>
            </a:r>
            <a:br>
              <a:rPr lang="en-US" sz="800" dirty="0">
                <a:solidFill>
                  <a:schemeClr val="bg1"/>
                </a:solidFill>
                <a:latin typeface="Arial Black" panose="020B0A04020102020204" pitchFamily="34" charset="0"/>
              </a:rPr>
            </a:br>
            <a:br>
              <a:rPr lang="en-US" sz="800" dirty="0">
                <a:latin typeface="Arial Black" panose="020B0A04020102020204" pitchFamily="34" charset="0"/>
              </a:rPr>
            </a:br>
            <a:br>
              <a:rPr lang="en-US" sz="800" dirty="0">
                <a:latin typeface="Arial Black" panose="020B0A04020102020204" pitchFamily="34" charset="0"/>
              </a:rPr>
            </a:br>
            <a:br>
              <a:rPr lang="en-US" sz="800" dirty="0"/>
            </a:br>
            <a:br>
              <a:rPr lang="en-US" sz="3700" dirty="0"/>
            </a:br>
            <a:br>
              <a:rPr lang="en-US" sz="3700" dirty="0"/>
            </a:br>
            <a:endParaRPr lang="en-US" sz="3700" dirty="0"/>
          </a:p>
        </p:txBody>
      </p:sp>
      <p:sp>
        <p:nvSpPr>
          <p:cNvPr id="4" name="Content Placeholder 3">
            <a:extLst>
              <a:ext uri="{FF2B5EF4-FFF2-40B4-BE49-F238E27FC236}">
                <a16:creationId xmlns:a16="http://schemas.microsoft.com/office/drawing/2014/main" id="{EC05E90E-E87A-20B9-3D74-B9A1DB19CEA6}"/>
              </a:ext>
            </a:extLst>
          </p:cNvPr>
          <p:cNvSpPr>
            <a:spLocks noGrp="1"/>
          </p:cNvSpPr>
          <p:nvPr>
            <p:ph idx="1"/>
          </p:nvPr>
        </p:nvSpPr>
        <p:spPr>
          <a:xfrm>
            <a:off x="838200" y="1448926"/>
            <a:ext cx="10515600" cy="5237009"/>
          </a:xfrm>
        </p:spPr>
        <p:txBody>
          <a:bodyPr>
            <a:normAutofit lnSpcReduction="10000"/>
          </a:bodyPr>
          <a:lstStyle/>
          <a:p>
            <a:r>
              <a:rPr kumimoji="0" lang="en-US" sz="2000" b="0" i="0" u="none" strike="noStrike" kern="1200" cap="none" spc="0" normalizeH="0" baseline="0" noProof="0" dirty="0">
                <a:ln>
                  <a:noFill/>
                </a:ln>
                <a:solidFill>
                  <a:prstClr val="white"/>
                </a:solidFill>
                <a:effectLst/>
                <a:uLnTx/>
                <a:uFillTx/>
                <a:latin typeface="+mj-lt"/>
                <a:ea typeface="+mj-ea"/>
                <a:cs typeface="+mj-cs"/>
              </a:rPr>
              <a:t>Coca-Cola and Pepsi have positive EVA values over three years, indicating that they are creating value for their shareholders.</a:t>
            </a:r>
            <a:br>
              <a:rPr kumimoji="0" lang="en-US" sz="2000" b="0" i="0" u="none" strike="noStrike" kern="1200" cap="none" spc="0" normalizeH="0" baseline="0" noProof="0" dirty="0">
                <a:ln>
                  <a:noFill/>
                </a:ln>
                <a:solidFill>
                  <a:prstClr val="white"/>
                </a:solidFill>
                <a:effectLst/>
                <a:uLnTx/>
                <a:uFillTx/>
                <a:latin typeface="+mj-lt"/>
                <a:ea typeface="+mj-ea"/>
                <a:cs typeface="+mj-cs"/>
              </a:rPr>
            </a:br>
            <a:r>
              <a:rPr kumimoji="0" lang="en-US" sz="2000" b="0" i="0" u="none" strike="noStrike" kern="1200" cap="none" spc="0" normalizeH="0" baseline="0" noProof="0" dirty="0">
                <a:ln>
                  <a:noFill/>
                </a:ln>
                <a:solidFill>
                  <a:prstClr val="white"/>
                </a:solidFill>
                <a:effectLst/>
                <a:uLnTx/>
                <a:uFillTx/>
                <a:latin typeface="+mj-lt"/>
                <a:ea typeface="+mj-ea"/>
                <a:cs typeface="+mj-cs"/>
              </a:rPr>
              <a:t>Coca-Cola's EVA was consistently higher than Pepsi's over the three years.</a:t>
            </a:r>
          </a:p>
          <a:p>
            <a:r>
              <a:rPr kumimoji="0" lang="en-US" sz="2000" b="0" i="0" u="none" strike="noStrike" kern="1200" cap="none" spc="0" normalizeH="0" baseline="0" noProof="0" dirty="0">
                <a:ln>
                  <a:noFill/>
                </a:ln>
                <a:solidFill>
                  <a:prstClr val="white"/>
                </a:solidFill>
                <a:effectLst/>
                <a:uLnTx/>
                <a:uFillTx/>
                <a:latin typeface="+mj-lt"/>
                <a:ea typeface="+mj-ea"/>
                <a:cs typeface="+mj-cs"/>
              </a:rPr>
              <a:t>Pepsi's EVA increased over the three years, indicating better performance.</a:t>
            </a:r>
          </a:p>
          <a:p>
            <a:r>
              <a:rPr kumimoji="0" lang="en-US" sz="2000" b="0" i="0" u="none" strike="noStrike" kern="1200" cap="none" spc="0" normalizeH="0" baseline="0" noProof="0" dirty="0">
                <a:ln>
                  <a:noFill/>
                </a:ln>
                <a:solidFill>
                  <a:prstClr val="white"/>
                </a:solidFill>
                <a:effectLst/>
                <a:uLnTx/>
                <a:uFillTx/>
                <a:latin typeface="+mj-lt"/>
                <a:ea typeface="+mj-ea"/>
                <a:cs typeface="+mj-cs"/>
              </a:rPr>
              <a:t>Coca-Cola's ROIC-WACC spread was 15.5%, 17.6%, and 18.8%, while Pepsi's was 14.1%, 14.6%, and 15.9% for 2001, 2002, and 2003, respectively.</a:t>
            </a:r>
            <a:br>
              <a:rPr kumimoji="0" lang="en-US" sz="2000" b="0" i="0" u="none" strike="noStrike" kern="1200" cap="none" spc="0" normalizeH="0" baseline="0" noProof="0" dirty="0">
                <a:ln>
                  <a:noFill/>
                </a:ln>
                <a:solidFill>
                  <a:prstClr val="white"/>
                </a:solidFill>
                <a:effectLst/>
                <a:uLnTx/>
                <a:uFillTx/>
                <a:latin typeface="+mj-lt"/>
                <a:ea typeface="+mj-ea"/>
                <a:cs typeface="+mj-cs"/>
              </a:rPr>
            </a:br>
            <a:endParaRPr kumimoji="0" lang="en-US" sz="2000" b="0" i="0" u="none" strike="noStrike" kern="1200" cap="none" spc="0" normalizeH="0" baseline="0" noProof="0" dirty="0">
              <a:ln>
                <a:noFill/>
              </a:ln>
              <a:solidFill>
                <a:prstClr val="white"/>
              </a:solidFill>
              <a:effectLst/>
              <a:uLnTx/>
              <a:uFillTx/>
              <a:latin typeface="+mj-lt"/>
              <a:ea typeface="+mj-ea"/>
              <a:cs typeface="+mj-cs"/>
            </a:endParaRPr>
          </a:p>
          <a:p>
            <a:r>
              <a:rPr kumimoji="0" lang="en-US" sz="2000" b="0" i="0" u="none" strike="noStrike" kern="1200" cap="none" spc="0" normalizeH="0" baseline="0" noProof="0" dirty="0">
                <a:ln>
                  <a:noFill/>
                </a:ln>
                <a:solidFill>
                  <a:prstClr val="white"/>
                </a:solidFill>
                <a:effectLst/>
                <a:uLnTx/>
                <a:uFillTx/>
                <a:latin typeface="+mj-lt"/>
                <a:ea typeface="+mj-ea"/>
                <a:cs typeface="+mj-cs"/>
              </a:rPr>
              <a:t>Coca-Cola's EVA values for 2001, 2002, and 2003 were $2,608 million, $3,073 million, and $3,365 million, respectively.</a:t>
            </a:r>
            <a:br>
              <a:rPr kumimoji="0" lang="en-US" sz="2000" b="0" i="0" u="none" strike="noStrike" kern="1200" cap="none" spc="0" normalizeH="0" baseline="0" noProof="0" dirty="0">
                <a:ln>
                  <a:noFill/>
                </a:ln>
                <a:solidFill>
                  <a:prstClr val="white"/>
                </a:solidFill>
                <a:effectLst/>
                <a:uLnTx/>
                <a:uFillTx/>
                <a:latin typeface="+mj-lt"/>
                <a:ea typeface="+mj-ea"/>
                <a:cs typeface="+mj-cs"/>
              </a:rPr>
            </a:br>
            <a:endParaRPr kumimoji="0" lang="en-US" sz="2000" b="0" i="0" u="none" strike="noStrike" kern="1200" cap="none" spc="0" normalizeH="0" baseline="0" noProof="0" dirty="0">
              <a:ln>
                <a:noFill/>
              </a:ln>
              <a:solidFill>
                <a:prstClr val="white"/>
              </a:solidFill>
              <a:effectLst/>
              <a:uLnTx/>
              <a:uFillTx/>
              <a:latin typeface="+mj-lt"/>
              <a:ea typeface="+mj-ea"/>
              <a:cs typeface="+mj-cs"/>
            </a:endParaRPr>
          </a:p>
          <a:p>
            <a:r>
              <a:rPr kumimoji="0" lang="en-US" sz="2000" b="0" i="0" u="none" strike="noStrike" kern="1200" cap="none" spc="0" normalizeH="0" baseline="0" noProof="0" dirty="0">
                <a:ln>
                  <a:noFill/>
                </a:ln>
                <a:solidFill>
                  <a:prstClr val="white"/>
                </a:solidFill>
                <a:effectLst/>
                <a:uLnTx/>
                <a:uFillTx/>
                <a:latin typeface="+mj-lt"/>
                <a:ea typeface="+mj-ea"/>
                <a:cs typeface="+mj-cs"/>
              </a:rPr>
              <a:t>Pepsi's EVA values for 2001, 2002, and 2003 were $2,240 million, $2,565 million, and $2,791 million, respectively.</a:t>
            </a:r>
            <a:br>
              <a:rPr kumimoji="0" lang="en-US" sz="2000" b="0" i="0" u="none" strike="noStrike" kern="1200" cap="none" spc="0" normalizeH="0" baseline="0" noProof="0" dirty="0">
                <a:ln>
                  <a:noFill/>
                </a:ln>
                <a:solidFill>
                  <a:prstClr val="white"/>
                </a:solidFill>
                <a:effectLst/>
                <a:uLnTx/>
                <a:uFillTx/>
                <a:latin typeface="+mj-lt"/>
                <a:ea typeface="+mj-ea"/>
                <a:cs typeface="+mj-cs"/>
              </a:rPr>
            </a:br>
            <a:endParaRPr kumimoji="0" lang="en-US" sz="2000" b="0" i="0" u="none" strike="noStrike" kern="1200" cap="none" spc="0" normalizeH="0" baseline="0" noProof="0" dirty="0">
              <a:ln>
                <a:noFill/>
              </a:ln>
              <a:solidFill>
                <a:prstClr val="white"/>
              </a:solidFill>
              <a:effectLst/>
              <a:uLnTx/>
              <a:uFillTx/>
              <a:latin typeface="+mj-lt"/>
              <a:ea typeface="+mj-ea"/>
              <a:cs typeface="+mj-cs"/>
            </a:endParaRPr>
          </a:p>
          <a:p>
            <a:r>
              <a:rPr kumimoji="0" lang="en-US" sz="2000" b="0" i="0" u="none" strike="noStrike" kern="1200" cap="none" spc="0" normalizeH="0" baseline="0" noProof="0" dirty="0">
                <a:ln>
                  <a:noFill/>
                </a:ln>
                <a:solidFill>
                  <a:prstClr val="white"/>
                </a:solidFill>
                <a:effectLst/>
                <a:uLnTx/>
                <a:uFillTx/>
                <a:latin typeface="+mj-lt"/>
                <a:ea typeface="+mj-ea"/>
                <a:cs typeface="+mj-cs"/>
              </a:rPr>
              <a:t>Other factors such as market trends, competition, and management should also be considered when making investment decisions.</a:t>
            </a:r>
            <a:endParaRPr lang="en-US" sz="2000" dirty="0">
              <a:latin typeface="+mj-lt"/>
            </a:endParaRPr>
          </a:p>
        </p:txBody>
      </p:sp>
    </p:spTree>
    <p:extLst>
      <p:ext uri="{BB962C8B-B14F-4D97-AF65-F5344CB8AC3E}">
        <p14:creationId xmlns:p14="http://schemas.microsoft.com/office/powerpoint/2010/main" val="172947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F9AA3F-7F24-1E55-0B27-FCF619B91CDB}"/>
              </a:ext>
            </a:extLst>
          </p:cNvPr>
          <p:cNvSpPr>
            <a:spLocks noGrp="1"/>
          </p:cNvSpPr>
          <p:nvPr>
            <p:ph type="title"/>
          </p:nvPr>
        </p:nvSpPr>
        <p:spPr>
          <a:xfrm>
            <a:off x="759542" y="478337"/>
            <a:ext cx="10515600" cy="1133693"/>
          </a:xfrm>
        </p:spPr>
        <p:txBody>
          <a:bodyPr>
            <a:normAutofit fontScale="90000"/>
          </a:bodyPr>
          <a:lstStyle/>
          <a:p>
            <a:br>
              <a:rPr lang="en-US" sz="3600" dirty="0"/>
            </a:br>
            <a:br>
              <a:rPr lang="en-US" sz="3600" dirty="0"/>
            </a:br>
            <a:br>
              <a:rPr lang="en-US" sz="3600" dirty="0"/>
            </a:br>
            <a:r>
              <a:rPr lang="en-US" sz="2700" dirty="0">
                <a:solidFill>
                  <a:schemeClr val="bg1"/>
                </a:solidFill>
                <a:latin typeface="+mj-lt"/>
              </a:rPr>
              <a:t>Information about other acquisitions for Coke in the late 2000s and early 2010s</a:t>
            </a:r>
            <a:br>
              <a:rPr lang="en-US" sz="800" dirty="0">
                <a:latin typeface="Arial Black" panose="020B0A04020102020204" pitchFamily="34" charset="0"/>
              </a:rPr>
            </a:br>
            <a:br>
              <a:rPr lang="en-US" sz="800" dirty="0">
                <a:latin typeface="Arial Black" panose="020B0A04020102020204" pitchFamily="34" charset="0"/>
              </a:rPr>
            </a:br>
            <a:br>
              <a:rPr lang="en-US" sz="800" dirty="0">
                <a:latin typeface="Arial Black" panose="020B0A04020102020204" pitchFamily="34" charset="0"/>
              </a:rPr>
            </a:br>
            <a:br>
              <a:rPr lang="en-US" sz="800" dirty="0">
                <a:latin typeface="Arial Black" panose="020B0A04020102020204" pitchFamily="34" charset="0"/>
              </a:rPr>
            </a:br>
            <a:br>
              <a:rPr lang="en-US" sz="1400" dirty="0">
                <a:latin typeface="Arial Black" panose="020B0A04020102020204" pitchFamily="34" charset="0"/>
              </a:rPr>
            </a:br>
            <a:br>
              <a:rPr lang="en-US" sz="3600" dirty="0"/>
            </a:br>
            <a:endParaRPr lang="en-US" sz="3600" dirty="0"/>
          </a:p>
        </p:txBody>
      </p:sp>
      <p:sp>
        <p:nvSpPr>
          <p:cNvPr id="4" name="Content Placeholder 3">
            <a:extLst>
              <a:ext uri="{FF2B5EF4-FFF2-40B4-BE49-F238E27FC236}">
                <a16:creationId xmlns:a16="http://schemas.microsoft.com/office/drawing/2014/main" id="{DE519665-9CDE-CA6F-57ED-E37CC14EA258}"/>
              </a:ext>
            </a:extLst>
          </p:cNvPr>
          <p:cNvSpPr>
            <a:spLocks noGrp="1"/>
          </p:cNvSpPr>
          <p:nvPr>
            <p:ph idx="1"/>
          </p:nvPr>
        </p:nvSpPr>
        <p:spPr>
          <a:xfrm>
            <a:off x="838200" y="1612029"/>
            <a:ext cx="10515600" cy="4316819"/>
          </a:xfrm>
        </p:spPr>
        <p:txBody>
          <a:bodyPr>
            <a:normAutofit fontScale="92500" lnSpcReduction="20000"/>
          </a:bodyPr>
          <a:lstStyle/>
          <a:p>
            <a:r>
              <a:rPr kumimoji="0" lang="en-US" sz="1900" b="0" i="0" u="none" strike="noStrike" kern="1200" cap="none" spc="0" normalizeH="0" baseline="0" noProof="0" dirty="0">
                <a:ln>
                  <a:noFill/>
                </a:ln>
                <a:solidFill>
                  <a:prstClr val="white"/>
                </a:solidFill>
                <a:effectLst/>
                <a:uLnTx/>
                <a:uFillTx/>
                <a:latin typeface="+mj-lt"/>
                <a:ea typeface="+mj-ea"/>
                <a:cs typeface="+mj-cs"/>
              </a:rPr>
              <a:t>In 2007, Coca-Cola acquired Energy Brands Inc. (</a:t>
            </a:r>
            <a:r>
              <a:rPr kumimoji="0" lang="en-US" sz="1900" b="0" i="0" u="none" strike="noStrike" kern="1200" cap="none" spc="0" normalizeH="0" baseline="0" noProof="0" dirty="0" err="1">
                <a:ln>
                  <a:noFill/>
                </a:ln>
                <a:solidFill>
                  <a:prstClr val="white"/>
                </a:solidFill>
                <a:effectLst/>
                <a:uLnTx/>
                <a:uFillTx/>
                <a:latin typeface="+mj-lt"/>
                <a:ea typeface="+mj-ea"/>
                <a:cs typeface="+mj-cs"/>
              </a:rPr>
              <a:t>Glaceau</a:t>
            </a:r>
            <a:r>
              <a:rPr kumimoji="0" lang="en-US" sz="1900" b="0" i="0" u="none" strike="noStrike" kern="1200" cap="none" spc="0" normalizeH="0" baseline="0" noProof="0" dirty="0">
                <a:ln>
                  <a:noFill/>
                </a:ln>
                <a:solidFill>
                  <a:prstClr val="white"/>
                </a:solidFill>
                <a:effectLst/>
                <a:uLnTx/>
                <a:uFillTx/>
                <a:latin typeface="+mj-lt"/>
                <a:ea typeface="+mj-ea"/>
                <a:cs typeface="+mj-cs"/>
              </a:rPr>
              <a:t>) for $4.1 billion, which brought popular brands such as </a:t>
            </a:r>
            <a:r>
              <a:rPr kumimoji="0" lang="en-US" sz="1900" b="0" i="0" u="none" strike="noStrike" kern="1200" cap="none" spc="0" normalizeH="0" baseline="0" noProof="0" dirty="0" err="1">
                <a:ln>
                  <a:noFill/>
                </a:ln>
                <a:solidFill>
                  <a:prstClr val="white"/>
                </a:solidFill>
                <a:effectLst/>
                <a:uLnTx/>
                <a:uFillTx/>
                <a:latin typeface="+mj-lt"/>
                <a:ea typeface="+mj-ea"/>
                <a:cs typeface="+mj-cs"/>
              </a:rPr>
              <a:t>Vitaminwater</a:t>
            </a:r>
            <a:r>
              <a:rPr kumimoji="0" lang="en-US" sz="1900" b="0" i="0" u="none" strike="noStrike" kern="1200" cap="none" spc="0" normalizeH="0" baseline="0" noProof="0" dirty="0">
                <a:ln>
                  <a:noFill/>
                </a:ln>
                <a:solidFill>
                  <a:prstClr val="white"/>
                </a:solidFill>
                <a:effectLst/>
                <a:uLnTx/>
                <a:uFillTx/>
                <a:latin typeface="+mj-lt"/>
                <a:ea typeface="+mj-ea"/>
                <a:cs typeface="+mj-cs"/>
              </a:rPr>
              <a:t> and </a:t>
            </a:r>
            <a:r>
              <a:rPr kumimoji="0" lang="en-US" sz="1900" b="0" i="0" u="none" strike="noStrike" kern="1200" cap="none" spc="0" normalizeH="0" baseline="0" noProof="0" dirty="0" err="1">
                <a:ln>
                  <a:noFill/>
                </a:ln>
                <a:solidFill>
                  <a:prstClr val="white"/>
                </a:solidFill>
                <a:effectLst/>
                <a:uLnTx/>
                <a:uFillTx/>
                <a:latin typeface="+mj-lt"/>
                <a:ea typeface="+mj-ea"/>
                <a:cs typeface="+mj-cs"/>
              </a:rPr>
              <a:t>Smartwater</a:t>
            </a:r>
            <a:r>
              <a:rPr kumimoji="0" lang="en-US" sz="1900" b="0" i="0" u="none" strike="noStrike" kern="1200" cap="none" spc="0" normalizeH="0" baseline="0" noProof="0" dirty="0">
                <a:ln>
                  <a:noFill/>
                </a:ln>
                <a:solidFill>
                  <a:prstClr val="white"/>
                </a:solidFill>
                <a:effectLst/>
                <a:uLnTx/>
                <a:uFillTx/>
                <a:latin typeface="+mj-lt"/>
                <a:ea typeface="+mj-ea"/>
                <a:cs typeface="+mj-cs"/>
              </a:rPr>
              <a:t> into Coca-Cola's portfolio. In 2008, Coca-Cola acquired a 40% stake in Honest Tea, a maker of organic teas and juices, giving them access to the growing health and wellness market. </a:t>
            </a:r>
          </a:p>
          <a:p>
            <a:endParaRPr kumimoji="0" lang="en-US" sz="1900" b="0" i="0" u="none" strike="noStrike" kern="1200" cap="none" spc="0" normalizeH="0" baseline="0" noProof="0" dirty="0">
              <a:ln>
                <a:noFill/>
              </a:ln>
              <a:solidFill>
                <a:prstClr val="white"/>
              </a:solidFill>
              <a:effectLst/>
              <a:uLnTx/>
              <a:uFillTx/>
              <a:latin typeface="+mj-lt"/>
              <a:ea typeface="+mj-ea"/>
              <a:cs typeface="+mj-cs"/>
            </a:endParaRPr>
          </a:p>
          <a:p>
            <a:r>
              <a:rPr kumimoji="0" lang="en-US" sz="1900" b="0" i="0" u="none" strike="noStrike" kern="1200" cap="none" spc="0" normalizeH="0" baseline="0" noProof="0" dirty="0">
                <a:ln>
                  <a:noFill/>
                </a:ln>
                <a:solidFill>
                  <a:prstClr val="white"/>
                </a:solidFill>
                <a:effectLst/>
                <a:uLnTx/>
                <a:uFillTx/>
                <a:latin typeface="+mj-lt"/>
                <a:ea typeface="+mj-ea"/>
                <a:cs typeface="+mj-cs"/>
              </a:rPr>
              <a:t>In 2010, Coca-Cola acquired Coca-Cola Enterprises Inc.'s North American bottling business for $12.3 billion, which allowed them to streamline their bottling operations and take more control over distribution. </a:t>
            </a:r>
          </a:p>
          <a:p>
            <a:endParaRPr kumimoji="0" lang="en-US" sz="1900" b="0" i="0" u="none" strike="noStrike" kern="1200" cap="none" spc="0" normalizeH="0" baseline="0" noProof="0" dirty="0">
              <a:ln>
                <a:noFill/>
              </a:ln>
              <a:solidFill>
                <a:prstClr val="white"/>
              </a:solidFill>
              <a:effectLst/>
              <a:uLnTx/>
              <a:uFillTx/>
              <a:latin typeface="+mj-lt"/>
              <a:ea typeface="+mj-ea"/>
              <a:cs typeface="+mj-cs"/>
            </a:endParaRPr>
          </a:p>
          <a:p>
            <a:r>
              <a:rPr kumimoji="0" lang="en-US" sz="1900" b="0" i="0" u="none" strike="noStrike" kern="1200" cap="none" spc="0" normalizeH="0" baseline="0" noProof="0" dirty="0">
                <a:ln>
                  <a:noFill/>
                </a:ln>
                <a:solidFill>
                  <a:prstClr val="white"/>
                </a:solidFill>
                <a:effectLst/>
                <a:uLnTx/>
                <a:uFillTx/>
                <a:latin typeface="+mj-lt"/>
                <a:ea typeface="+mj-ea"/>
                <a:cs typeface="+mj-cs"/>
              </a:rPr>
              <a:t>Also in 2010, Coca-Cola acquired the Mexican bottled water brand Ciel, helping them expand their presence in the growing Latin American market.</a:t>
            </a:r>
          </a:p>
          <a:p>
            <a:endParaRPr kumimoji="0" lang="en-US" sz="1900" b="0" i="0" u="none" strike="noStrike" kern="1200" cap="none" spc="0" normalizeH="0" baseline="0" noProof="0" dirty="0">
              <a:ln>
                <a:noFill/>
              </a:ln>
              <a:solidFill>
                <a:prstClr val="white"/>
              </a:solidFill>
              <a:effectLst/>
              <a:uLnTx/>
              <a:uFillTx/>
              <a:latin typeface="+mj-lt"/>
              <a:ea typeface="+mj-ea"/>
              <a:cs typeface="+mj-cs"/>
            </a:endParaRPr>
          </a:p>
          <a:p>
            <a:r>
              <a:rPr kumimoji="0" lang="en-US" sz="1900" b="0" i="0" u="none" strike="noStrike" kern="1200" cap="none" spc="0" normalizeH="0" baseline="0" noProof="0" dirty="0">
                <a:ln>
                  <a:noFill/>
                </a:ln>
                <a:solidFill>
                  <a:prstClr val="white"/>
                </a:solidFill>
                <a:effectLst/>
                <a:uLnTx/>
                <a:uFillTx/>
                <a:latin typeface="+mj-lt"/>
                <a:ea typeface="+mj-ea"/>
                <a:cs typeface="+mj-cs"/>
              </a:rPr>
              <a:t> In 2009, Coca-Cola attempted to acquire China </a:t>
            </a:r>
            <a:r>
              <a:rPr kumimoji="0" lang="en-US" sz="1900" b="0" i="0" u="none" strike="noStrike" kern="1200" cap="none" spc="0" normalizeH="0" baseline="0" noProof="0" dirty="0" err="1">
                <a:ln>
                  <a:noFill/>
                </a:ln>
                <a:solidFill>
                  <a:prstClr val="white"/>
                </a:solidFill>
                <a:effectLst/>
                <a:uLnTx/>
                <a:uFillTx/>
                <a:latin typeface="+mj-lt"/>
                <a:ea typeface="+mj-ea"/>
                <a:cs typeface="+mj-cs"/>
              </a:rPr>
              <a:t>Huiyuan</a:t>
            </a:r>
            <a:r>
              <a:rPr kumimoji="0" lang="en-US" sz="1900" b="0" i="0" u="none" strike="noStrike" kern="1200" cap="none" spc="0" normalizeH="0" baseline="0" noProof="0" dirty="0">
                <a:ln>
                  <a:noFill/>
                </a:ln>
                <a:solidFill>
                  <a:prstClr val="white"/>
                </a:solidFill>
                <a:effectLst/>
                <a:uLnTx/>
                <a:uFillTx/>
                <a:latin typeface="+mj-lt"/>
                <a:ea typeface="+mj-ea"/>
                <a:cs typeface="+mj-cs"/>
              </a:rPr>
              <a:t> Juice Group Limited for $2.4 billion, but the deal was blocked by the Chinese government due to concerns about market competition. Overall, these acquisitions helped Coca-Cola diversify its product offerings and expand its presence in key markets.</a:t>
            </a:r>
            <a:endParaRPr lang="en-US" sz="1900" dirty="0">
              <a:latin typeface="+mj-lt"/>
            </a:endParaRPr>
          </a:p>
        </p:txBody>
      </p:sp>
      <p:pic>
        <p:nvPicPr>
          <p:cNvPr id="6" name="Picture 5" descr="A blue logo with white text&#10;&#10;Description automatically generated with medium confidence">
            <a:extLst>
              <a:ext uri="{FF2B5EF4-FFF2-40B4-BE49-F238E27FC236}">
                <a16:creationId xmlns:a16="http://schemas.microsoft.com/office/drawing/2014/main" id="{54F0C735-4E42-00DF-5A27-1ED0C57C81E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5928852"/>
            <a:ext cx="2340077" cy="929148"/>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402348A4-D137-1E00-8F1E-433AFCF184C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340077" y="5928850"/>
            <a:ext cx="2340077" cy="929149"/>
          </a:xfrm>
          <a:prstGeom prst="rect">
            <a:avLst/>
          </a:prstGeom>
        </p:spPr>
      </p:pic>
      <p:pic>
        <p:nvPicPr>
          <p:cNvPr id="14" name="Picture 13" descr="A shelf with bottles of liquid on it&#10;&#10;Description automatically generated with low confidence">
            <a:extLst>
              <a:ext uri="{FF2B5EF4-FFF2-40B4-BE49-F238E27FC236}">
                <a16:creationId xmlns:a16="http://schemas.microsoft.com/office/drawing/2014/main" id="{ABD8F79C-B0ED-15D4-B047-7DD833D721F1}"/>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4692825" y="5928850"/>
            <a:ext cx="2712810" cy="947889"/>
          </a:xfrm>
          <a:prstGeom prst="rect">
            <a:avLst/>
          </a:prstGeom>
        </p:spPr>
      </p:pic>
      <p:pic>
        <p:nvPicPr>
          <p:cNvPr id="20" name="Picture 19" descr="A group of soda bottles&#10;&#10;Description automatically generated with medium confidence">
            <a:extLst>
              <a:ext uri="{FF2B5EF4-FFF2-40B4-BE49-F238E27FC236}">
                <a16:creationId xmlns:a16="http://schemas.microsoft.com/office/drawing/2014/main" id="{F4234BB1-2D03-53BE-7A2D-1C4514A54DD3}"/>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7418306" y="5924458"/>
            <a:ext cx="4770645" cy="929149"/>
          </a:xfrm>
          <a:prstGeom prst="rect">
            <a:avLst/>
          </a:prstGeom>
        </p:spPr>
      </p:pic>
    </p:spTree>
    <p:extLst>
      <p:ext uri="{BB962C8B-B14F-4D97-AF65-F5344CB8AC3E}">
        <p14:creationId xmlns:p14="http://schemas.microsoft.com/office/powerpoint/2010/main" val="1309152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AC360F130E1A24B8483E00CDB095E27" ma:contentTypeVersion="12" ma:contentTypeDescription="Create a new document." ma:contentTypeScope="" ma:versionID="92158218d3b1748b4968fc2d7e5254d1">
  <xsd:schema xmlns:xsd="http://www.w3.org/2001/XMLSchema" xmlns:xs="http://www.w3.org/2001/XMLSchema" xmlns:p="http://schemas.microsoft.com/office/2006/metadata/properties" xmlns:ns3="755ca9bd-47bd-4ede-a832-fc65fa9e78de" xmlns:ns4="e2d12f73-0dc8-4a2c-8a70-f7a65740b432" targetNamespace="http://schemas.microsoft.com/office/2006/metadata/properties" ma:root="true" ma:fieldsID="bb398858e88187ea9e4149b6cbfbcd43" ns3:_="" ns4:_="">
    <xsd:import namespace="755ca9bd-47bd-4ede-a832-fc65fa9e78de"/>
    <xsd:import namespace="e2d12f73-0dc8-4a2c-8a70-f7a65740b43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55ca9bd-47bd-4ede-a832-fc65fa9e78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d12f73-0dc8-4a2c-8a70-f7a65740b43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6B2F4D5-F458-4689-A5CC-D47989C21EF7}">
  <ds:schemaRefs>
    <ds:schemaRef ds:uri="http://schemas.microsoft.com/sharepoint/v3/contenttype/forms"/>
  </ds:schemaRefs>
</ds:datastoreItem>
</file>

<file path=customXml/itemProps2.xml><?xml version="1.0" encoding="utf-8"?>
<ds:datastoreItem xmlns:ds="http://schemas.openxmlformats.org/officeDocument/2006/customXml" ds:itemID="{99FF8B4A-56E6-4233-AF0B-B0358A502D4E}">
  <ds:schemaRefs>
    <ds:schemaRef ds:uri="http://www.w3.org/XML/1998/namespace"/>
    <ds:schemaRef ds:uri="http://purl.org/dc/terms/"/>
    <ds:schemaRef ds:uri="http://schemas.microsoft.com/office/2006/metadata/properties"/>
    <ds:schemaRef ds:uri="e2d12f73-0dc8-4a2c-8a70-f7a65740b432"/>
    <ds:schemaRef ds:uri="http://schemas.microsoft.com/office/2006/documentManagement/types"/>
    <ds:schemaRef ds:uri="http://schemas.microsoft.com/office/infopath/2007/PartnerControls"/>
    <ds:schemaRef ds:uri="http://purl.org/dc/elements/1.1/"/>
    <ds:schemaRef ds:uri="http://schemas.openxmlformats.org/package/2006/metadata/core-properties"/>
    <ds:schemaRef ds:uri="http://purl.org/dc/dcmitype/"/>
    <ds:schemaRef ds:uri="755ca9bd-47bd-4ede-a832-fc65fa9e78de"/>
  </ds:schemaRefs>
</ds:datastoreItem>
</file>

<file path=customXml/itemProps3.xml><?xml version="1.0" encoding="utf-8"?>
<ds:datastoreItem xmlns:ds="http://schemas.openxmlformats.org/officeDocument/2006/customXml" ds:itemID="{6F4AC6D8-C959-47AE-8712-9620A23C8FFB}">
  <ds:schemaRefs>
    <ds:schemaRef ds:uri="755ca9bd-47bd-4ede-a832-fc65fa9e78de"/>
    <ds:schemaRef ds:uri="e2d12f73-0dc8-4a2c-8a70-f7a65740b4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488</TotalTime>
  <Words>2687</Words>
  <Application>Microsoft Office PowerPoint</Application>
  <PresentationFormat>Widescreen</PresentationFormat>
  <Paragraphs>225</Paragraphs>
  <Slides>20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Arial</vt:lpstr>
      <vt:lpstr>Arial Black</vt:lpstr>
      <vt:lpstr>Calibri</vt:lpstr>
      <vt:lpstr>Calibri Light</vt:lpstr>
      <vt:lpstr>Office Theme</vt:lpstr>
      <vt:lpstr>1_Office Theme</vt:lpstr>
      <vt:lpstr>PowerPoint Presentation</vt:lpstr>
      <vt:lpstr>Executive Summary</vt:lpstr>
      <vt:lpstr>Overview of the History of Coca-Cola</vt:lpstr>
      <vt:lpstr>Overview of the History of PepsiCo</vt:lpstr>
      <vt:lpstr>Coca-Cola 1st CEO: Doug Ivester</vt:lpstr>
      <vt:lpstr>Coca-Cola 2nd CEO: Douglas Daft</vt:lpstr>
      <vt:lpstr>PepsiCo CEO: Roger Enrico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What was the beverage industry trend in 2000? How are two companies doing in the noncarbonated beverages market so far?   </vt:lpstr>
      <vt:lpstr> Based on the ratio analysis represented in Exhibits 4 and 5, which company is in a better financial shape? Why? </vt:lpstr>
      <vt:lpstr>   How is the EVA of Coca-Cola and Pepsi compared from a historical point of view?   </vt:lpstr>
      <vt:lpstr>    Is the historic trend reversed for Pepsi? What company is the best investment based on the EVA analysis?       </vt:lpstr>
      <vt:lpstr>   Information about other acquisitions for Coke in the late 2000s and early 2010s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Ricci, Nicholas</dc:creator>
  <cp:lastModifiedBy>Ricci, Nicholas</cp:lastModifiedBy>
  <cp:revision>3</cp:revision>
  <dcterms:created xsi:type="dcterms:W3CDTF">2023-01-11T01:06:31Z</dcterms:created>
  <dcterms:modified xsi:type="dcterms:W3CDTF">2023-04-11T18:57:22Z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0x0101000AC360F130E1A24B8483E00CDB095E27</vt:lpwstr>
  </property>
</Properties>
</file>