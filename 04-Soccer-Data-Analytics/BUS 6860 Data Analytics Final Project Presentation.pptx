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nmr81\Downloads\Soccer%20Performance%20and%20Health%20Analytic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nmr81\Downloads\Soccer%20Performance%20and%20Health%20Analytic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nmr81\Downloads\Soccer%20Performance%20and%20Health%20Analytic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nmr81\Downloads\Soccer%20Performance%20and%20Health%20Analytic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nmr81\Downloads\Soccer%20Performance%20and%20Health%20Analytic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mocsflsouthern-my.sharepoint.com/personal/ttollie_mocs_flsouthern_edu/Documents/DATA%20ANALYTICS/Soccer%20Performance%20and%20Health%20Analytic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Passing Accuracy % Per Position</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28F4-485F-B0C9-5B1DE1D87AEF}"/>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28F4-485F-B0C9-5B1DE1D87AEF}"/>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28F4-485F-B0C9-5B1DE1D87AEF}"/>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28F4-485F-B0C9-5B1DE1D87AE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'1a_Pass Accuracy '!$W$3:$W$6</c:f>
              <c:strCache>
                <c:ptCount val="4"/>
                <c:pt idx="0">
                  <c:v>Defender</c:v>
                </c:pt>
                <c:pt idx="1">
                  <c:v>Midfielder</c:v>
                </c:pt>
                <c:pt idx="2">
                  <c:v>Forward</c:v>
                </c:pt>
                <c:pt idx="3">
                  <c:v>Goalkeeper</c:v>
                </c:pt>
              </c:strCache>
            </c:strRef>
          </c:cat>
          <c:val>
            <c:numRef>
              <c:f>'1a_Pass Accuracy '!$X$3:$X$6</c:f>
              <c:numCache>
                <c:formatCode>0.00</c:formatCode>
                <c:ptCount val="4"/>
                <c:pt idx="0">
                  <c:v>72.886732673267289</c:v>
                </c:pt>
                <c:pt idx="1">
                  <c:v>76.899349593495899</c:v>
                </c:pt>
                <c:pt idx="2">
                  <c:v>64.701250000000002</c:v>
                </c:pt>
                <c:pt idx="3">
                  <c:v>53.911249999999995</c:v>
                </c:pt>
              </c:numCache>
            </c:numRef>
          </c:val>
          <c:extLst>
            <c:ext xmlns:c16="http://schemas.microsoft.com/office/drawing/2014/chart" uri="{C3380CC4-5D6E-409C-BE32-E72D297353CC}">
              <c16:uniqueId val="{00000008-28F4-485F-B0C9-5B1DE1D87AEF}"/>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sz="1100" baseline="0"/>
              <a:t>Clustered Bar Graph on Injury Type  </a:t>
            </a:r>
            <a:endParaRPr lang="en-US" sz="1100"/>
          </a:p>
        </c:rich>
      </c:tx>
      <c:layout>
        <c:manualLayout>
          <c:xMode val="edge"/>
          <c:yMode val="edge"/>
          <c:x val="0.15893368583388415"/>
          <c:y val="3.1360250882007057E-2"/>
        </c:manualLayout>
      </c:layout>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manualLayout>
          <c:layoutTarget val="inner"/>
          <c:xMode val="edge"/>
          <c:yMode val="edge"/>
          <c:x val="7.0061436226288895E-2"/>
          <c:y val="0.16974475088469271"/>
          <c:w val="0.87084345758719217"/>
          <c:h val="0.58410898053813942"/>
        </c:manualLayout>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'1a_Injury Type '!$B$32:$B$35</c:f>
              <c:strCache>
                <c:ptCount val="4"/>
                <c:pt idx="0">
                  <c:v>ACL Tear</c:v>
                </c:pt>
                <c:pt idx="1">
                  <c:v>Ankle Sprain</c:v>
                </c:pt>
                <c:pt idx="2">
                  <c:v>Hamstring Strain</c:v>
                </c:pt>
                <c:pt idx="3">
                  <c:v>None</c:v>
                </c:pt>
              </c:strCache>
            </c:strRef>
          </c:cat>
          <c:val>
            <c:numRef>
              <c:f>'1a_Injury Type '!$C$32:$C$35</c:f>
              <c:numCache>
                <c:formatCode>General</c:formatCode>
                <c:ptCount val="4"/>
                <c:pt idx="0">
                  <c:v>72</c:v>
                </c:pt>
                <c:pt idx="1">
                  <c:v>74</c:v>
                </c:pt>
                <c:pt idx="2">
                  <c:v>75</c:v>
                </c:pt>
                <c:pt idx="3">
                  <c:v>59</c:v>
                </c:pt>
              </c:numCache>
            </c:numRef>
          </c:val>
          <c:extLst>
            <c:ext xmlns:c16="http://schemas.microsoft.com/office/drawing/2014/chart" uri="{C3380CC4-5D6E-409C-BE32-E72D297353CC}">
              <c16:uniqueId val="{00000000-C61C-4DB0-A288-99BB71DC6FC9}"/>
            </c:ext>
          </c:extLst>
        </c:ser>
        <c:dLbls>
          <c:dLblPos val="inEnd"/>
          <c:showLegendKey val="0"/>
          <c:showVal val="1"/>
          <c:showCatName val="0"/>
          <c:showSerName val="0"/>
          <c:showPercent val="0"/>
          <c:showBubbleSize val="0"/>
        </c:dLbls>
        <c:gapWidth val="41"/>
        <c:axId val="89125088"/>
        <c:axId val="89125568"/>
      </c:barChart>
      <c:catAx>
        <c:axId val="8912508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89125568"/>
        <c:crosses val="autoZero"/>
        <c:auto val="1"/>
        <c:lblAlgn val="ctr"/>
        <c:lblOffset val="100"/>
        <c:noMultiLvlLbl val="0"/>
      </c:catAx>
      <c:valAx>
        <c:axId val="89125568"/>
        <c:scaling>
          <c:orientation val="minMax"/>
        </c:scaling>
        <c:delete val="1"/>
        <c:axPos val="l"/>
        <c:numFmt formatCode="General" sourceLinked="1"/>
        <c:majorTickMark val="none"/>
        <c:minorTickMark val="none"/>
        <c:tickLblPos val="nextTo"/>
        <c:crossAx val="89125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[Soccer Performance and Health Analytics.xlsx]2a_Match and Opponent Analysis !PivotTable2</c:name>
    <c:fmtId val="-1"/>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Sum of Assists and Goals on Day of week</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'2a_Match and Opponent Analysis '!$L$17</c:f>
              <c:strCache>
                <c:ptCount val="1"/>
                <c:pt idx="0">
                  <c:v>Sum of Assists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'2a_Match and Opponent Analysis '!$K$18:$K$25</c:f>
              <c:strCache>
                <c:ptCount val="7"/>
                <c:pt idx="0">
                  <c:v>Sunday</c:v>
                </c:pt>
                <c:pt idx="1">
                  <c:v>Monday</c:v>
                </c:pt>
                <c:pt idx="2">
                  <c:v>Tuesday</c:v>
                </c:pt>
                <c:pt idx="3">
                  <c:v>Wednesday</c:v>
                </c:pt>
                <c:pt idx="4">
                  <c:v>Thursday</c:v>
                </c:pt>
                <c:pt idx="5">
                  <c:v>Friday</c:v>
                </c:pt>
                <c:pt idx="6">
                  <c:v>Saturday</c:v>
                </c:pt>
              </c:strCache>
            </c:strRef>
          </c:cat>
          <c:val>
            <c:numRef>
              <c:f>'2a_Match and Opponent Analysis '!$L$18:$L$25</c:f>
              <c:numCache>
                <c:formatCode>General</c:formatCode>
                <c:ptCount val="7"/>
                <c:pt idx="0">
                  <c:v>120</c:v>
                </c:pt>
                <c:pt idx="1">
                  <c:v>133</c:v>
                </c:pt>
                <c:pt idx="2">
                  <c:v>122</c:v>
                </c:pt>
                <c:pt idx="3">
                  <c:v>117</c:v>
                </c:pt>
                <c:pt idx="4">
                  <c:v>105</c:v>
                </c:pt>
                <c:pt idx="5">
                  <c:v>139</c:v>
                </c:pt>
                <c:pt idx="6">
                  <c:v>139</c:v>
                </c:pt>
              </c:numCache>
            </c:numRef>
          </c:val>
          <c:extLst>
            <c:ext xmlns:c16="http://schemas.microsoft.com/office/drawing/2014/chart" uri="{C3380CC4-5D6E-409C-BE32-E72D297353CC}">
              <c16:uniqueId val="{00000000-FF81-43E2-87E9-93ABF0201D78}"/>
            </c:ext>
          </c:extLst>
        </c:ser>
        <c:ser>
          <c:idx val="1"/>
          <c:order val="1"/>
          <c:tx>
            <c:strRef>
              <c:f>'2a_Match and Opponent Analysis '!$M$17</c:f>
              <c:strCache>
                <c:ptCount val="1"/>
                <c:pt idx="0">
                  <c:v>Sum of Goals Scored</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'2a_Match and Opponent Analysis '!$K$18:$K$25</c:f>
              <c:strCache>
                <c:ptCount val="7"/>
                <c:pt idx="0">
                  <c:v>Sunday</c:v>
                </c:pt>
                <c:pt idx="1">
                  <c:v>Monday</c:v>
                </c:pt>
                <c:pt idx="2">
                  <c:v>Tuesday</c:v>
                </c:pt>
                <c:pt idx="3">
                  <c:v>Wednesday</c:v>
                </c:pt>
                <c:pt idx="4">
                  <c:v>Thursday</c:v>
                </c:pt>
                <c:pt idx="5">
                  <c:v>Friday</c:v>
                </c:pt>
                <c:pt idx="6">
                  <c:v>Saturday</c:v>
                </c:pt>
              </c:strCache>
            </c:strRef>
          </c:cat>
          <c:val>
            <c:numRef>
              <c:f>'2a_Match and Opponent Analysis '!$M$18:$M$25</c:f>
              <c:numCache>
                <c:formatCode>General</c:formatCode>
                <c:ptCount val="7"/>
                <c:pt idx="0">
                  <c:v>70</c:v>
                </c:pt>
                <c:pt idx="1">
                  <c:v>68</c:v>
                </c:pt>
                <c:pt idx="2">
                  <c:v>78</c:v>
                </c:pt>
                <c:pt idx="3">
                  <c:v>82</c:v>
                </c:pt>
                <c:pt idx="4">
                  <c:v>56</c:v>
                </c:pt>
                <c:pt idx="5">
                  <c:v>83</c:v>
                </c:pt>
                <c:pt idx="6">
                  <c:v>77</c:v>
                </c:pt>
              </c:numCache>
            </c:numRef>
          </c:val>
          <c:extLst>
            <c:ext xmlns:c16="http://schemas.microsoft.com/office/drawing/2014/chart" uri="{C3380CC4-5D6E-409C-BE32-E72D297353CC}">
              <c16:uniqueId val="{00000001-FF81-43E2-87E9-93ABF0201D78}"/>
            </c:ext>
          </c:extLst>
        </c:ser>
        <c:dLbls>
          <c:dLblPos val="inEnd"/>
          <c:showLegendKey val="0"/>
          <c:showVal val="1"/>
          <c:showCatName val="0"/>
          <c:showSerName val="0"/>
          <c:showPercent val="0"/>
          <c:showBubbleSize val="0"/>
        </c:dLbls>
        <c:gapWidth val="100"/>
        <c:overlap val="-24"/>
        <c:axId val="1424480776"/>
        <c:axId val="1424975880"/>
      </c:barChart>
      <c:catAx>
        <c:axId val="142448077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24975880"/>
        <c:crosses val="autoZero"/>
        <c:auto val="1"/>
        <c:lblAlgn val="ctr"/>
        <c:lblOffset val="100"/>
        <c:noMultiLvlLbl val="0"/>
      </c:catAx>
      <c:valAx>
        <c:axId val="142497588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24480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Goals Per Match (90 Minutes) by Position and Match Location</a:t>
            </a:r>
          </a:p>
        </c:rich>
      </c:tx>
      <c:layout>
        <c:manualLayout>
          <c:xMode val="edge"/>
          <c:yMode val="edge"/>
          <c:x val="0.141281130699875"/>
          <c:y val="3.192776352611935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176628899063155"/>
          <c:y val="0.30392665682267611"/>
          <c:w val="0.83475864335382299"/>
          <c:h val="0.17025053589088629"/>
        </c:manualLayout>
      </c:layout>
      <c:barChart>
        <c:barDir val="col"/>
        <c:grouping val="clustered"/>
        <c:varyColors val="0"/>
        <c:ser>
          <c:idx val="0"/>
          <c:order val="0"/>
          <c:tx>
            <c:strRef>
              <c:f>'2b_Location Based Trends'!$AO$37</c:f>
              <c:strCache>
                <c:ptCount val="1"/>
                <c:pt idx="0">
                  <c:v>Goals per 90 </c:v>
                </c:pt>
              </c:strCache>
            </c:strRef>
          </c:tx>
          <c:spPr>
            <a:solidFill>
              <a:schemeClr val="accent1"/>
            </a:solidFill>
            <a:ln>
              <a:noFill/>
            </a:ln>
            <a:effectLst/>
          </c:spPr>
          <c:invertIfNegative val="0"/>
          <c:cat>
            <c:multiLvlStrRef>
              <c:f>'2b_Location Based Trends'!$AM$38:$AN$46</c:f>
              <c:multiLvlStrCache>
                <c:ptCount val="9"/>
                <c:lvl>
                  <c:pt idx="0">
                    <c:v>Defender</c:v>
                  </c:pt>
                  <c:pt idx="1">
                    <c:v>Forward</c:v>
                  </c:pt>
                  <c:pt idx="2">
                    <c:v>Goalkeeper</c:v>
                  </c:pt>
                  <c:pt idx="3">
                    <c:v>Midfielder</c:v>
                  </c:pt>
                  <c:pt idx="5">
                    <c:v>Defender</c:v>
                  </c:pt>
                  <c:pt idx="6">
                    <c:v>Forward</c:v>
                  </c:pt>
                  <c:pt idx="7">
                    <c:v>Goalkeeper</c:v>
                  </c:pt>
                  <c:pt idx="8">
                    <c:v>Midfielder</c:v>
                  </c:pt>
                </c:lvl>
                <c:lvl>
                  <c:pt idx="0">
                    <c:v>Away Total</c:v>
                  </c:pt>
                  <c:pt idx="5">
                    <c:v>Home Total</c:v>
                  </c:pt>
                </c:lvl>
              </c:multiLvlStrCache>
            </c:multiLvlStrRef>
          </c:cat>
          <c:val>
            <c:numRef>
              <c:f>'2b_Location Based Trends'!$AO$38:$AO$46</c:f>
              <c:numCache>
                <c:formatCode>0.00</c:formatCode>
                <c:ptCount val="9"/>
                <c:pt idx="0">
                  <c:v>3.08</c:v>
                </c:pt>
                <c:pt idx="1">
                  <c:v>2.98</c:v>
                </c:pt>
                <c:pt idx="2">
                  <c:v>0</c:v>
                </c:pt>
                <c:pt idx="3">
                  <c:v>3.29</c:v>
                </c:pt>
                <c:pt idx="5">
                  <c:v>2.3199999999999998</c:v>
                </c:pt>
                <c:pt idx="6">
                  <c:v>3.29</c:v>
                </c:pt>
                <c:pt idx="7">
                  <c:v>1</c:v>
                </c:pt>
                <c:pt idx="8">
                  <c:v>3.39</c:v>
                </c:pt>
              </c:numCache>
            </c:numRef>
          </c:val>
          <c:extLst>
            <c:ext xmlns:c16="http://schemas.microsoft.com/office/drawing/2014/chart" uri="{C3380CC4-5D6E-409C-BE32-E72D297353CC}">
              <c16:uniqueId val="{00000000-7D46-4491-B696-8467E8B125B9}"/>
            </c:ext>
          </c:extLst>
        </c:ser>
        <c:dLbls>
          <c:showLegendKey val="0"/>
          <c:showVal val="0"/>
          <c:showCatName val="0"/>
          <c:showSerName val="0"/>
          <c:showPercent val="0"/>
          <c:showBubbleSize val="0"/>
        </c:dLbls>
        <c:gapWidth val="219"/>
        <c:overlap val="-27"/>
        <c:axId val="83631623"/>
        <c:axId val="688986631"/>
      </c:barChart>
      <c:catAx>
        <c:axId val="83631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8986631"/>
        <c:crosses val="autoZero"/>
        <c:auto val="1"/>
        <c:lblAlgn val="ctr"/>
        <c:lblOffset val="100"/>
        <c:noMultiLvlLbl val="0"/>
      </c:catAx>
      <c:valAx>
        <c:axId val="68898663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6316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Frequency Distribution of Goals Scored</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v>Frequency</c:v>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3"/>
              <c:layout>
                <c:manualLayout>
                  <c:x val="0"/>
                  <c:y val="0.1232381889763778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2D2-4C45-B052-78F09C5C217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'1b_Analyze the Metric'!$A$43:$A$48</c:f>
              <c:strCache>
                <c:ptCount val="6"/>
                <c:pt idx="0">
                  <c:v>0</c:v>
                </c:pt>
                <c:pt idx="1">
                  <c:v>1</c:v>
                </c:pt>
                <c:pt idx="2">
                  <c:v>2</c:v>
                </c:pt>
                <c:pt idx="3">
                  <c:v>3</c:v>
                </c:pt>
                <c:pt idx="4">
                  <c:v>4</c:v>
                </c:pt>
                <c:pt idx="5">
                  <c:v>More</c:v>
                </c:pt>
              </c:strCache>
            </c:strRef>
          </c:cat>
          <c:val>
            <c:numRef>
              <c:f>'1b_Analyze the Metric'!$B$43:$B$48</c:f>
              <c:numCache>
                <c:formatCode>General</c:formatCode>
                <c:ptCount val="6"/>
                <c:pt idx="0">
                  <c:v>68</c:v>
                </c:pt>
                <c:pt idx="1">
                  <c:v>59</c:v>
                </c:pt>
                <c:pt idx="2">
                  <c:v>58</c:v>
                </c:pt>
                <c:pt idx="3">
                  <c:v>41</c:v>
                </c:pt>
                <c:pt idx="4">
                  <c:v>54</c:v>
                </c:pt>
                <c:pt idx="5">
                  <c:v>0</c:v>
                </c:pt>
              </c:numCache>
            </c:numRef>
          </c:val>
          <c:extLst>
            <c:ext xmlns:c16="http://schemas.microsoft.com/office/drawing/2014/chart" uri="{C3380CC4-5D6E-409C-BE32-E72D297353CC}">
              <c16:uniqueId val="{00000001-D2D2-4C45-B052-78F09C5C2176}"/>
            </c:ext>
          </c:extLst>
        </c:ser>
        <c:dLbls>
          <c:dLblPos val="inEnd"/>
          <c:showLegendKey val="0"/>
          <c:showVal val="1"/>
          <c:showCatName val="0"/>
          <c:showSerName val="0"/>
          <c:showPercent val="0"/>
          <c:showBubbleSize val="0"/>
        </c:dLbls>
        <c:gapWidth val="100"/>
        <c:overlap val="-24"/>
        <c:axId val="1530074415"/>
        <c:axId val="1530067215"/>
      </c:barChart>
      <c:catAx>
        <c:axId val="1530074415"/>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Goals Scored Bins</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30067215"/>
        <c:crosses val="autoZero"/>
        <c:auto val="1"/>
        <c:lblAlgn val="ctr"/>
        <c:lblOffset val="100"/>
        <c:noMultiLvlLbl val="0"/>
      </c:catAx>
      <c:valAx>
        <c:axId val="153006721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Frequency</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300744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[Soccer Performance and Health Analytics.xlsx]1b_Analyze the Metric!PivotTable14</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Frequency Distribution of Nationality</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'1b_Analyze the Metric'!$H$29</c:f>
              <c:strCache>
                <c:ptCount val="1"/>
                <c:pt idx="0">
                  <c:v>Total</c:v>
                </c:pt>
              </c:strCache>
            </c:strRef>
          </c:tx>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'1b_Analyze the Metric'!$G$30:$G$36</c:f>
              <c:strCache>
                <c:ptCount val="6"/>
                <c:pt idx="0">
                  <c:v>Argentina</c:v>
                </c:pt>
                <c:pt idx="1">
                  <c:v>Brazil</c:v>
                </c:pt>
                <c:pt idx="2">
                  <c:v>Germany</c:v>
                </c:pt>
                <c:pt idx="3">
                  <c:v>Spain</c:v>
                </c:pt>
                <c:pt idx="4">
                  <c:v>UK</c:v>
                </c:pt>
                <c:pt idx="5">
                  <c:v>USA</c:v>
                </c:pt>
              </c:strCache>
            </c:strRef>
          </c:cat>
          <c:val>
            <c:numRef>
              <c:f>'1b_Analyze the Metric'!$H$30:$H$36</c:f>
              <c:numCache>
                <c:formatCode>General</c:formatCode>
                <c:ptCount val="6"/>
                <c:pt idx="0">
                  <c:v>33</c:v>
                </c:pt>
                <c:pt idx="1">
                  <c:v>59</c:v>
                </c:pt>
                <c:pt idx="2">
                  <c:v>59</c:v>
                </c:pt>
                <c:pt idx="3">
                  <c:v>51</c:v>
                </c:pt>
                <c:pt idx="4">
                  <c:v>42</c:v>
                </c:pt>
                <c:pt idx="5">
                  <c:v>36</c:v>
                </c:pt>
              </c:numCache>
            </c:numRef>
          </c:val>
          <c:extLst>
            <c:ext xmlns:c16="http://schemas.microsoft.com/office/drawing/2014/chart" uri="{C3380CC4-5D6E-409C-BE32-E72D297353CC}">
              <c16:uniqueId val="{00000000-79BD-421D-BD2C-F9553F214D26}"/>
            </c:ext>
          </c:extLst>
        </c:ser>
        <c:dLbls>
          <c:dLblPos val="inEnd"/>
          <c:showLegendKey val="0"/>
          <c:showVal val="1"/>
          <c:showCatName val="0"/>
          <c:showSerName val="0"/>
          <c:showPercent val="0"/>
          <c:showBubbleSize val="0"/>
        </c:dLbls>
        <c:gapWidth val="115"/>
        <c:overlap val="-20"/>
        <c:axId val="785711679"/>
        <c:axId val="785712159"/>
      </c:barChart>
      <c:catAx>
        <c:axId val="785711679"/>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85712159"/>
        <c:crosses val="autoZero"/>
        <c:auto val="1"/>
        <c:lblAlgn val="ctr"/>
        <c:lblOffset val="100"/>
        <c:noMultiLvlLbl val="0"/>
      </c:catAx>
      <c:valAx>
        <c:axId val="785712159"/>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857116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Speed vs Age </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scatterChart>
        <c:scatterStyle val="lineMarker"/>
        <c:varyColors val="0"/>
        <c:ser>
          <c:idx val="0"/>
          <c:order val="0"/>
          <c:tx>
            <c:strRef>
              <c:f>'5a_Age vs Speed'!$C$1</c:f>
              <c:strCache>
                <c:ptCount val="1"/>
                <c:pt idx="0">
                  <c:v>Sprint Speed (m/s)</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trendline>
            <c:spPr>
              <a:ln w="19050" cap="rnd">
                <a:solidFill>
                  <a:schemeClr val="accent2"/>
                </a:solidFill>
                <a:prstDash val="sysDash"/>
              </a:ln>
              <a:effectLst/>
            </c:spPr>
            <c:trendlineType val="linear"/>
            <c:dispRSqr val="0"/>
            <c:dispEq val="0"/>
          </c:trendline>
          <c:trendline>
            <c:spPr>
              <a:ln w="19050" cap="rnd">
                <a:solidFill>
                  <a:schemeClr val="accent2"/>
                </a:solidFill>
                <a:prstDash val="sysDash"/>
              </a:ln>
              <a:effectLst/>
            </c:spPr>
            <c:trendlineType val="linear"/>
            <c:dispRSqr val="1"/>
            <c:dispEq val="1"/>
            <c:trendlineLbl>
              <c:layout>
                <c:manualLayout>
                  <c:x val="1.1626640419947506E-2"/>
                  <c:y val="-0.28544179448667184"/>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trendlineLbl>
          </c:trendline>
          <c:xVal>
            <c:numRef>
              <c:f>'5a_Age vs Speed'!$B$2:$B$281</c:f>
              <c:numCache>
                <c:formatCode>General</c:formatCode>
                <c:ptCount val="280"/>
                <c:pt idx="0">
                  <c:v>29</c:v>
                </c:pt>
                <c:pt idx="1">
                  <c:v>27</c:v>
                </c:pt>
                <c:pt idx="2">
                  <c:v>24</c:v>
                </c:pt>
                <c:pt idx="3">
                  <c:v>30</c:v>
                </c:pt>
                <c:pt idx="4">
                  <c:v>24</c:v>
                </c:pt>
                <c:pt idx="5">
                  <c:v>34</c:v>
                </c:pt>
                <c:pt idx="6">
                  <c:v>27</c:v>
                </c:pt>
                <c:pt idx="7">
                  <c:v>27</c:v>
                </c:pt>
                <c:pt idx="8">
                  <c:v>21</c:v>
                </c:pt>
                <c:pt idx="9">
                  <c:v>37</c:v>
                </c:pt>
                <c:pt idx="10">
                  <c:v>21</c:v>
                </c:pt>
                <c:pt idx="11">
                  <c:v>39</c:v>
                </c:pt>
                <c:pt idx="12">
                  <c:v>24</c:v>
                </c:pt>
                <c:pt idx="13">
                  <c:v>39</c:v>
                </c:pt>
                <c:pt idx="14">
                  <c:v>18</c:v>
                </c:pt>
                <c:pt idx="15">
                  <c:v>29</c:v>
                </c:pt>
                <c:pt idx="16">
                  <c:v>30</c:v>
                </c:pt>
                <c:pt idx="17">
                  <c:v>27</c:v>
                </c:pt>
                <c:pt idx="18">
                  <c:v>32</c:v>
                </c:pt>
                <c:pt idx="19">
                  <c:v>30</c:v>
                </c:pt>
                <c:pt idx="20">
                  <c:v>39</c:v>
                </c:pt>
                <c:pt idx="21">
                  <c:v>39</c:v>
                </c:pt>
                <c:pt idx="22">
                  <c:v>38</c:v>
                </c:pt>
                <c:pt idx="23">
                  <c:v>39</c:v>
                </c:pt>
                <c:pt idx="24">
                  <c:v>26</c:v>
                </c:pt>
                <c:pt idx="25">
                  <c:v>26</c:v>
                </c:pt>
                <c:pt idx="26">
                  <c:v>32</c:v>
                </c:pt>
                <c:pt idx="27">
                  <c:v>27</c:v>
                </c:pt>
                <c:pt idx="28">
                  <c:v>27</c:v>
                </c:pt>
                <c:pt idx="29">
                  <c:v>25</c:v>
                </c:pt>
                <c:pt idx="30">
                  <c:v>33</c:v>
                </c:pt>
                <c:pt idx="31">
                  <c:v>34</c:v>
                </c:pt>
                <c:pt idx="32">
                  <c:v>22</c:v>
                </c:pt>
                <c:pt idx="33">
                  <c:v>21</c:v>
                </c:pt>
                <c:pt idx="34">
                  <c:v>35</c:v>
                </c:pt>
                <c:pt idx="35">
                  <c:v>36</c:v>
                </c:pt>
                <c:pt idx="36">
                  <c:v>21</c:v>
                </c:pt>
                <c:pt idx="37">
                  <c:v>24</c:v>
                </c:pt>
                <c:pt idx="38">
                  <c:v>27</c:v>
                </c:pt>
                <c:pt idx="39">
                  <c:v>35</c:v>
                </c:pt>
                <c:pt idx="40">
                  <c:v>36</c:v>
                </c:pt>
                <c:pt idx="41">
                  <c:v>21</c:v>
                </c:pt>
                <c:pt idx="42">
                  <c:v>27</c:v>
                </c:pt>
                <c:pt idx="43">
                  <c:v>18</c:v>
                </c:pt>
                <c:pt idx="44">
                  <c:v>35</c:v>
                </c:pt>
                <c:pt idx="45">
                  <c:v>22</c:v>
                </c:pt>
                <c:pt idx="46">
                  <c:v>32</c:v>
                </c:pt>
                <c:pt idx="47">
                  <c:v>34</c:v>
                </c:pt>
                <c:pt idx="48">
                  <c:v>20</c:v>
                </c:pt>
                <c:pt idx="49">
                  <c:v>29</c:v>
                </c:pt>
                <c:pt idx="50">
                  <c:v>19</c:v>
                </c:pt>
                <c:pt idx="51">
                  <c:v>18</c:v>
                </c:pt>
                <c:pt idx="52">
                  <c:v>38</c:v>
                </c:pt>
                <c:pt idx="53">
                  <c:v>34</c:v>
                </c:pt>
                <c:pt idx="54">
                  <c:v>39</c:v>
                </c:pt>
                <c:pt idx="55">
                  <c:v>33</c:v>
                </c:pt>
                <c:pt idx="56">
                  <c:v>22</c:v>
                </c:pt>
                <c:pt idx="57">
                  <c:v>32</c:v>
                </c:pt>
                <c:pt idx="58">
                  <c:v>20</c:v>
                </c:pt>
                <c:pt idx="59">
                  <c:v>24</c:v>
                </c:pt>
                <c:pt idx="60">
                  <c:v>28</c:v>
                </c:pt>
                <c:pt idx="61">
                  <c:v>27</c:v>
                </c:pt>
                <c:pt idx="62">
                  <c:v>26</c:v>
                </c:pt>
                <c:pt idx="63">
                  <c:v>31</c:v>
                </c:pt>
                <c:pt idx="64">
                  <c:v>30</c:v>
                </c:pt>
                <c:pt idx="65">
                  <c:v>19</c:v>
                </c:pt>
                <c:pt idx="66">
                  <c:v>20</c:v>
                </c:pt>
                <c:pt idx="67">
                  <c:v>24</c:v>
                </c:pt>
                <c:pt idx="68">
                  <c:v>38</c:v>
                </c:pt>
                <c:pt idx="69">
                  <c:v>35</c:v>
                </c:pt>
                <c:pt idx="70">
                  <c:v>20</c:v>
                </c:pt>
                <c:pt idx="71">
                  <c:v>27</c:v>
                </c:pt>
                <c:pt idx="72">
                  <c:v>39</c:v>
                </c:pt>
                <c:pt idx="73">
                  <c:v>24</c:v>
                </c:pt>
                <c:pt idx="74">
                  <c:v>26</c:v>
                </c:pt>
                <c:pt idx="75">
                  <c:v>34</c:v>
                </c:pt>
                <c:pt idx="76">
                  <c:v>28</c:v>
                </c:pt>
                <c:pt idx="77">
                  <c:v>24</c:v>
                </c:pt>
                <c:pt idx="78">
                  <c:v>31</c:v>
                </c:pt>
                <c:pt idx="79">
                  <c:v>36</c:v>
                </c:pt>
                <c:pt idx="80">
                  <c:v>21</c:v>
                </c:pt>
                <c:pt idx="81">
                  <c:v>23</c:v>
                </c:pt>
                <c:pt idx="82">
                  <c:v>27</c:v>
                </c:pt>
                <c:pt idx="83">
                  <c:v>24</c:v>
                </c:pt>
                <c:pt idx="84">
                  <c:v>30</c:v>
                </c:pt>
                <c:pt idx="85">
                  <c:v>31</c:v>
                </c:pt>
                <c:pt idx="86">
                  <c:v>21</c:v>
                </c:pt>
                <c:pt idx="87">
                  <c:v>25</c:v>
                </c:pt>
                <c:pt idx="88">
                  <c:v>22</c:v>
                </c:pt>
                <c:pt idx="89">
                  <c:v>18</c:v>
                </c:pt>
                <c:pt idx="90">
                  <c:v>21</c:v>
                </c:pt>
                <c:pt idx="91">
                  <c:v>20</c:v>
                </c:pt>
                <c:pt idx="92">
                  <c:v>26</c:v>
                </c:pt>
                <c:pt idx="93">
                  <c:v>25</c:v>
                </c:pt>
                <c:pt idx="94">
                  <c:v>18</c:v>
                </c:pt>
                <c:pt idx="95">
                  <c:v>23</c:v>
                </c:pt>
                <c:pt idx="96">
                  <c:v>26</c:v>
                </c:pt>
                <c:pt idx="97">
                  <c:v>24</c:v>
                </c:pt>
                <c:pt idx="98">
                  <c:v>21</c:v>
                </c:pt>
                <c:pt idx="99">
                  <c:v>30</c:v>
                </c:pt>
                <c:pt idx="100">
                  <c:v>34</c:v>
                </c:pt>
                <c:pt idx="101">
                  <c:v>19</c:v>
                </c:pt>
                <c:pt idx="102">
                  <c:v>22</c:v>
                </c:pt>
                <c:pt idx="103">
                  <c:v>29</c:v>
                </c:pt>
                <c:pt idx="104">
                  <c:v>38</c:v>
                </c:pt>
                <c:pt idx="105">
                  <c:v>25</c:v>
                </c:pt>
                <c:pt idx="106">
                  <c:v>23</c:v>
                </c:pt>
                <c:pt idx="107">
                  <c:v>25</c:v>
                </c:pt>
                <c:pt idx="108">
                  <c:v>35</c:v>
                </c:pt>
                <c:pt idx="109">
                  <c:v>20</c:v>
                </c:pt>
                <c:pt idx="110">
                  <c:v>39</c:v>
                </c:pt>
                <c:pt idx="111">
                  <c:v>29</c:v>
                </c:pt>
                <c:pt idx="112">
                  <c:v>20</c:v>
                </c:pt>
                <c:pt idx="113">
                  <c:v>39</c:v>
                </c:pt>
                <c:pt idx="114">
                  <c:v>23</c:v>
                </c:pt>
                <c:pt idx="115">
                  <c:v>19</c:v>
                </c:pt>
                <c:pt idx="116">
                  <c:v>29</c:v>
                </c:pt>
                <c:pt idx="117">
                  <c:v>19</c:v>
                </c:pt>
                <c:pt idx="118">
                  <c:v>23</c:v>
                </c:pt>
                <c:pt idx="119">
                  <c:v>34</c:v>
                </c:pt>
                <c:pt idx="120">
                  <c:v>20</c:v>
                </c:pt>
                <c:pt idx="121">
                  <c:v>19</c:v>
                </c:pt>
                <c:pt idx="122">
                  <c:v>37</c:v>
                </c:pt>
                <c:pt idx="123">
                  <c:v>25</c:v>
                </c:pt>
                <c:pt idx="124">
                  <c:v>39</c:v>
                </c:pt>
                <c:pt idx="125">
                  <c:v>29</c:v>
                </c:pt>
                <c:pt idx="126">
                  <c:v>21</c:v>
                </c:pt>
                <c:pt idx="127">
                  <c:v>22</c:v>
                </c:pt>
                <c:pt idx="128">
                  <c:v>30</c:v>
                </c:pt>
                <c:pt idx="129">
                  <c:v>32</c:v>
                </c:pt>
                <c:pt idx="130">
                  <c:v>33</c:v>
                </c:pt>
                <c:pt idx="131">
                  <c:v>27</c:v>
                </c:pt>
                <c:pt idx="132">
                  <c:v>33</c:v>
                </c:pt>
                <c:pt idx="133">
                  <c:v>29</c:v>
                </c:pt>
                <c:pt idx="134">
                  <c:v>34</c:v>
                </c:pt>
                <c:pt idx="135">
                  <c:v>33</c:v>
                </c:pt>
                <c:pt idx="136">
                  <c:v>29</c:v>
                </c:pt>
                <c:pt idx="137">
                  <c:v>25</c:v>
                </c:pt>
                <c:pt idx="138">
                  <c:v>37</c:v>
                </c:pt>
                <c:pt idx="139">
                  <c:v>20</c:v>
                </c:pt>
                <c:pt idx="140">
                  <c:v>33</c:v>
                </c:pt>
                <c:pt idx="141">
                  <c:v>30</c:v>
                </c:pt>
                <c:pt idx="142">
                  <c:v>36</c:v>
                </c:pt>
                <c:pt idx="143">
                  <c:v>25</c:v>
                </c:pt>
                <c:pt idx="144">
                  <c:v>39</c:v>
                </c:pt>
                <c:pt idx="145">
                  <c:v>22</c:v>
                </c:pt>
                <c:pt idx="146">
                  <c:v>37</c:v>
                </c:pt>
                <c:pt idx="147">
                  <c:v>25</c:v>
                </c:pt>
                <c:pt idx="148">
                  <c:v>29</c:v>
                </c:pt>
                <c:pt idx="149">
                  <c:v>18</c:v>
                </c:pt>
                <c:pt idx="150">
                  <c:v>38</c:v>
                </c:pt>
                <c:pt idx="151">
                  <c:v>37</c:v>
                </c:pt>
                <c:pt idx="152">
                  <c:v>23</c:v>
                </c:pt>
                <c:pt idx="153">
                  <c:v>39</c:v>
                </c:pt>
                <c:pt idx="154">
                  <c:v>35</c:v>
                </c:pt>
                <c:pt idx="155">
                  <c:v>25</c:v>
                </c:pt>
                <c:pt idx="156">
                  <c:v>24</c:v>
                </c:pt>
                <c:pt idx="157">
                  <c:v>18</c:v>
                </c:pt>
                <c:pt idx="158">
                  <c:v>38</c:v>
                </c:pt>
                <c:pt idx="159">
                  <c:v>33</c:v>
                </c:pt>
                <c:pt idx="160">
                  <c:v>29</c:v>
                </c:pt>
                <c:pt idx="161">
                  <c:v>23</c:v>
                </c:pt>
                <c:pt idx="162">
                  <c:v>37</c:v>
                </c:pt>
                <c:pt idx="163">
                  <c:v>19</c:v>
                </c:pt>
                <c:pt idx="164">
                  <c:v>31</c:v>
                </c:pt>
                <c:pt idx="165">
                  <c:v>21</c:v>
                </c:pt>
                <c:pt idx="166">
                  <c:v>18</c:v>
                </c:pt>
                <c:pt idx="167">
                  <c:v>35</c:v>
                </c:pt>
                <c:pt idx="168">
                  <c:v>30</c:v>
                </c:pt>
                <c:pt idx="169">
                  <c:v>19</c:v>
                </c:pt>
                <c:pt idx="170">
                  <c:v>26</c:v>
                </c:pt>
                <c:pt idx="171">
                  <c:v>38</c:v>
                </c:pt>
                <c:pt idx="172">
                  <c:v>19</c:v>
                </c:pt>
                <c:pt idx="173">
                  <c:v>26</c:v>
                </c:pt>
                <c:pt idx="174">
                  <c:v>18</c:v>
                </c:pt>
                <c:pt idx="175">
                  <c:v>28</c:v>
                </c:pt>
                <c:pt idx="176">
                  <c:v>20</c:v>
                </c:pt>
                <c:pt idx="177">
                  <c:v>37</c:v>
                </c:pt>
                <c:pt idx="178">
                  <c:v>21</c:v>
                </c:pt>
                <c:pt idx="179">
                  <c:v>35</c:v>
                </c:pt>
                <c:pt idx="180">
                  <c:v>23</c:v>
                </c:pt>
                <c:pt idx="181">
                  <c:v>20</c:v>
                </c:pt>
                <c:pt idx="182">
                  <c:v>39</c:v>
                </c:pt>
                <c:pt idx="183">
                  <c:v>28</c:v>
                </c:pt>
                <c:pt idx="184">
                  <c:v>32</c:v>
                </c:pt>
                <c:pt idx="185">
                  <c:v>39</c:v>
                </c:pt>
                <c:pt idx="186">
                  <c:v>22</c:v>
                </c:pt>
                <c:pt idx="187">
                  <c:v>37</c:v>
                </c:pt>
                <c:pt idx="188">
                  <c:v>27</c:v>
                </c:pt>
                <c:pt idx="189">
                  <c:v>29</c:v>
                </c:pt>
                <c:pt idx="190">
                  <c:v>32</c:v>
                </c:pt>
                <c:pt idx="191">
                  <c:v>34</c:v>
                </c:pt>
                <c:pt idx="192">
                  <c:v>27</c:v>
                </c:pt>
                <c:pt idx="193">
                  <c:v>23</c:v>
                </c:pt>
                <c:pt idx="194">
                  <c:v>35</c:v>
                </c:pt>
                <c:pt idx="195">
                  <c:v>30</c:v>
                </c:pt>
                <c:pt idx="196">
                  <c:v>20</c:v>
                </c:pt>
                <c:pt idx="197">
                  <c:v>27</c:v>
                </c:pt>
                <c:pt idx="198">
                  <c:v>31</c:v>
                </c:pt>
                <c:pt idx="199">
                  <c:v>23</c:v>
                </c:pt>
                <c:pt idx="200">
                  <c:v>20</c:v>
                </c:pt>
                <c:pt idx="201">
                  <c:v>33</c:v>
                </c:pt>
                <c:pt idx="202">
                  <c:v>24</c:v>
                </c:pt>
                <c:pt idx="203">
                  <c:v>37</c:v>
                </c:pt>
                <c:pt idx="204">
                  <c:v>31</c:v>
                </c:pt>
                <c:pt idx="205">
                  <c:v>26</c:v>
                </c:pt>
                <c:pt idx="206">
                  <c:v>32</c:v>
                </c:pt>
                <c:pt idx="207">
                  <c:v>38</c:v>
                </c:pt>
                <c:pt idx="208">
                  <c:v>20</c:v>
                </c:pt>
                <c:pt idx="209">
                  <c:v>19</c:v>
                </c:pt>
                <c:pt idx="210">
                  <c:v>19</c:v>
                </c:pt>
                <c:pt idx="211">
                  <c:v>20</c:v>
                </c:pt>
                <c:pt idx="212">
                  <c:v>35</c:v>
                </c:pt>
                <c:pt idx="213">
                  <c:v>31</c:v>
                </c:pt>
                <c:pt idx="214">
                  <c:v>37</c:v>
                </c:pt>
                <c:pt idx="215">
                  <c:v>35</c:v>
                </c:pt>
                <c:pt idx="216">
                  <c:v>27</c:v>
                </c:pt>
                <c:pt idx="217">
                  <c:v>19</c:v>
                </c:pt>
                <c:pt idx="218">
                  <c:v>39</c:v>
                </c:pt>
                <c:pt idx="219">
                  <c:v>18</c:v>
                </c:pt>
                <c:pt idx="220">
                  <c:v>21</c:v>
                </c:pt>
                <c:pt idx="221">
                  <c:v>31</c:v>
                </c:pt>
                <c:pt idx="222">
                  <c:v>18</c:v>
                </c:pt>
                <c:pt idx="223">
                  <c:v>31</c:v>
                </c:pt>
                <c:pt idx="224">
                  <c:v>33</c:v>
                </c:pt>
                <c:pt idx="225">
                  <c:v>39</c:v>
                </c:pt>
                <c:pt idx="226">
                  <c:v>31</c:v>
                </c:pt>
                <c:pt idx="227">
                  <c:v>37</c:v>
                </c:pt>
                <c:pt idx="228">
                  <c:v>20</c:v>
                </c:pt>
                <c:pt idx="229">
                  <c:v>20</c:v>
                </c:pt>
                <c:pt idx="230">
                  <c:v>26</c:v>
                </c:pt>
                <c:pt idx="231">
                  <c:v>23</c:v>
                </c:pt>
                <c:pt idx="232">
                  <c:v>30</c:v>
                </c:pt>
                <c:pt idx="233">
                  <c:v>38</c:v>
                </c:pt>
                <c:pt idx="234">
                  <c:v>19</c:v>
                </c:pt>
                <c:pt idx="235">
                  <c:v>25</c:v>
                </c:pt>
                <c:pt idx="236">
                  <c:v>38</c:v>
                </c:pt>
                <c:pt idx="237">
                  <c:v>19</c:v>
                </c:pt>
                <c:pt idx="238">
                  <c:v>21</c:v>
                </c:pt>
                <c:pt idx="239">
                  <c:v>32</c:v>
                </c:pt>
                <c:pt idx="240">
                  <c:v>21</c:v>
                </c:pt>
                <c:pt idx="241">
                  <c:v>30</c:v>
                </c:pt>
                <c:pt idx="242">
                  <c:v>29</c:v>
                </c:pt>
                <c:pt idx="243">
                  <c:v>30</c:v>
                </c:pt>
                <c:pt idx="244">
                  <c:v>31</c:v>
                </c:pt>
                <c:pt idx="245">
                  <c:v>37</c:v>
                </c:pt>
                <c:pt idx="246">
                  <c:v>35</c:v>
                </c:pt>
                <c:pt idx="247">
                  <c:v>23</c:v>
                </c:pt>
                <c:pt idx="248">
                  <c:v>28</c:v>
                </c:pt>
                <c:pt idx="249">
                  <c:v>19</c:v>
                </c:pt>
                <c:pt idx="250">
                  <c:v>36</c:v>
                </c:pt>
                <c:pt idx="251">
                  <c:v>36</c:v>
                </c:pt>
                <c:pt idx="252">
                  <c:v>22</c:v>
                </c:pt>
                <c:pt idx="253">
                  <c:v>36</c:v>
                </c:pt>
                <c:pt idx="254">
                  <c:v>19</c:v>
                </c:pt>
                <c:pt idx="255">
                  <c:v>27</c:v>
                </c:pt>
                <c:pt idx="256">
                  <c:v>19</c:v>
                </c:pt>
                <c:pt idx="257">
                  <c:v>28</c:v>
                </c:pt>
                <c:pt idx="258">
                  <c:v>35</c:v>
                </c:pt>
                <c:pt idx="259">
                  <c:v>32</c:v>
                </c:pt>
                <c:pt idx="260">
                  <c:v>26</c:v>
                </c:pt>
                <c:pt idx="261">
                  <c:v>36</c:v>
                </c:pt>
                <c:pt idx="262">
                  <c:v>26</c:v>
                </c:pt>
                <c:pt idx="263">
                  <c:v>20</c:v>
                </c:pt>
                <c:pt idx="264">
                  <c:v>38</c:v>
                </c:pt>
                <c:pt idx="265">
                  <c:v>26</c:v>
                </c:pt>
                <c:pt idx="266">
                  <c:v>31</c:v>
                </c:pt>
                <c:pt idx="267">
                  <c:v>36</c:v>
                </c:pt>
                <c:pt idx="268">
                  <c:v>24</c:v>
                </c:pt>
                <c:pt idx="269">
                  <c:v>33</c:v>
                </c:pt>
                <c:pt idx="270">
                  <c:v>33</c:v>
                </c:pt>
                <c:pt idx="271">
                  <c:v>18</c:v>
                </c:pt>
                <c:pt idx="272">
                  <c:v>21</c:v>
                </c:pt>
                <c:pt idx="273">
                  <c:v>21</c:v>
                </c:pt>
                <c:pt idx="274">
                  <c:v>24</c:v>
                </c:pt>
                <c:pt idx="275">
                  <c:v>25</c:v>
                </c:pt>
                <c:pt idx="276">
                  <c:v>34</c:v>
                </c:pt>
                <c:pt idx="277">
                  <c:v>22</c:v>
                </c:pt>
                <c:pt idx="278">
                  <c:v>24</c:v>
                </c:pt>
                <c:pt idx="279">
                  <c:v>37</c:v>
                </c:pt>
              </c:numCache>
            </c:numRef>
          </c:xVal>
          <c:yVal>
            <c:numRef>
              <c:f>'5a_Age vs Speed'!$C$2:$C$281</c:f>
              <c:numCache>
                <c:formatCode>General</c:formatCode>
                <c:ptCount val="280"/>
                <c:pt idx="0">
                  <c:v>7.58</c:v>
                </c:pt>
                <c:pt idx="1">
                  <c:v>6.16</c:v>
                </c:pt>
                <c:pt idx="2">
                  <c:v>7.9</c:v>
                </c:pt>
                <c:pt idx="3">
                  <c:v>8.17</c:v>
                </c:pt>
                <c:pt idx="4">
                  <c:v>6.91</c:v>
                </c:pt>
                <c:pt idx="5">
                  <c:v>9.86</c:v>
                </c:pt>
                <c:pt idx="6">
                  <c:v>9.64</c:v>
                </c:pt>
                <c:pt idx="7">
                  <c:v>8.89</c:v>
                </c:pt>
                <c:pt idx="8">
                  <c:v>8.1300000000000008</c:v>
                </c:pt>
                <c:pt idx="9">
                  <c:v>9.48</c:v>
                </c:pt>
                <c:pt idx="10">
                  <c:v>6.52</c:v>
                </c:pt>
                <c:pt idx="11">
                  <c:v>9.16</c:v>
                </c:pt>
                <c:pt idx="12">
                  <c:v>6.5</c:v>
                </c:pt>
                <c:pt idx="13">
                  <c:v>9.18</c:v>
                </c:pt>
                <c:pt idx="14">
                  <c:v>7.1</c:v>
                </c:pt>
                <c:pt idx="15">
                  <c:v>9.51</c:v>
                </c:pt>
                <c:pt idx="16">
                  <c:v>9.7799999999999994</c:v>
                </c:pt>
                <c:pt idx="17">
                  <c:v>6.6</c:v>
                </c:pt>
                <c:pt idx="18">
                  <c:v>7.85</c:v>
                </c:pt>
                <c:pt idx="19">
                  <c:v>9.92</c:v>
                </c:pt>
                <c:pt idx="20">
                  <c:v>7.93</c:v>
                </c:pt>
                <c:pt idx="21">
                  <c:v>9.4499999999999993</c:v>
                </c:pt>
                <c:pt idx="22">
                  <c:v>8.35</c:v>
                </c:pt>
                <c:pt idx="23">
                  <c:v>7.5</c:v>
                </c:pt>
                <c:pt idx="24">
                  <c:v>7.14</c:v>
                </c:pt>
                <c:pt idx="25">
                  <c:v>6.81</c:v>
                </c:pt>
                <c:pt idx="26">
                  <c:v>9.0500000000000007</c:v>
                </c:pt>
                <c:pt idx="27">
                  <c:v>7.55</c:v>
                </c:pt>
                <c:pt idx="28">
                  <c:v>8.0500000000000007</c:v>
                </c:pt>
                <c:pt idx="29">
                  <c:v>7.97</c:v>
                </c:pt>
                <c:pt idx="30">
                  <c:v>8.31</c:v>
                </c:pt>
                <c:pt idx="31">
                  <c:v>9.4600000000000009</c:v>
                </c:pt>
                <c:pt idx="32">
                  <c:v>9.92</c:v>
                </c:pt>
                <c:pt idx="33">
                  <c:v>7.63</c:v>
                </c:pt>
                <c:pt idx="34">
                  <c:v>9.31</c:v>
                </c:pt>
                <c:pt idx="35">
                  <c:v>9.06</c:v>
                </c:pt>
                <c:pt idx="36">
                  <c:v>8.2899999999999991</c:v>
                </c:pt>
                <c:pt idx="37">
                  <c:v>9.82</c:v>
                </c:pt>
                <c:pt idx="38">
                  <c:v>6.8</c:v>
                </c:pt>
                <c:pt idx="39">
                  <c:v>6.44</c:v>
                </c:pt>
                <c:pt idx="40">
                  <c:v>9.42</c:v>
                </c:pt>
                <c:pt idx="41">
                  <c:v>7.76</c:v>
                </c:pt>
                <c:pt idx="42">
                  <c:v>9.39</c:v>
                </c:pt>
                <c:pt idx="43">
                  <c:v>9.57</c:v>
                </c:pt>
                <c:pt idx="44">
                  <c:v>6.25</c:v>
                </c:pt>
                <c:pt idx="45">
                  <c:v>9.5299999999999994</c:v>
                </c:pt>
                <c:pt idx="46">
                  <c:v>7.79</c:v>
                </c:pt>
                <c:pt idx="47">
                  <c:v>8.0399999999999991</c:v>
                </c:pt>
                <c:pt idx="48">
                  <c:v>8.51</c:v>
                </c:pt>
                <c:pt idx="49">
                  <c:v>9.7100000000000009</c:v>
                </c:pt>
                <c:pt idx="50">
                  <c:v>6.08</c:v>
                </c:pt>
                <c:pt idx="51">
                  <c:v>7.91</c:v>
                </c:pt>
                <c:pt idx="52">
                  <c:v>8.75</c:v>
                </c:pt>
                <c:pt idx="53">
                  <c:v>8.89</c:v>
                </c:pt>
                <c:pt idx="54">
                  <c:v>8.77</c:v>
                </c:pt>
                <c:pt idx="55">
                  <c:v>6.54</c:v>
                </c:pt>
                <c:pt idx="56">
                  <c:v>7.2</c:v>
                </c:pt>
                <c:pt idx="57">
                  <c:v>7.43</c:v>
                </c:pt>
                <c:pt idx="58">
                  <c:v>9.2200000000000006</c:v>
                </c:pt>
                <c:pt idx="59">
                  <c:v>7.12</c:v>
                </c:pt>
                <c:pt idx="60">
                  <c:v>6.84</c:v>
                </c:pt>
                <c:pt idx="61">
                  <c:v>9.83</c:v>
                </c:pt>
                <c:pt idx="62">
                  <c:v>6.04</c:v>
                </c:pt>
                <c:pt idx="63">
                  <c:v>9.99</c:v>
                </c:pt>
                <c:pt idx="64">
                  <c:v>8.7100000000000009</c:v>
                </c:pt>
                <c:pt idx="65">
                  <c:v>9.31</c:v>
                </c:pt>
                <c:pt idx="66">
                  <c:v>7.18</c:v>
                </c:pt>
                <c:pt idx="67">
                  <c:v>6.06</c:v>
                </c:pt>
                <c:pt idx="68">
                  <c:v>8.9499999999999993</c:v>
                </c:pt>
                <c:pt idx="69">
                  <c:v>9.34</c:v>
                </c:pt>
                <c:pt idx="70">
                  <c:v>8.9600000000000009</c:v>
                </c:pt>
                <c:pt idx="71">
                  <c:v>6.57</c:v>
                </c:pt>
                <c:pt idx="72">
                  <c:v>9.01</c:v>
                </c:pt>
                <c:pt idx="73">
                  <c:v>9.08</c:v>
                </c:pt>
                <c:pt idx="74">
                  <c:v>8.6300000000000008</c:v>
                </c:pt>
                <c:pt idx="75">
                  <c:v>9.06</c:v>
                </c:pt>
                <c:pt idx="76">
                  <c:v>9.3800000000000008</c:v>
                </c:pt>
                <c:pt idx="77">
                  <c:v>8.4499999999999993</c:v>
                </c:pt>
                <c:pt idx="78">
                  <c:v>6.35</c:v>
                </c:pt>
                <c:pt idx="79">
                  <c:v>7.95</c:v>
                </c:pt>
                <c:pt idx="80">
                  <c:v>6.31</c:v>
                </c:pt>
                <c:pt idx="81">
                  <c:v>7.63</c:v>
                </c:pt>
                <c:pt idx="82">
                  <c:v>7.63</c:v>
                </c:pt>
                <c:pt idx="83">
                  <c:v>6.26</c:v>
                </c:pt>
                <c:pt idx="84">
                  <c:v>7.4</c:v>
                </c:pt>
                <c:pt idx="85">
                  <c:v>6.44</c:v>
                </c:pt>
                <c:pt idx="86">
                  <c:v>9.23</c:v>
                </c:pt>
                <c:pt idx="87">
                  <c:v>9.7899999999999991</c:v>
                </c:pt>
                <c:pt idx="88">
                  <c:v>6.29</c:v>
                </c:pt>
                <c:pt idx="89">
                  <c:v>9.82</c:v>
                </c:pt>
                <c:pt idx="90">
                  <c:v>8.09</c:v>
                </c:pt>
                <c:pt idx="91">
                  <c:v>7.2</c:v>
                </c:pt>
                <c:pt idx="92">
                  <c:v>6.31</c:v>
                </c:pt>
                <c:pt idx="93">
                  <c:v>8</c:v>
                </c:pt>
                <c:pt idx="94">
                  <c:v>9.18</c:v>
                </c:pt>
                <c:pt idx="95">
                  <c:v>8.83</c:v>
                </c:pt>
                <c:pt idx="96">
                  <c:v>6.2</c:v>
                </c:pt>
                <c:pt idx="97">
                  <c:v>6.29</c:v>
                </c:pt>
                <c:pt idx="98">
                  <c:v>7.61</c:v>
                </c:pt>
                <c:pt idx="99">
                  <c:v>7.18</c:v>
                </c:pt>
                <c:pt idx="100">
                  <c:v>6.93</c:v>
                </c:pt>
                <c:pt idx="101">
                  <c:v>7.12</c:v>
                </c:pt>
                <c:pt idx="102">
                  <c:v>9.2100000000000009</c:v>
                </c:pt>
                <c:pt idx="103">
                  <c:v>9.7200000000000006</c:v>
                </c:pt>
                <c:pt idx="104">
                  <c:v>7.62</c:v>
                </c:pt>
                <c:pt idx="105">
                  <c:v>9.6199999999999992</c:v>
                </c:pt>
                <c:pt idx="106">
                  <c:v>7.29</c:v>
                </c:pt>
                <c:pt idx="107">
                  <c:v>7.91</c:v>
                </c:pt>
                <c:pt idx="108">
                  <c:v>6.9</c:v>
                </c:pt>
                <c:pt idx="109">
                  <c:v>8.56</c:v>
                </c:pt>
                <c:pt idx="110">
                  <c:v>9.92</c:v>
                </c:pt>
                <c:pt idx="111">
                  <c:v>8.41</c:v>
                </c:pt>
                <c:pt idx="112">
                  <c:v>7.43</c:v>
                </c:pt>
                <c:pt idx="113">
                  <c:v>8.59</c:v>
                </c:pt>
                <c:pt idx="114">
                  <c:v>6.49</c:v>
                </c:pt>
                <c:pt idx="115">
                  <c:v>9.5500000000000007</c:v>
                </c:pt>
                <c:pt idx="116">
                  <c:v>8.01</c:v>
                </c:pt>
                <c:pt idx="117">
                  <c:v>7.8</c:v>
                </c:pt>
                <c:pt idx="118">
                  <c:v>8.34</c:v>
                </c:pt>
                <c:pt idx="119">
                  <c:v>8.5</c:v>
                </c:pt>
                <c:pt idx="120">
                  <c:v>6.29</c:v>
                </c:pt>
                <c:pt idx="121">
                  <c:v>8.73</c:v>
                </c:pt>
                <c:pt idx="122">
                  <c:v>6.97</c:v>
                </c:pt>
                <c:pt idx="123">
                  <c:v>8.86</c:v>
                </c:pt>
                <c:pt idx="124">
                  <c:v>9.2899999999999991</c:v>
                </c:pt>
                <c:pt idx="125">
                  <c:v>9.2200000000000006</c:v>
                </c:pt>
                <c:pt idx="126">
                  <c:v>8.2100000000000009</c:v>
                </c:pt>
                <c:pt idx="127">
                  <c:v>8.08</c:v>
                </c:pt>
                <c:pt idx="128">
                  <c:v>6.57</c:v>
                </c:pt>
                <c:pt idx="129">
                  <c:v>9.1</c:v>
                </c:pt>
                <c:pt idx="130">
                  <c:v>7.09</c:v>
                </c:pt>
                <c:pt idx="131">
                  <c:v>7.99</c:v>
                </c:pt>
                <c:pt idx="132">
                  <c:v>7.14</c:v>
                </c:pt>
                <c:pt idx="133">
                  <c:v>6.54</c:v>
                </c:pt>
                <c:pt idx="134">
                  <c:v>8.52</c:v>
                </c:pt>
                <c:pt idx="135">
                  <c:v>6.22</c:v>
                </c:pt>
                <c:pt idx="136">
                  <c:v>8.99</c:v>
                </c:pt>
                <c:pt idx="137">
                  <c:v>7.27</c:v>
                </c:pt>
                <c:pt idx="138">
                  <c:v>6</c:v>
                </c:pt>
                <c:pt idx="139">
                  <c:v>8.0399999999999991</c:v>
                </c:pt>
                <c:pt idx="140">
                  <c:v>6.19</c:v>
                </c:pt>
                <c:pt idx="141">
                  <c:v>7.1</c:v>
                </c:pt>
                <c:pt idx="142">
                  <c:v>8.83</c:v>
                </c:pt>
                <c:pt idx="143">
                  <c:v>6.25</c:v>
                </c:pt>
                <c:pt idx="144">
                  <c:v>9.36</c:v>
                </c:pt>
                <c:pt idx="145">
                  <c:v>6.02</c:v>
                </c:pt>
                <c:pt idx="146">
                  <c:v>6.99</c:v>
                </c:pt>
                <c:pt idx="147">
                  <c:v>8.9600000000000009</c:v>
                </c:pt>
                <c:pt idx="148">
                  <c:v>7.27</c:v>
                </c:pt>
                <c:pt idx="149">
                  <c:v>6.41</c:v>
                </c:pt>
                <c:pt idx="150">
                  <c:v>7.44</c:v>
                </c:pt>
                <c:pt idx="151">
                  <c:v>7.08</c:v>
                </c:pt>
                <c:pt idx="152">
                  <c:v>9.3699999999999992</c:v>
                </c:pt>
                <c:pt idx="153">
                  <c:v>7.25</c:v>
                </c:pt>
                <c:pt idx="154">
                  <c:v>9.16</c:v>
                </c:pt>
                <c:pt idx="155">
                  <c:v>9.57</c:v>
                </c:pt>
                <c:pt idx="156">
                  <c:v>7.74</c:v>
                </c:pt>
                <c:pt idx="157">
                  <c:v>9.64</c:v>
                </c:pt>
                <c:pt idx="158">
                  <c:v>7.51</c:v>
                </c:pt>
                <c:pt idx="159">
                  <c:v>9.86</c:v>
                </c:pt>
                <c:pt idx="160">
                  <c:v>6.36</c:v>
                </c:pt>
                <c:pt idx="161">
                  <c:v>8.75</c:v>
                </c:pt>
                <c:pt idx="162">
                  <c:v>7.98</c:v>
                </c:pt>
                <c:pt idx="163">
                  <c:v>7.55</c:v>
                </c:pt>
                <c:pt idx="164">
                  <c:v>8.5299999999999994</c:v>
                </c:pt>
                <c:pt idx="165">
                  <c:v>8.82</c:v>
                </c:pt>
                <c:pt idx="166">
                  <c:v>6.02</c:v>
                </c:pt>
                <c:pt idx="167">
                  <c:v>6.67</c:v>
                </c:pt>
                <c:pt idx="168">
                  <c:v>8.85</c:v>
                </c:pt>
                <c:pt idx="169">
                  <c:v>8.67</c:v>
                </c:pt>
                <c:pt idx="170">
                  <c:v>9.86</c:v>
                </c:pt>
                <c:pt idx="171">
                  <c:v>9.0399999999999991</c:v>
                </c:pt>
                <c:pt idx="172">
                  <c:v>9.8000000000000007</c:v>
                </c:pt>
                <c:pt idx="173">
                  <c:v>8.81</c:v>
                </c:pt>
                <c:pt idx="174">
                  <c:v>7.19</c:v>
                </c:pt>
                <c:pt idx="175">
                  <c:v>6.42</c:v>
                </c:pt>
                <c:pt idx="176">
                  <c:v>9.1300000000000008</c:v>
                </c:pt>
                <c:pt idx="177">
                  <c:v>8.58</c:v>
                </c:pt>
                <c:pt idx="178">
                  <c:v>6.19</c:v>
                </c:pt>
                <c:pt idx="179">
                  <c:v>7.44</c:v>
                </c:pt>
                <c:pt idx="180">
                  <c:v>9.83</c:v>
                </c:pt>
                <c:pt idx="181">
                  <c:v>8</c:v>
                </c:pt>
                <c:pt idx="182">
                  <c:v>7.73</c:v>
                </c:pt>
                <c:pt idx="183">
                  <c:v>7.83</c:v>
                </c:pt>
                <c:pt idx="184">
                  <c:v>6.84</c:v>
                </c:pt>
                <c:pt idx="185">
                  <c:v>7.47</c:v>
                </c:pt>
                <c:pt idx="186">
                  <c:v>7.48</c:v>
                </c:pt>
                <c:pt idx="187">
                  <c:v>6.21</c:v>
                </c:pt>
                <c:pt idx="188">
                  <c:v>9.07</c:v>
                </c:pt>
                <c:pt idx="189">
                  <c:v>7.67</c:v>
                </c:pt>
                <c:pt idx="190">
                  <c:v>9.2899999999999991</c:v>
                </c:pt>
                <c:pt idx="191">
                  <c:v>9.4</c:v>
                </c:pt>
                <c:pt idx="192">
                  <c:v>6.85</c:v>
                </c:pt>
                <c:pt idx="193">
                  <c:v>8.6300000000000008</c:v>
                </c:pt>
                <c:pt idx="194">
                  <c:v>7.89</c:v>
                </c:pt>
                <c:pt idx="195">
                  <c:v>9.52</c:v>
                </c:pt>
                <c:pt idx="196">
                  <c:v>6.86</c:v>
                </c:pt>
                <c:pt idx="197">
                  <c:v>8.7100000000000009</c:v>
                </c:pt>
                <c:pt idx="198">
                  <c:v>8.43</c:v>
                </c:pt>
                <c:pt idx="199">
                  <c:v>7.18</c:v>
                </c:pt>
                <c:pt idx="200">
                  <c:v>6.55</c:v>
                </c:pt>
                <c:pt idx="201">
                  <c:v>8.61</c:v>
                </c:pt>
                <c:pt idx="202">
                  <c:v>8.9499999999999993</c:v>
                </c:pt>
                <c:pt idx="203">
                  <c:v>7.26</c:v>
                </c:pt>
                <c:pt idx="204">
                  <c:v>8.58</c:v>
                </c:pt>
                <c:pt idx="205">
                  <c:v>7.58</c:v>
                </c:pt>
                <c:pt idx="206">
                  <c:v>8.85</c:v>
                </c:pt>
                <c:pt idx="207">
                  <c:v>6.8</c:v>
                </c:pt>
                <c:pt idx="208">
                  <c:v>9.56</c:v>
                </c:pt>
                <c:pt idx="209">
                  <c:v>7.15</c:v>
                </c:pt>
                <c:pt idx="210">
                  <c:v>7.47</c:v>
                </c:pt>
                <c:pt idx="211">
                  <c:v>6.23</c:v>
                </c:pt>
                <c:pt idx="212">
                  <c:v>6.45</c:v>
                </c:pt>
                <c:pt idx="213">
                  <c:v>8.06</c:v>
                </c:pt>
                <c:pt idx="214">
                  <c:v>7.07</c:v>
                </c:pt>
                <c:pt idx="215">
                  <c:v>9.34</c:v>
                </c:pt>
                <c:pt idx="216">
                  <c:v>6.06</c:v>
                </c:pt>
                <c:pt idx="217">
                  <c:v>7.52</c:v>
                </c:pt>
                <c:pt idx="218">
                  <c:v>7.35</c:v>
                </c:pt>
                <c:pt idx="219">
                  <c:v>6.08</c:v>
                </c:pt>
                <c:pt idx="220">
                  <c:v>6.5</c:v>
                </c:pt>
                <c:pt idx="221">
                  <c:v>7.65</c:v>
                </c:pt>
                <c:pt idx="222">
                  <c:v>7.97</c:v>
                </c:pt>
                <c:pt idx="223">
                  <c:v>7.62</c:v>
                </c:pt>
                <c:pt idx="224">
                  <c:v>8.1199999999999992</c:v>
                </c:pt>
                <c:pt idx="225">
                  <c:v>8.3800000000000008</c:v>
                </c:pt>
                <c:pt idx="226">
                  <c:v>6.04</c:v>
                </c:pt>
                <c:pt idx="227">
                  <c:v>7.86</c:v>
                </c:pt>
                <c:pt idx="228">
                  <c:v>9.85</c:v>
                </c:pt>
                <c:pt idx="229">
                  <c:v>8.08</c:v>
                </c:pt>
                <c:pt idx="230">
                  <c:v>8.7100000000000009</c:v>
                </c:pt>
                <c:pt idx="231">
                  <c:v>7.25</c:v>
                </c:pt>
                <c:pt idx="232">
                  <c:v>9.1</c:v>
                </c:pt>
                <c:pt idx="233">
                  <c:v>9.09</c:v>
                </c:pt>
                <c:pt idx="234">
                  <c:v>8.09</c:v>
                </c:pt>
                <c:pt idx="235">
                  <c:v>9.9</c:v>
                </c:pt>
                <c:pt idx="236">
                  <c:v>6.5</c:v>
                </c:pt>
                <c:pt idx="237">
                  <c:v>6.07</c:v>
                </c:pt>
                <c:pt idx="238">
                  <c:v>9.08</c:v>
                </c:pt>
                <c:pt idx="239">
                  <c:v>9.23</c:v>
                </c:pt>
                <c:pt idx="240">
                  <c:v>6.48</c:v>
                </c:pt>
                <c:pt idx="241">
                  <c:v>7.06</c:v>
                </c:pt>
                <c:pt idx="242">
                  <c:v>6.07</c:v>
                </c:pt>
                <c:pt idx="243">
                  <c:v>7.17</c:v>
                </c:pt>
                <c:pt idx="244">
                  <c:v>9.09</c:v>
                </c:pt>
                <c:pt idx="245">
                  <c:v>8.07</c:v>
                </c:pt>
                <c:pt idx="246">
                  <c:v>7.39</c:v>
                </c:pt>
                <c:pt idx="247">
                  <c:v>7.49</c:v>
                </c:pt>
                <c:pt idx="248">
                  <c:v>6.01</c:v>
                </c:pt>
                <c:pt idx="249">
                  <c:v>7.2</c:v>
                </c:pt>
                <c:pt idx="250">
                  <c:v>8.59</c:v>
                </c:pt>
                <c:pt idx="251">
                  <c:v>9.9</c:v>
                </c:pt>
                <c:pt idx="252">
                  <c:v>9.39</c:v>
                </c:pt>
                <c:pt idx="253">
                  <c:v>6.09</c:v>
                </c:pt>
                <c:pt idx="254">
                  <c:v>9.59</c:v>
                </c:pt>
                <c:pt idx="255">
                  <c:v>9.1300000000000008</c:v>
                </c:pt>
                <c:pt idx="256">
                  <c:v>9.1199999999999992</c:v>
                </c:pt>
                <c:pt idx="257">
                  <c:v>7.83</c:v>
                </c:pt>
                <c:pt idx="258">
                  <c:v>7.59</c:v>
                </c:pt>
                <c:pt idx="259">
                  <c:v>7.21</c:v>
                </c:pt>
                <c:pt idx="260">
                  <c:v>6.26</c:v>
                </c:pt>
                <c:pt idx="261">
                  <c:v>6.91</c:v>
                </c:pt>
                <c:pt idx="262">
                  <c:v>6.99</c:v>
                </c:pt>
                <c:pt idx="263">
                  <c:v>7.94</c:v>
                </c:pt>
                <c:pt idx="264">
                  <c:v>8.99</c:v>
                </c:pt>
                <c:pt idx="265">
                  <c:v>7.9</c:v>
                </c:pt>
                <c:pt idx="266">
                  <c:v>6.23</c:v>
                </c:pt>
                <c:pt idx="267">
                  <c:v>9.83</c:v>
                </c:pt>
                <c:pt idx="268">
                  <c:v>9.77</c:v>
                </c:pt>
                <c:pt idx="269">
                  <c:v>9.14</c:v>
                </c:pt>
                <c:pt idx="270">
                  <c:v>9.9700000000000006</c:v>
                </c:pt>
                <c:pt idx="271">
                  <c:v>8.18</c:v>
                </c:pt>
                <c:pt idx="272">
                  <c:v>9.85</c:v>
                </c:pt>
                <c:pt idx="273">
                  <c:v>6.3</c:v>
                </c:pt>
                <c:pt idx="274">
                  <c:v>7.46</c:v>
                </c:pt>
                <c:pt idx="275">
                  <c:v>6.9</c:v>
                </c:pt>
                <c:pt idx="276">
                  <c:v>6.78</c:v>
                </c:pt>
                <c:pt idx="277">
                  <c:v>6.56</c:v>
                </c:pt>
                <c:pt idx="278">
                  <c:v>8.49</c:v>
                </c:pt>
                <c:pt idx="279">
                  <c:v>9.1300000000000008</c:v>
                </c:pt>
              </c:numCache>
            </c:numRef>
          </c:yVal>
          <c:smooth val="0"/>
          <c:extLst>
            <c:ext xmlns:c16="http://schemas.microsoft.com/office/drawing/2014/chart" uri="{C3380CC4-5D6E-409C-BE32-E72D297353CC}">
              <c16:uniqueId val="{00000002-D9F5-4CEB-8CD1-80EFAE31B560}"/>
            </c:ext>
          </c:extLst>
        </c:ser>
        <c:dLbls>
          <c:showLegendKey val="0"/>
          <c:showVal val="0"/>
          <c:showCatName val="0"/>
          <c:showSerName val="0"/>
          <c:showPercent val="0"/>
          <c:showBubbleSize val="0"/>
        </c:dLbls>
        <c:axId val="177933504"/>
        <c:axId val="177939264"/>
      </c:scatterChart>
      <c:valAx>
        <c:axId val="177933504"/>
        <c:scaling>
          <c:orientation val="minMax"/>
          <c:max val="40"/>
          <c:min val="15"/>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Age</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7939264"/>
        <c:crosses val="autoZero"/>
        <c:crossBetween val="midCat"/>
      </c:valAx>
      <c:valAx>
        <c:axId val="177939264"/>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Sprint Speed (in m/s)</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793350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Goals</a:t>
            </a:r>
            <a:r>
              <a:rPr lang="en-US" baseline="0"/>
              <a:t> Scored by Player Position</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'5b_Goals by Position'!$V$7</c:f>
              <c:strCache>
                <c:ptCount val="1"/>
                <c:pt idx="0">
                  <c:v>Total Goals Scored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'5b_Goals by Position'!$U$8:$U$11</c:f>
              <c:strCache>
                <c:ptCount val="4"/>
                <c:pt idx="0">
                  <c:v>Defender</c:v>
                </c:pt>
                <c:pt idx="1">
                  <c:v>Midfielder</c:v>
                </c:pt>
                <c:pt idx="2">
                  <c:v>Forward</c:v>
                </c:pt>
                <c:pt idx="3">
                  <c:v>Goalkeeper</c:v>
                </c:pt>
              </c:strCache>
            </c:strRef>
          </c:cat>
          <c:val>
            <c:numRef>
              <c:f>'5b_Goals by Position'!$V$8:$V$11</c:f>
              <c:numCache>
                <c:formatCode>General</c:formatCode>
                <c:ptCount val="4"/>
                <c:pt idx="0">
                  <c:v>171</c:v>
                </c:pt>
                <c:pt idx="1">
                  <c:v>249</c:v>
                </c:pt>
                <c:pt idx="2">
                  <c:v>92</c:v>
                </c:pt>
                <c:pt idx="3">
                  <c:v>2</c:v>
                </c:pt>
              </c:numCache>
            </c:numRef>
          </c:val>
          <c:extLst>
            <c:ext xmlns:c16="http://schemas.microsoft.com/office/drawing/2014/chart" uri="{C3380CC4-5D6E-409C-BE32-E72D297353CC}">
              <c16:uniqueId val="{00000000-EDA7-4240-8667-D02E907FA7C5}"/>
            </c:ext>
          </c:extLst>
        </c:ser>
        <c:dLbls>
          <c:dLblPos val="inEnd"/>
          <c:showLegendKey val="0"/>
          <c:showVal val="1"/>
          <c:showCatName val="0"/>
          <c:showSerName val="0"/>
          <c:showPercent val="0"/>
          <c:showBubbleSize val="0"/>
        </c:dLbls>
        <c:gapWidth val="115"/>
        <c:overlap val="-20"/>
        <c:axId val="1549064176"/>
        <c:axId val="1549070416"/>
      </c:barChart>
      <c:catAx>
        <c:axId val="1549064176"/>
        <c:scaling>
          <c:orientation val="minMax"/>
        </c:scaling>
        <c:delete val="0"/>
        <c:axPos val="l"/>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Player Position</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49070416"/>
        <c:crosses val="autoZero"/>
        <c:auto val="1"/>
        <c:lblAlgn val="ctr"/>
        <c:lblOffset val="100"/>
        <c:noMultiLvlLbl val="0"/>
      </c:catAx>
      <c:valAx>
        <c:axId val="1549070416"/>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Goals Scored</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490641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AA9852-6DDC-421E-B722-2AF620D45C46}"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CF4BEC3B-34CB-4EFF-96B0-8287E9837A65}">
      <dgm:prSet custT="1"/>
      <dgm:spPr/>
      <dgm:t>
        <a:bodyPr/>
        <a:lstStyle/>
        <a:p>
          <a:pPr>
            <a:lnSpc>
              <a:spcPct val="100000"/>
            </a:lnSpc>
          </a:pPr>
          <a:r>
            <a:rPr lang="en-US" sz="2400"/>
            <a:t>Data-driven decision-making is now essential in sports.</a:t>
          </a:r>
        </a:p>
      </dgm:t>
    </dgm:pt>
    <dgm:pt modelId="{804C7084-BB2D-451C-87EA-86CB2CCED4C7}" type="parTrans" cxnId="{C4BC1DF0-4E07-41F4-9697-6D5A4356A784}">
      <dgm:prSet/>
      <dgm:spPr/>
      <dgm:t>
        <a:bodyPr/>
        <a:lstStyle/>
        <a:p>
          <a:endParaRPr lang="en-US"/>
        </a:p>
      </dgm:t>
    </dgm:pt>
    <dgm:pt modelId="{FF2C6AF0-7BD6-48CA-A80D-97757429C8F3}" type="sibTrans" cxnId="{C4BC1DF0-4E07-41F4-9697-6D5A4356A784}">
      <dgm:prSet/>
      <dgm:spPr/>
      <dgm:t>
        <a:bodyPr/>
        <a:lstStyle/>
        <a:p>
          <a:pPr>
            <a:lnSpc>
              <a:spcPct val="100000"/>
            </a:lnSpc>
          </a:pPr>
          <a:endParaRPr lang="en-US"/>
        </a:p>
      </dgm:t>
    </dgm:pt>
    <dgm:pt modelId="{8CD6E4E3-DD25-40D4-8ECA-A6FB7F3371F2}">
      <dgm:prSet custT="1"/>
      <dgm:spPr/>
      <dgm:t>
        <a:bodyPr/>
        <a:lstStyle/>
        <a:p>
          <a:pPr>
            <a:lnSpc>
              <a:spcPct val="100000"/>
            </a:lnSpc>
          </a:pPr>
          <a:r>
            <a:rPr lang="en-US" sz="2400"/>
            <a:t>Soccer performance is shaped by complex, interrelated factors.</a:t>
          </a:r>
        </a:p>
      </dgm:t>
    </dgm:pt>
    <dgm:pt modelId="{FF17F3EE-5883-410C-8C70-11BC41B0F5BF}" type="parTrans" cxnId="{0FCA0403-B49C-4134-A5A9-C66B64985E79}">
      <dgm:prSet/>
      <dgm:spPr/>
      <dgm:t>
        <a:bodyPr/>
        <a:lstStyle/>
        <a:p>
          <a:endParaRPr lang="en-US"/>
        </a:p>
      </dgm:t>
    </dgm:pt>
    <dgm:pt modelId="{8C0123A6-C2B4-4CF0-AC8E-F91CAC2A2C0F}" type="sibTrans" cxnId="{0FCA0403-B49C-4134-A5A9-C66B64985E79}">
      <dgm:prSet/>
      <dgm:spPr/>
      <dgm:t>
        <a:bodyPr/>
        <a:lstStyle/>
        <a:p>
          <a:pPr>
            <a:lnSpc>
              <a:spcPct val="100000"/>
            </a:lnSpc>
          </a:pPr>
          <a:endParaRPr lang="en-US"/>
        </a:p>
      </dgm:t>
    </dgm:pt>
    <dgm:pt modelId="{FAC17C28-0502-40C1-9BC1-C4FCB1294821}">
      <dgm:prSet custT="1"/>
      <dgm:spPr/>
      <dgm:t>
        <a:bodyPr/>
        <a:lstStyle/>
        <a:p>
          <a:pPr>
            <a:lnSpc>
              <a:spcPct val="100000"/>
            </a:lnSpc>
          </a:pPr>
          <a:r>
            <a:rPr lang="en-US" sz="2200"/>
            <a:t>Teams often lack clear insights into how health, fitness, and background affect outcomes.</a:t>
          </a:r>
        </a:p>
      </dgm:t>
    </dgm:pt>
    <dgm:pt modelId="{1380EBFD-A5ED-494D-BCD0-DB7332B16938}" type="parTrans" cxnId="{058467D6-685C-4297-B5FE-4376D00F4BC1}">
      <dgm:prSet/>
      <dgm:spPr/>
      <dgm:t>
        <a:bodyPr/>
        <a:lstStyle/>
        <a:p>
          <a:endParaRPr lang="en-US"/>
        </a:p>
      </dgm:t>
    </dgm:pt>
    <dgm:pt modelId="{9B67FE7A-96F7-4B84-AAC6-875C05F99873}" type="sibTrans" cxnId="{058467D6-685C-4297-B5FE-4376D00F4BC1}">
      <dgm:prSet/>
      <dgm:spPr/>
      <dgm:t>
        <a:bodyPr/>
        <a:lstStyle/>
        <a:p>
          <a:pPr>
            <a:lnSpc>
              <a:spcPct val="100000"/>
            </a:lnSpc>
          </a:pPr>
          <a:endParaRPr lang="en-US"/>
        </a:p>
      </dgm:t>
    </dgm:pt>
    <dgm:pt modelId="{C3859A69-102E-4764-BB3C-518453121112}">
      <dgm:prSet custT="1"/>
      <dgm:spPr/>
      <dgm:t>
        <a:bodyPr/>
        <a:lstStyle/>
        <a:p>
          <a:pPr>
            <a:lnSpc>
              <a:spcPct val="100000"/>
            </a:lnSpc>
          </a:pPr>
          <a:r>
            <a:rPr lang="en-US" sz="2200"/>
            <a:t>There’s a need to analyze these variables to improve training, strategy, and injury prevention.</a:t>
          </a:r>
        </a:p>
      </dgm:t>
    </dgm:pt>
    <dgm:pt modelId="{C3F3855A-A64C-4C7E-A88C-9D40C07EE161}" type="parTrans" cxnId="{8D76DC2F-4F6C-4892-90BB-238F33DC074F}">
      <dgm:prSet/>
      <dgm:spPr/>
      <dgm:t>
        <a:bodyPr/>
        <a:lstStyle/>
        <a:p>
          <a:endParaRPr lang="en-US"/>
        </a:p>
      </dgm:t>
    </dgm:pt>
    <dgm:pt modelId="{1FF6A991-5D6E-4338-9577-0143DC580026}" type="sibTrans" cxnId="{8D76DC2F-4F6C-4892-90BB-238F33DC074F}">
      <dgm:prSet/>
      <dgm:spPr/>
      <dgm:t>
        <a:bodyPr/>
        <a:lstStyle/>
        <a:p>
          <a:pPr>
            <a:lnSpc>
              <a:spcPct val="100000"/>
            </a:lnSpc>
          </a:pPr>
          <a:endParaRPr lang="en-US"/>
        </a:p>
      </dgm:t>
    </dgm:pt>
    <dgm:pt modelId="{1542F92F-7A06-4226-A540-3E4ADC8DCBB4}">
      <dgm:prSet custT="1"/>
      <dgm:spPr/>
      <dgm:t>
        <a:bodyPr/>
        <a:lstStyle/>
        <a:p>
          <a:pPr>
            <a:lnSpc>
              <a:spcPct val="100000"/>
            </a:lnSpc>
          </a:pPr>
          <a:r>
            <a:rPr lang="en-US" sz="1950"/>
            <a:t>This study explores how performance metrics, demographics, and fitness data relate to on-field success.</a:t>
          </a:r>
        </a:p>
      </dgm:t>
    </dgm:pt>
    <dgm:pt modelId="{65356393-48A6-4BDC-8C81-C81483AA3580}" type="parTrans" cxnId="{722C4CBE-A2FC-42DA-B798-864D81872253}">
      <dgm:prSet/>
      <dgm:spPr/>
      <dgm:t>
        <a:bodyPr/>
        <a:lstStyle/>
        <a:p>
          <a:endParaRPr lang="en-US"/>
        </a:p>
      </dgm:t>
    </dgm:pt>
    <dgm:pt modelId="{11658E38-3F90-4D92-9F38-6869F098FA3C}" type="sibTrans" cxnId="{722C4CBE-A2FC-42DA-B798-864D81872253}">
      <dgm:prSet/>
      <dgm:spPr/>
      <dgm:t>
        <a:bodyPr/>
        <a:lstStyle/>
        <a:p>
          <a:endParaRPr lang="en-US"/>
        </a:p>
      </dgm:t>
    </dgm:pt>
    <dgm:pt modelId="{79A802E2-FA5E-4156-9765-C76A32FE18C9}" type="pres">
      <dgm:prSet presAssocID="{1AAA9852-6DDC-421E-B722-2AF620D45C46}" presName="root" presStyleCnt="0">
        <dgm:presLayoutVars>
          <dgm:dir/>
          <dgm:resizeHandles val="exact"/>
        </dgm:presLayoutVars>
      </dgm:prSet>
      <dgm:spPr/>
    </dgm:pt>
    <dgm:pt modelId="{4423ED65-4E8A-45D0-9AB4-CBFF31B7126C}" type="pres">
      <dgm:prSet presAssocID="{CF4BEC3B-34CB-4EFF-96B0-8287E9837A65}" presName="compNode" presStyleCnt="0"/>
      <dgm:spPr/>
    </dgm:pt>
    <dgm:pt modelId="{8FAC7CB6-1785-4C7F-AE55-449CDF26DF31}" type="pres">
      <dgm:prSet presAssocID="{CF4BEC3B-34CB-4EFF-96B0-8287E9837A65}" presName="bgRect" presStyleLbl="bgShp" presStyleIdx="0" presStyleCnt="5"/>
      <dgm:spPr/>
    </dgm:pt>
    <dgm:pt modelId="{FD98400C-E697-4666-8894-4BC07D7AD7E1}" type="pres">
      <dgm:prSet presAssocID="{CF4BEC3B-34CB-4EFF-96B0-8287E9837A6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port Balls"/>
        </a:ext>
      </dgm:extLst>
    </dgm:pt>
    <dgm:pt modelId="{B8B96B88-FA75-4466-8C99-5F806A7202C2}" type="pres">
      <dgm:prSet presAssocID="{CF4BEC3B-34CB-4EFF-96B0-8287E9837A65}" presName="spaceRect" presStyleCnt="0"/>
      <dgm:spPr/>
    </dgm:pt>
    <dgm:pt modelId="{D3525ACA-39B5-4F7B-B1F1-B8D74D9BA3B8}" type="pres">
      <dgm:prSet presAssocID="{CF4BEC3B-34CB-4EFF-96B0-8287E9837A65}" presName="parTx" presStyleLbl="revTx" presStyleIdx="0" presStyleCnt="5">
        <dgm:presLayoutVars>
          <dgm:chMax val="0"/>
          <dgm:chPref val="0"/>
        </dgm:presLayoutVars>
      </dgm:prSet>
      <dgm:spPr/>
    </dgm:pt>
    <dgm:pt modelId="{B1D0D444-DE1A-4BBC-B89E-86D9BCAB2B45}" type="pres">
      <dgm:prSet presAssocID="{FF2C6AF0-7BD6-48CA-A80D-97757429C8F3}" presName="sibTrans" presStyleCnt="0"/>
      <dgm:spPr/>
    </dgm:pt>
    <dgm:pt modelId="{FB351B68-79A7-46E6-B24E-FB66A8FFA8B3}" type="pres">
      <dgm:prSet presAssocID="{8CD6E4E3-DD25-40D4-8ECA-A6FB7F3371F2}" presName="compNode" presStyleCnt="0"/>
      <dgm:spPr/>
    </dgm:pt>
    <dgm:pt modelId="{8787007B-7128-4675-9302-C361E67BA408}" type="pres">
      <dgm:prSet presAssocID="{8CD6E4E3-DD25-40D4-8ECA-A6FB7F3371F2}" presName="bgRect" presStyleLbl="bgShp" presStyleIdx="1" presStyleCnt="5"/>
      <dgm:spPr/>
    </dgm:pt>
    <dgm:pt modelId="{C3E58A12-B8B2-4913-954A-7E9DA9544DE6}" type="pres">
      <dgm:prSet presAssocID="{8CD6E4E3-DD25-40D4-8ECA-A6FB7F3371F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occer Player"/>
        </a:ext>
      </dgm:extLst>
    </dgm:pt>
    <dgm:pt modelId="{0285D5CC-E62F-495F-9EEE-7477805369DB}" type="pres">
      <dgm:prSet presAssocID="{8CD6E4E3-DD25-40D4-8ECA-A6FB7F3371F2}" presName="spaceRect" presStyleCnt="0"/>
      <dgm:spPr/>
    </dgm:pt>
    <dgm:pt modelId="{79462868-7B3D-460C-B6B8-F275216EFA94}" type="pres">
      <dgm:prSet presAssocID="{8CD6E4E3-DD25-40D4-8ECA-A6FB7F3371F2}" presName="parTx" presStyleLbl="revTx" presStyleIdx="1" presStyleCnt="5">
        <dgm:presLayoutVars>
          <dgm:chMax val="0"/>
          <dgm:chPref val="0"/>
        </dgm:presLayoutVars>
      </dgm:prSet>
      <dgm:spPr/>
    </dgm:pt>
    <dgm:pt modelId="{2E612061-2250-4912-9F0A-31400C1F0166}" type="pres">
      <dgm:prSet presAssocID="{8C0123A6-C2B4-4CF0-AC8E-F91CAC2A2C0F}" presName="sibTrans" presStyleCnt="0"/>
      <dgm:spPr/>
    </dgm:pt>
    <dgm:pt modelId="{63C7753A-BFF6-422F-B7C5-B1CB4AB327AA}" type="pres">
      <dgm:prSet presAssocID="{FAC17C28-0502-40C1-9BC1-C4FCB1294821}" presName="compNode" presStyleCnt="0"/>
      <dgm:spPr/>
    </dgm:pt>
    <dgm:pt modelId="{04E89F5A-85A4-49A1-A9B8-C1E86D5110EE}" type="pres">
      <dgm:prSet presAssocID="{FAC17C28-0502-40C1-9BC1-C4FCB1294821}" presName="bgRect" presStyleLbl="bgShp" presStyleIdx="2" presStyleCnt="5"/>
      <dgm:spPr/>
    </dgm:pt>
    <dgm:pt modelId="{560832B8-0FEA-4DE6-96C5-B15E5EA0961D}" type="pres">
      <dgm:prSet presAssocID="{FAC17C28-0502-40C1-9BC1-C4FCB1294821}"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ierarchy"/>
        </a:ext>
      </dgm:extLst>
    </dgm:pt>
    <dgm:pt modelId="{E86B1483-E43A-46F2-B588-6DBADC3B510F}" type="pres">
      <dgm:prSet presAssocID="{FAC17C28-0502-40C1-9BC1-C4FCB1294821}" presName="spaceRect" presStyleCnt="0"/>
      <dgm:spPr/>
    </dgm:pt>
    <dgm:pt modelId="{95518E51-EB3B-42E7-A517-42F0C7971720}" type="pres">
      <dgm:prSet presAssocID="{FAC17C28-0502-40C1-9BC1-C4FCB1294821}" presName="parTx" presStyleLbl="revTx" presStyleIdx="2" presStyleCnt="5">
        <dgm:presLayoutVars>
          <dgm:chMax val="0"/>
          <dgm:chPref val="0"/>
        </dgm:presLayoutVars>
      </dgm:prSet>
      <dgm:spPr/>
    </dgm:pt>
    <dgm:pt modelId="{E464F19D-A0AE-49C9-B248-16B8B987DBB7}" type="pres">
      <dgm:prSet presAssocID="{9B67FE7A-96F7-4B84-AAC6-875C05F99873}" presName="sibTrans" presStyleCnt="0"/>
      <dgm:spPr/>
    </dgm:pt>
    <dgm:pt modelId="{AC36565F-9433-4548-B05A-A9052CBF3D2F}" type="pres">
      <dgm:prSet presAssocID="{C3859A69-102E-4764-BB3C-518453121112}" presName="compNode" presStyleCnt="0"/>
      <dgm:spPr/>
    </dgm:pt>
    <dgm:pt modelId="{51EF90F1-F22F-4930-8EA1-C1A3FA103C53}" type="pres">
      <dgm:prSet presAssocID="{C3859A69-102E-4764-BB3C-518453121112}" presName="bgRect" presStyleLbl="bgShp" presStyleIdx="3" presStyleCnt="5"/>
      <dgm:spPr/>
    </dgm:pt>
    <dgm:pt modelId="{35343878-ED60-47B6-8B4C-8CCD8B532797}" type="pres">
      <dgm:prSet presAssocID="{C3859A69-102E-4764-BB3C-51845312111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seball"/>
        </a:ext>
      </dgm:extLst>
    </dgm:pt>
    <dgm:pt modelId="{E2BBE6D9-C30C-49EC-8777-9544211088EC}" type="pres">
      <dgm:prSet presAssocID="{C3859A69-102E-4764-BB3C-518453121112}" presName="spaceRect" presStyleCnt="0"/>
      <dgm:spPr/>
    </dgm:pt>
    <dgm:pt modelId="{970B893A-1A9B-4D84-971B-5B43EDE5B24A}" type="pres">
      <dgm:prSet presAssocID="{C3859A69-102E-4764-BB3C-518453121112}" presName="parTx" presStyleLbl="revTx" presStyleIdx="3" presStyleCnt="5">
        <dgm:presLayoutVars>
          <dgm:chMax val="0"/>
          <dgm:chPref val="0"/>
        </dgm:presLayoutVars>
      </dgm:prSet>
      <dgm:spPr/>
    </dgm:pt>
    <dgm:pt modelId="{0C72298B-8A55-47DA-9669-EC30BBC33DD1}" type="pres">
      <dgm:prSet presAssocID="{1FF6A991-5D6E-4338-9577-0143DC580026}" presName="sibTrans" presStyleCnt="0"/>
      <dgm:spPr/>
    </dgm:pt>
    <dgm:pt modelId="{EB1A46D0-3340-408C-90D8-2AF757EFCA5C}" type="pres">
      <dgm:prSet presAssocID="{1542F92F-7A06-4226-A540-3E4ADC8DCBB4}" presName="compNode" presStyleCnt="0"/>
      <dgm:spPr/>
    </dgm:pt>
    <dgm:pt modelId="{CF1ED1D1-0927-4656-9113-21D36A7DD732}" type="pres">
      <dgm:prSet presAssocID="{1542F92F-7A06-4226-A540-3E4ADC8DCBB4}" presName="bgRect" presStyleLbl="bgShp" presStyleIdx="4" presStyleCnt="5"/>
      <dgm:spPr/>
    </dgm:pt>
    <dgm:pt modelId="{88490D5E-DB29-4F75-8789-4F0A6AA9C315}" type="pres">
      <dgm:prSet presAssocID="{1542F92F-7A06-4226-A540-3E4ADC8DCBB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ar chart"/>
        </a:ext>
      </dgm:extLst>
    </dgm:pt>
    <dgm:pt modelId="{4453A106-037B-43AB-8B82-562390ACBC1F}" type="pres">
      <dgm:prSet presAssocID="{1542F92F-7A06-4226-A540-3E4ADC8DCBB4}" presName="spaceRect" presStyleCnt="0"/>
      <dgm:spPr/>
    </dgm:pt>
    <dgm:pt modelId="{3910EA6C-EF72-401D-9B79-D462504A890F}" type="pres">
      <dgm:prSet presAssocID="{1542F92F-7A06-4226-A540-3E4ADC8DCBB4}" presName="parTx" presStyleLbl="revTx" presStyleIdx="4" presStyleCnt="5">
        <dgm:presLayoutVars>
          <dgm:chMax val="0"/>
          <dgm:chPref val="0"/>
        </dgm:presLayoutVars>
      </dgm:prSet>
      <dgm:spPr/>
    </dgm:pt>
  </dgm:ptLst>
  <dgm:cxnLst>
    <dgm:cxn modelId="{0FCA0403-B49C-4134-A5A9-C66B64985E79}" srcId="{1AAA9852-6DDC-421E-B722-2AF620D45C46}" destId="{8CD6E4E3-DD25-40D4-8ECA-A6FB7F3371F2}" srcOrd="1" destOrd="0" parTransId="{FF17F3EE-5883-410C-8C70-11BC41B0F5BF}" sibTransId="{8C0123A6-C2B4-4CF0-AC8E-F91CAC2A2C0F}"/>
    <dgm:cxn modelId="{A8CF1104-81FF-45DF-B9D8-8D6B59BE855D}" type="presOf" srcId="{FAC17C28-0502-40C1-9BC1-C4FCB1294821}" destId="{95518E51-EB3B-42E7-A517-42F0C7971720}" srcOrd="0" destOrd="0" presId="urn:microsoft.com/office/officeart/2018/2/layout/IconVerticalSolidList"/>
    <dgm:cxn modelId="{ED896C04-28CD-4015-82B6-B5CF25098CF5}" type="presOf" srcId="{1542F92F-7A06-4226-A540-3E4ADC8DCBB4}" destId="{3910EA6C-EF72-401D-9B79-D462504A890F}" srcOrd="0" destOrd="0" presId="urn:microsoft.com/office/officeart/2018/2/layout/IconVerticalSolidList"/>
    <dgm:cxn modelId="{8D76DC2F-4F6C-4892-90BB-238F33DC074F}" srcId="{1AAA9852-6DDC-421E-B722-2AF620D45C46}" destId="{C3859A69-102E-4764-BB3C-518453121112}" srcOrd="3" destOrd="0" parTransId="{C3F3855A-A64C-4C7E-A88C-9D40C07EE161}" sibTransId="{1FF6A991-5D6E-4338-9577-0143DC580026}"/>
    <dgm:cxn modelId="{B637176C-7845-4FF4-B7E1-E22949C7D24E}" type="presOf" srcId="{CF4BEC3B-34CB-4EFF-96B0-8287E9837A65}" destId="{D3525ACA-39B5-4F7B-B1F1-B8D74D9BA3B8}" srcOrd="0" destOrd="0" presId="urn:microsoft.com/office/officeart/2018/2/layout/IconVerticalSolidList"/>
    <dgm:cxn modelId="{C32F3754-C437-4D9C-9D24-3937E60D3C25}" type="presOf" srcId="{C3859A69-102E-4764-BB3C-518453121112}" destId="{970B893A-1A9B-4D84-971B-5B43EDE5B24A}" srcOrd="0" destOrd="0" presId="urn:microsoft.com/office/officeart/2018/2/layout/IconVerticalSolidList"/>
    <dgm:cxn modelId="{DE702955-A715-428C-827D-CFD9AE42F07B}" type="presOf" srcId="{8CD6E4E3-DD25-40D4-8ECA-A6FB7F3371F2}" destId="{79462868-7B3D-460C-B6B8-F275216EFA94}" srcOrd="0" destOrd="0" presId="urn:microsoft.com/office/officeart/2018/2/layout/IconVerticalSolidList"/>
    <dgm:cxn modelId="{DA4118AC-8300-4D8A-A162-C0D7DB12336C}" type="presOf" srcId="{1AAA9852-6DDC-421E-B722-2AF620D45C46}" destId="{79A802E2-FA5E-4156-9765-C76A32FE18C9}" srcOrd="0" destOrd="0" presId="urn:microsoft.com/office/officeart/2018/2/layout/IconVerticalSolidList"/>
    <dgm:cxn modelId="{722C4CBE-A2FC-42DA-B798-864D81872253}" srcId="{1AAA9852-6DDC-421E-B722-2AF620D45C46}" destId="{1542F92F-7A06-4226-A540-3E4ADC8DCBB4}" srcOrd="4" destOrd="0" parTransId="{65356393-48A6-4BDC-8C81-C81483AA3580}" sibTransId="{11658E38-3F90-4D92-9F38-6869F098FA3C}"/>
    <dgm:cxn modelId="{058467D6-685C-4297-B5FE-4376D00F4BC1}" srcId="{1AAA9852-6DDC-421E-B722-2AF620D45C46}" destId="{FAC17C28-0502-40C1-9BC1-C4FCB1294821}" srcOrd="2" destOrd="0" parTransId="{1380EBFD-A5ED-494D-BCD0-DB7332B16938}" sibTransId="{9B67FE7A-96F7-4B84-AAC6-875C05F99873}"/>
    <dgm:cxn modelId="{C4BC1DF0-4E07-41F4-9697-6D5A4356A784}" srcId="{1AAA9852-6DDC-421E-B722-2AF620D45C46}" destId="{CF4BEC3B-34CB-4EFF-96B0-8287E9837A65}" srcOrd="0" destOrd="0" parTransId="{804C7084-BB2D-451C-87EA-86CB2CCED4C7}" sibTransId="{FF2C6AF0-7BD6-48CA-A80D-97757429C8F3}"/>
    <dgm:cxn modelId="{6EAD5052-1814-41E3-8F91-DBF09EC88AFC}" type="presParOf" srcId="{79A802E2-FA5E-4156-9765-C76A32FE18C9}" destId="{4423ED65-4E8A-45D0-9AB4-CBFF31B7126C}" srcOrd="0" destOrd="0" presId="urn:microsoft.com/office/officeart/2018/2/layout/IconVerticalSolidList"/>
    <dgm:cxn modelId="{1ACFE9BD-243C-4672-8486-5C8BDE4ECEA6}" type="presParOf" srcId="{4423ED65-4E8A-45D0-9AB4-CBFF31B7126C}" destId="{8FAC7CB6-1785-4C7F-AE55-449CDF26DF31}" srcOrd="0" destOrd="0" presId="urn:microsoft.com/office/officeart/2018/2/layout/IconVerticalSolidList"/>
    <dgm:cxn modelId="{6B30918C-E45C-41AF-91F9-054BFFB4BF08}" type="presParOf" srcId="{4423ED65-4E8A-45D0-9AB4-CBFF31B7126C}" destId="{FD98400C-E697-4666-8894-4BC07D7AD7E1}" srcOrd="1" destOrd="0" presId="urn:microsoft.com/office/officeart/2018/2/layout/IconVerticalSolidList"/>
    <dgm:cxn modelId="{C4C7C23B-564C-4493-A9B9-0A15CA118E27}" type="presParOf" srcId="{4423ED65-4E8A-45D0-9AB4-CBFF31B7126C}" destId="{B8B96B88-FA75-4466-8C99-5F806A7202C2}" srcOrd="2" destOrd="0" presId="urn:microsoft.com/office/officeart/2018/2/layout/IconVerticalSolidList"/>
    <dgm:cxn modelId="{4AF66092-1E03-412E-9035-177036BD93F8}" type="presParOf" srcId="{4423ED65-4E8A-45D0-9AB4-CBFF31B7126C}" destId="{D3525ACA-39B5-4F7B-B1F1-B8D74D9BA3B8}" srcOrd="3" destOrd="0" presId="urn:microsoft.com/office/officeart/2018/2/layout/IconVerticalSolidList"/>
    <dgm:cxn modelId="{A79986B9-250C-4E11-B9B0-718F7BCB38CA}" type="presParOf" srcId="{79A802E2-FA5E-4156-9765-C76A32FE18C9}" destId="{B1D0D444-DE1A-4BBC-B89E-86D9BCAB2B45}" srcOrd="1" destOrd="0" presId="urn:microsoft.com/office/officeart/2018/2/layout/IconVerticalSolidList"/>
    <dgm:cxn modelId="{F6D7F6F8-C39F-4544-9994-851D35E3BEAA}" type="presParOf" srcId="{79A802E2-FA5E-4156-9765-C76A32FE18C9}" destId="{FB351B68-79A7-46E6-B24E-FB66A8FFA8B3}" srcOrd="2" destOrd="0" presId="urn:microsoft.com/office/officeart/2018/2/layout/IconVerticalSolidList"/>
    <dgm:cxn modelId="{6E6241A5-D669-48AB-BB90-810229889CC0}" type="presParOf" srcId="{FB351B68-79A7-46E6-B24E-FB66A8FFA8B3}" destId="{8787007B-7128-4675-9302-C361E67BA408}" srcOrd="0" destOrd="0" presId="urn:microsoft.com/office/officeart/2018/2/layout/IconVerticalSolidList"/>
    <dgm:cxn modelId="{60EAFECE-4D89-44A7-A237-466EA5734126}" type="presParOf" srcId="{FB351B68-79A7-46E6-B24E-FB66A8FFA8B3}" destId="{C3E58A12-B8B2-4913-954A-7E9DA9544DE6}" srcOrd="1" destOrd="0" presId="urn:microsoft.com/office/officeart/2018/2/layout/IconVerticalSolidList"/>
    <dgm:cxn modelId="{E08AF435-2C66-43B7-93A5-C1C100DC4335}" type="presParOf" srcId="{FB351B68-79A7-46E6-B24E-FB66A8FFA8B3}" destId="{0285D5CC-E62F-495F-9EEE-7477805369DB}" srcOrd="2" destOrd="0" presId="urn:microsoft.com/office/officeart/2018/2/layout/IconVerticalSolidList"/>
    <dgm:cxn modelId="{67864F65-8E32-4A68-86D9-596683530025}" type="presParOf" srcId="{FB351B68-79A7-46E6-B24E-FB66A8FFA8B3}" destId="{79462868-7B3D-460C-B6B8-F275216EFA94}" srcOrd="3" destOrd="0" presId="urn:microsoft.com/office/officeart/2018/2/layout/IconVerticalSolidList"/>
    <dgm:cxn modelId="{B19B208B-E3E5-4933-BE87-9C27C21E3E32}" type="presParOf" srcId="{79A802E2-FA5E-4156-9765-C76A32FE18C9}" destId="{2E612061-2250-4912-9F0A-31400C1F0166}" srcOrd="3" destOrd="0" presId="urn:microsoft.com/office/officeart/2018/2/layout/IconVerticalSolidList"/>
    <dgm:cxn modelId="{5EBDFE78-6F9F-4211-8522-8694DE4E46B9}" type="presParOf" srcId="{79A802E2-FA5E-4156-9765-C76A32FE18C9}" destId="{63C7753A-BFF6-422F-B7C5-B1CB4AB327AA}" srcOrd="4" destOrd="0" presId="urn:microsoft.com/office/officeart/2018/2/layout/IconVerticalSolidList"/>
    <dgm:cxn modelId="{97285ADA-3D5B-4081-AC28-FDD5C490C436}" type="presParOf" srcId="{63C7753A-BFF6-422F-B7C5-B1CB4AB327AA}" destId="{04E89F5A-85A4-49A1-A9B8-C1E86D5110EE}" srcOrd="0" destOrd="0" presId="urn:microsoft.com/office/officeart/2018/2/layout/IconVerticalSolidList"/>
    <dgm:cxn modelId="{D3D859B3-B92D-431F-933E-628BB928C431}" type="presParOf" srcId="{63C7753A-BFF6-422F-B7C5-B1CB4AB327AA}" destId="{560832B8-0FEA-4DE6-96C5-B15E5EA0961D}" srcOrd="1" destOrd="0" presId="urn:microsoft.com/office/officeart/2018/2/layout/IconVerticalSolidList"/>
    <dgm:cxn modelId="{41E11AFB-F8C0-4A81-B5C9-90E83A7FEA08}" type="presParOf" srcId="{63C7753A-BFF6-422F-B7C5-B1CB4AB327AA}" destId="{E86B1483-E43A-46F2-B588-6DBADC3B510F}" srcOrd="2" destOrd="0" presId="urn:microsoft.com/office/officeart/2018/2/layout/IconVerticalSolidList"/>
    <dgm:cxn modelId="{57134C60-024B-41AD-A7AF-B64A6D020982}" type="presParOf" srcId="{63C7753A-BFF6-422F-B7C5-B1CB4AB327AA}" destId="{95518E51-EB3B-42E7-A517-42F0C7971720}" srcOrd="3" destOrd="0" presId="urn:microsoft.com/office/officeart/2018/2/layout/IconVerticalSolidList"/>
    <dgm:cxn modelId="{640353E4-862F-47EA-962F-95F7DC0284DE}" type="presParOf" srcId="{79A802E2-FA5E-4156-9765-C76A32FE18C9}" destId="{E464F19D-A0AE-49C9-B248-16B8B987DBB7}" srcOrd="5" destOrd="0" presId="urn:microsoft.com/office/officeart/2018/2/layout/IconVerticalSolidList"/>
    <dgm:cxn modelId="{2649886C-4648-4A2E-AFB9-251A72F77A7E}" type="presParOf" srcId="{79A802E2-FA5E-4156-9765-C76A32FE18C9}" destId="{AC36565F-9433-4548-B05A-A9052CBF3D2F}" srcOrd="6" destOrd="0" presId="urn:microsoft.com/office/officeart/2018/2/layout/IconVerticalSolidList"/>
    <dgm:cxn modelId="{10691356-5DB3-487A-83F7-CB45B7D1412B}" type="presParOf" srcId="{AC36565F-9433-4548-B05A-A9052CBF3D2F}" destId="{51EF90F1-F22F-4930-8EA1-C1A3FA103C53}" srcOrd="0" destOrd="0" presId="urn:microsoft.com/office/officeart/2018/2/layout/IconVerticalSolidList"/>
    <dgm:cxn modelId="{17901DCE-28F7-4545-8248-D4E1840B7B5B}" type="presParOf" srcId="{AC36565F-9433-4548-B05A-A9052CBF3D2F}" destId="{35343878-ED60-47B6-8B4C-8CCD8B532797}" srcOrd="1" destOrd="0" presId="urn:microsoft.com/office/officeart/2018/2/layout/IconVerticalSolidList"/>
    <dgm:cxn modelId="{04C5E033-26EA-4973-BFD7-3169D58F9E4B}" type="presParOf" srcId="{AC36565F-9433-4548-B05A-A9052CBF3D2F}" destId="{E2BBE6D9-C30C-49EC-8777-9544211088EC}" srcOrd="2" destOrd="0" presId="urn:microsoft.com/office/officeart/2018/2/layout/IconVerticalSolidList"/>
    <dgm:cxn modelId="{EF1401CC-7648-4F80-8ACA-7E9449F18E00}" type="presParOf" srcId="{AC36565F-9433-4548-B05A-A9052CBF3D2F}" destId="{970B893A-1A9B-4D84-971B-5B43EDE5B24A}" srcOrd="3" destOrd="0" presId="urn:microsoft.com/office/officeart/2018/2/layout/IconVerticalSolidList"/>
    <dgm:cxn modelId="{BCEBAD7C-2B67-474A-8453-79CEDD72CB48}" type="presParOf" srcId="{79A802E2-FA5E-4156-9765-C76A32FE18C9}" destId="{0C72298B-8A55-47DA-9669-EC30BBC33DD1}" srcOrd="7" destOrd="0" presId="urn:microsoft.com/office/officeart/2018/2/layout/IconVerticalSolidList"/>
    <dgm:cxn modelId="{7E86F500-7A90-4633-8BD4-A61CB7ADCC63}" type="presParOf" srcId="{79A802E2-FA5E-4156-9765-C76A32FE18C9}" destId="{EB1A46D0-3340-408C-90D8-2AF757EFCA5C}" srcOrd="8" destOrd="0" presId="urn:microsoft.com/office/officeart/2018/2/layout/IconVerticalSolidList"/>
    <dgm:cxn modelId="{453641F8-125E-4111-91BF-2B7EB92BFE83}" type="presParOf" srcId="{EB1A46D0-3340-408C-90D8-2AF757EFCA5C}" destId="{CF1ED1D1-0927-4656-9113-21D36A7DD732}" srcOrd="0" destOrd="0" presId="urn:microsoft.com/office/officeart/2018/2/layout/IconVerticalSolidList"/>
    <dgm:cxn modelId="{8FA25D96-2F85-4AA2-BD82-BA72E7A97E64}" type="presParOf" srcId="{EB1A46D0-3340-408C-90D8-2AF757EFCA5C}" destId="{88490D5E-DB29-4F75-8789-4F0A6AA9C315}" srcOrd="1" destOrd="0" presId="urn:microsoft.com/office/officeart/2018/2/layout/IconVerticalSolidList"/>
    <dgm:cxn modelId="{AEF1A0BE-CE36-40F6-AF6D-2624EFE02336}" type="presParOf" srcId="{EB1A46D0-3340-408C-90D8-2AF757EFCA5C}" destId="{4453A106-037B-43AB-8B82-562390ACBC1F}" srcOrd="2" destOrd="0" presId="urn:microsoft.com/office/officeart/2018/2/layout/IconVerticalSolidList"/>
    <dgm:cxn modelId="{B647DA3E-84BB-4D7F-8281-E81B386FAC8C}" type="presParOf" srcId="{EB1A46D0-3340-408C-90D8-2AF757EFCA5C}" destId="{3910EA6C-EF72-401D-9B79-D462504A890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5003B0-2554-413D-8816-A47447441F5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6960D9D-5590-44CD-9EC9-7433F429CCC7}">
      <dgm:prSet/>
      <dgm:spPr/>
      <dgm:t>
        <a:bodyPr/>
        <a:lstStyle/>
        <a:p>
          <a:pPr>
            <a:lnSpc>
              <a:spcPct val="100000"/>
            </a:lnSpc>
          </a:pPr>
          <a:r>
            <a:rPr lang="en-US"/>
            <a:t>Focused on 4 key metrics: goals scored, pass accuracy, injury type, and nationality</a:t>
          </a:r>
        </a:p>
      </dgm:t>
    </dgm:pt>
    <dgm:pt modelId="{D37DB26B-2747-4705-8928-82FC835B2C74}" type="parTrans" cxnId="{309242E6-3370-4710-B316-29D228BF757D}">
      <dgm:prSet/>
      <dgm:spPr/>
      <dgm:t>
        <a:bodyPr/>
        <a:lstStyle/>
        <a:p>
          <a:endParaRPr lang="en-US"/>
        </a:p>
      </dgm:t>
    </dgm:pt>
    <dgm:pt modelId="{A77DF2D9-C98A-4B60-9A96-222608130946}" type="sibTrans" cxnId="{309242E6-3370-4710-B316-29D228BF757D}">
      <dgm:prSet/>
      <dgm:spPr/>
      <dgm:t>
        <a:bodyPr/>
        <a:lstStyle/>
        <a:p>
          <a:endParaRPr lang="en-US"/>
        </a:p>
      </dgm:t>
    </dgm:pt>
    <dgm:pt modelId="{EEB8DA60-424F-4B3C-816C-E2CAA9E5AD34}">
      <dgm:prSet/>
      <dgm:spPr/>
      <dgm:t>
        <a:bodyPr/>
        <a:lstStyle/>
        <a:p>
          <a:pPr>
            <a:lnSpc>
              <a:spcPct val="100000"/>
            </a:lnSpc>
          </a:pPr>
          <a:r>
            <a:rPr lang="en-US"/>
            <a:t>Conducted a 3-part analysis: Exploratory, Descriptive, Predictive   </a:t>
          </a:r>
        </a:p>
      </dgm:t>
    </dgm:pt>
    <dgm:pt modelId="{4B6AD3C7-D218-4B5A-8B35-3627C6C3E688}" type="parTrans" cxnId="{FBCCC839-DF91-46B8-8BB1-C3924E305F3A}">
      <dgm:prSet/>
      <dgm:spPr/>
      <dgm:t>
        <a:bodyPr/>
        <a:lstStyle/>
        <a:p>
          <a:endParaRPr lang="en-US"/>
        </a:p>
      </dgm:t>
    </dgm:pt>
    <dgm:pt modelId="{DF2AEC87-6F8C-4290-943E-28E1F110E735}" type="sibTrans" cxnId="{FBCCC839-DF91-46B8-8BB1-C3924E305F3A}">
      <dgm:prSet/>
      <dgm:spPr/>
      <dgm:t>
        <a:bodyPr/>
        <a:lstStyle/>
        <a:p>
          <a:endParaRPr lang="en-US"/>
        </a:p>
      </dgm:t>
    </dgm:pt>
    <dgm:pt modelId="{B8282957-B4BE-43E5-BCFC-2F2F94FA1035}">
      <dgm:prSet/>
      <dgm:spPr/>
      <dgm:t>
        <a:bodyPr/>
        <a:lstStyle/>
        <a:p>
          <a:pPr>
            <a:lnSpc>
              <a:spcPct val="100000"/>
            </a:lnSpc>
          </a:pPr>
          <a:r>
            <a:rPr lang="en-US"/>
            <a:t>Aimed to connect performance, health, and demographic factors with on-field success</a:t>
          </a:r>
        </a:p>
      </dgm:t>
    </dgm:pt>
    <dgm:pt modelId="{9523CD15-65A0-41AF-9BC0-DFE856CD3792}" type="parTrans" cxnId="{50403B0D-B445-42D7-B12F-5461057D4DAB}">
      <dgm:prSet/>
      <dgm:spPr/>
      <dgm:t>
        <a:bodyPr/>
        <a:lstStyle/>
        <a:p>
          <a:endParaRPr lang="en-US"/>
        </a:p>
      </dgm:t>
    </dgm:pt>
    <dgm:pt modelId="{8F50FC47-9433-452A-BFF7-7E3E0EAF6D74}" type="sibTrans" cxnId="{50403B0D-B445-42D7-B12F-5461057D4DAB}">
      <dgm:prSet/>
      <dgm:spPr/>
      <dgm:t>
        <a:bodyPr/>
        <a:lstStyle/>
        <a:p>
          <a:endParaRPr lang="en-US"/>
        </a:p>
      </dgm:t>
    </dgm:pt>
    <dgm:pt modelId="{6E0B5EA9-90A4-4CDB-8885-7BA6A731A82E}" type="pres">
      <dgm:prSet presAssocID="{AE5003B0-2554-413D-8816-A47447441F56}" presName="root" presStyleCnt="0">
        <dgm:presLayoutVars>
          <dgm:dir/>
          <dgm:resizeHandles val="exact"/>
        </dgm:presLayoutVars>
      </dgm:prSet>
      <dgm:spPr/>
    </dgm:pt>
    <dgm:pt modelId="{221A0D2A-0DA7-4D77-8908-464012A4B460}" type="pres">
      <dgm:prSet presAssocID="{96960D9D-5590-44CD-9EC9-7433F429CCC7}" presName="compNode" presStyleCnt="0"/>
      <dgm:spPr/>
    </dgm:pt>
    <dgm:pt modelId="{FD7F7B2B-7333-4C47-98D9-0272F52C52F4}" type="pres">
      <dgm:prSet presAssocID="{96960D9D-5590-44CD-9EC9-7433F429CCC7}" presName="bgRect" presStyleLbl="bgShp" presStyleIdx="0" presStyleCnt="3"/>
      <dgm:spPr/>
    </dgm:pt>
    <dgm:pt modelId="{8A093B26-FE94-46A4-A419-5BD69967070C}" type="pres">
      <dgm:prSet presAssocID="{96960D9D-5590-44CD-9EC9-7433F429CCC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ibbon"/>
        </a:ext>
      </dgm:extLst>
    </dgm:pt>
    <dgm:pt modelId="{960A53B4-A4CC-4751-99AA-3A921A779A5D}" type="pres">
      <dgm:prSet presAssocID="{96960D9D-5590-44CD-9EC9-7433F429CCC7}" presName="spaceRect" presStyleCnt="0"/>
      <dgm:spPr/>
    </dgm:pt>
    <dgm:pt modelId="{C18BAE0E-2284-482D-8853-F7139992BDA0}" type="pres">
      <dgm:prSet presAssocID="{96960D9D-5590-44CD-9EC9-7433F429CCC7}" presName="parTx" presStyleLbl="revTx" presStyleIdx="0" presStyleCnt="3">
        <dgm:presLayoutVars>
          <dgm:chMax val="0"/>
          <dgm:chPref val="0"/>
        </dgm:presLayoutVars>
      </dgm:prSet>
      <dgm:spPr/>
    </dgm:pt>
    <dgm:pt modelId="{452E0D83-232F-4326-A550-C60B22B3EB65}" type="pres">
      <dgm:prSet presAssocID="{A77DF2D9-C98A-4B60-9A96-222608130946}" presName="sibTrans" presStyleCnt="0"/>
      <dgm:spPr/>
    </dgm:pt>
    <dgm:pt modelId="{19630DEF-0EAE-4978-86DC-DDBE81D09358}" type="pres">
      <dgm:prSet presAssocID="{EEB8DA60-424F-4B3C-816C-E2CAA9E5AD34}" presName="compNode" presStyleCnt="0"/>
      <dgm:spPr/>
    </dgm:pt>
    <dgm:pt modelId="{BB6DFDEE-6C0A-42BA-85F4-D83260EA67BC}" type="pres">
      <dgm:prSet presAssocID="{EEB8DA60-424F-4B3C-816C-E2CAA9E5AD34}" presName="bgRect" presStyleLbl="bgShp" presStyleIdx="1" presStyleCnt="3"/>
      <dgm:spPr/>
    </dgm:pt>
    <dgm:pt modelId="{94C6D807-EF38-4100-90C7-C793B5F30186}" type="pres">
      <dgm:prSet presAssocID="{EEB8DA60-424F-4B3C-816C-E2CAA9E5AD3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75C9FB5E-86EC-4D27-B615-E7F85502D3D5}" type="pres">
      <dgm:prSet presAssocID="{EEB8DA60-424F-4B3C-816C-E2CAA9E5AD34}" presName="spaceRect" presStyleCnt="0"/>
      <dgm:spPr/>
    </dgm:pt>
    <dgm:pt modelId="{6BA32DD7-3076-439A-A096-650A53A97F47}" type="pres">
      <dgm:prSet presAssocID="{EEB8DA60-424F-4B3C-816C-E2CAA9E5AD34}" presName="parTx" presStyleLbl="revTx" presStyleIdx="1" presStyleCnt="3">
        <dgm:presLayoutVars>
          <dgm:chMax val="0"/>
          <dgm:chPref val="0"/>
        </dgm:presLayoutVars>
      </dgm:prSet>
      <dgm:spPr/>
    </dgm:pt>
    <dgm:pt modelId="{D43D4F2D-E5CC-4EA2-B561-3AA182CB269A}" type="pres">
      <dgm:prSet presAssocID="{DF2AEC87-6F8C-4290-943E-28E1F110E735}" presName="sibTrans" presStyleCnt="0"/>
      <dgm:spPr/>
    </dgm:pt>
    <dgm:pt modelId="{46EA80F7-45F0-4247-8981-862AE9BA1006}" type="pres">
      <dgm:prSet presAssocID="{B8282957-B4BE-43E5-BCFC-2F2F94FA1035}" presName="compNode" presStyleCnt="0"/>
      <dgm:spPr/>
    </dgm:pt>
    <dgm:pt modelId="{F0C11C34-A19E-4A39-B94D-487D6C49E9C4}" type="pres">
      <dgm:prSet presAssocID="{B8282957-B4BE-43E5-BCFC-2F2F94FA1035}" presName="bgRect" presStyleLbl="bgShp" presStyleIdx="2" presStyleCnt="3"/>
      <dgm:spPr/>
    </dgm:pt>
    <dgm:pt modelId="{BCB9AAF6-C681-487E-9496-C7E552D326D6}" type="pres">
      <dgm:prSet presAssocID="{B8282957-B4BE-43E5-BCFC-2F2F94FA103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nnections"/>
        </a:ext>
      </dgm:extLst>
    </dgm:pt>
    <dgm:pt modelId="{25B88BF7-19F3-4214-ABE6-62318F37C5F5}" type="pres">
      <dgm:prSet presAssocID="{B8282957-B4BE-43E5-BCFC-2F2F94FA1035}" presName="spaceRect" presStyleCnt="0"/>
      <dgm:spPr/>
    </dgm:pt>
    <dgm:pt modelId="{62E04E46-C11B-48D2-A07D-9CFA6C9AB8B9}" type="pres">
      <dgm:prSet presAssocID="{B8282957-B4BE-43E5-BCFC-2F2F94FA1035}" presName="parTx" presStyleLbl="revTx" presStyleIdx="2" presStyleCnt="3">
        <dgm:presLayoutVars>
          <dgm:chMax val="0"/>
          <dgm:chPref val="0"/>
        </dgm:presLayoutVars>
      </dgm:prSet>
      <dgm:spPr/>
    </dgm:pt>
  </dgm:ptLst>
  <dgm:cxnLst>
    <dgm:cxn modelId="{50403B0D-B445-42D7-B12F-5461057D4DAB}" srcId="{AE5003B0-2554-413D-8816-A47447441F56}" destId="{B8282957-B4BE-43E5-BCFC-2F2F94FA1035}" srcOrd="2" destOrd="0" parTransId="{9523CD15-65A0-41AF-9BC0-DFE856CD3792}" sibTransId="{8F50FC47-9433-452A-BFF7-7E3E0EAF6D74}"/>
    <dgm:cxn modelId="{5A24C51E-27BE-4857-92A3-75737FE65803}" type="presOf" srcId="{96960D9D-5590-44CD-9EC9-7433F429CCC7}" destId="{C18BAE0E-2284-482D-8853-F7139992BDA0}" srcOrd="0" destOrd="0" presId="urn:microsoft.com/office/officeart/2018/2/layout/IconVerticalSolidList"/>
    <dgm:cxn modelId="{FBCCC839-DF91-46B8-8BB1-C3924E305F3A}" srcId="{AE5003B0-2554-413D-8816-A47447441F56}" destId="{EEB8DA60-424F-4B3C-816C-E2CAA9E5AD34}" srcOrd="1" destOrd="0" parTransId="{4B6AD3C7-D218-4B5A-8B35-3627C6C3E688}" sibTransId="{DF2AEC87-6F8C-4290-943E-28E1F110E735}"/>
    <dgm:cxn modelId="{538D5D5C-EBD8-48CF-ABE1-9AE1F983DA5A}" type="presOf" srcId="{EEB8DA60-424F-4B3C-816C-E2CAA9E5AD34}" destId="{6BA32DD7-3076-439A-A096-650A53A97F47}" srcOrd="0" destOrd="0" presId="urn:microsoft.com/office/officeart/2018/2/layout/IconVerticalSolidList"/>
    <dgm:cxn modelId="{F0C0798A-1E79-43D6-8663-741AF99D92FA}" type="presOf" srcId="{AE5003B0-2554-413D-8816-A47447441F56}" destId="{6E0B5EA9-90A4-4CDB-8885-7BA6A731A82E}" srcOrd="0" destOrd="0" presId="urn:microsoft.com/office/officeart/2018/2/layout/IconVerticalSolidList"/>
    <dgm:cxn modelId="{C7F870A1-D550-4BD9-A57B-CB632008ABBA}" type="presOf" srcId="{B8282957-B4BE-43E5-BCFC-2F2F94FA1035}" destId="{62E04E46-C11B-48D2-A07D-9CFA6C9AB8B9}" srcOrd="0" destOrd="0" presId="urn:microsoft.com/office/officeart/2018/2/layout/IconVerticalSolidList"/>
    <dgm:cxn modelId="{309242E6-3370-4710-B316-29D228BF757D}" srcId="{AE5003B0-2554-413D-8816-A47447441F56}" destId="{96960D9D-5590-44CD-9EC9-7433F429CCC7}" srcOrd="0" destOrd="0" parTransId="{D37DB26B-2747-4705-8928-82FC835B2C74}" sibTransId="{A77DF2D9-C98A-4B60-9A96-222608130946}"/>
    <dgm:cxn modelId="{16986D0E-6BF3-4B06-8FFC-692121D7500D}" type="presParOf" srcId="{6E0B5EA9-90A4-4CDB-8885-7BA6A731A82E}" destId="{221A0D2A-0DA7-4D77-8908-464012A4B460}" srcOrd="0" destOrd="0" presId="urn:microsoft.com/office/officeart/2018/2/layout/IconVerticalSolidList"/>
    <dgm:cxn modelId="{DCBF20B6-27FE-4C60-BE79-F52DB099EE8F}" type="presParOf" srcId="{221A0D2A-0DA7-4D77-8908-464012A4B460}" destId="{FD7F7B2B-7333-4C47-98D9-0272F52C52F4}" srcOrd="0" destOrd="0" presId="urn:microsoft.com/office/officeart/2018/2/layout/IconVerticalSolidList"/>
    <dgm:cxn modelId="{60841512-0986-48CB-9C46-71DEC43E5CE8}" type="presParOf" srcId="{221A0D2A-0DA7-4D77-8908-464012A4B460}" destId="{8A093B26-FE94-46A4-A419-5BD69967070C}" srcOrd="1" destOrd="0" presId="urn:microsoft.com/office/officeart/2018/2/layout/IconVerticalSolidList"/>
    <dgm:cxn modelId="{A4FBF8F9-1141-4B88-B302-EAF2BBBAEC0D}" type="presParOf" srcId="{221A0D2A-0DA7-4D77-8908-464012A4B460}" destId="{960A53B4-A4CC-4751-99AA-3A921A779A5D}" srcOrd="2" destOrd="0" presId="urn:microsoft.com/office/officeart/2018/2/layout/IconVerticalSolidList"/>
    <dgm:cxn modelId="{19786EA5-838C-47E1-993A-90AF93BD79C4}" type="presParOf" srcId="{221A0D2A-0DA7-4D77-8908-464012A4B460}" destId="{C18BAE0E-2284-482D-8853-F7139992BDA0}" srcOrd="3" destOrd="0" presId="urn:microsoft.com/office/officeart/2018/2/layout/IconVerticalSolidList"/>
    <dgm:cxn modelId="{4B0DEA57-2131-471B-B802-14E19A1D8433}" type="presParOf" srcId="{6E0B5EA9-90A4-4CDB-8885-7BA6A731A82E}" destId="{452E0D83-232F-4326-A550-C60B22B3EB65}" srcOrd="1" destOrd="0" presId="urn:microsoft.com/office/officeart/2018/2/layout/IconVerticalSolidList"/>
    <dgm:cxn modelId="{2780882A-6BE3-4691-844F-CC22A7233749}" type="presParOf" srcId="{6E0B5EA9-90A4-4CDB-8885-7BA6A731A82E}" destId="{19630DEF-0EAE-4978-86DC-DDBE81D09358}" srcOrd="2" destOrd="0" presId="urn:microsoft.com/office/officeart/2018/2/layout/IconVerticalSolidList"/>
    <dgm:cxn modelId="{84D9891C-3BDF-4837-B493-3A5C1A984D75}" type="presParOf" srcId="{19630DEF-0EAE-4978-86DC-DDBE81D09358}" destId="{BB6DFDEE-6C0A-42BA-85F4-D83260EA67BC}" srcOrd="0" destOrd="0" presId="urn:microsoft.com/office/officeart/2018/2/layout/IconVerticalSolidList"/>
    <dgm:cxn modelId="{0FC34A8B-7C74-4B9E-8C45-B4D70B380297}" type="presParOf" srcId="{19630DEF-0EAE-4978-86DC-DDBE81D09358}" destId="{94C6D807-EF38-4100-90C7-C793B5F30186}" srcOrd="1" destOrd="0" presId="urn:microsoft.com/office/officeart/2018/2/layout/IconVerticalSolidList"/>
    <dgm:cxn modelId="{68874522-A2F5-4A5D-9DDD-F2C22F97C38C}" type="presParOf" srcId="{19630DEF-0EAE-4978-86DC-DDBE81D09358}" destId="{75C9FB5E-86EC-4D27-B615-E7F85502D3D5}" srcOrd="2" destOrd="0" presId="urn:microsoft.com/office/officeart/2018/2/layout/IconVerticalSolidList"/>
    <dgm:cxn modelId="{F16D8ED0-7EDD-4669-BD29-5524FAC682A7}" type="presParOf" srcId="{19630DEF-0EAE-4978-86DC-DDBE81D09358}" destId="{6BA32DD7-3076-439A-A096-650A53A97F47}" srcOrd="3" destOrd="0" presId="urn:microsoft.com/office/officeart/2018/2/layout/IconVerticalSolidList"/>
    <dgm:cxn modelId="{3E3C7D4C-76AA-4761-A0C3-5E8524089ECC}" type="presParOf" srcId="{6E0B5EA9-90A4-4CDB-8885-7BA6A731A82E}" destId="{D43D4F2D-E5CC-4EA2-B561-3AA182CB269A}" srcOrd="3" destOrd="0" presId="urn:microsoft.com/office/officeart/2018/2/layout/IconVerticalSolidList"/>
    <dgm:cxn modelId="{E3D76D64-1FAE-48B7-A2D5-B347C8DC5967}" type="presParOf" srcId="{6E0B5EA9-90A4-4CDB-8885-7BA6A731A82E}" destId="{46EA80F7-45F0-4247-8981-862AE9BA1006}" srcOrd="4" destOrd="0" presId="urn:microsoft.com/office/officeart/2018/2/layout/IconVerticalSolidList"/>
    <dgm:cxn modelId="{92BF6374-75E4-42C2-82F8-DE59EF8B2A1C}" type="presParOf" srcId="{46EA80F7-45F0-4247-8981-862AE9BA1006}" destId="{F0C11C34-A19E-4A39-B94D-487D6C49E9C4}" srcOrd="0" destOrd="0" presId="urn:microsoft.com/office/officeart/2018/2/layout/IconVerticalSolidList"/>
    <dgm:cxn modelId="{BCDC64F8-F73E-440F-A167-2C2F79CB6F46}" type="presParOf" srcId="{46EA80F7-45F0-4247-8981-862AE9BA1006}" destId="{BCB9AAF6-C681-487E-9496-C7E552D326D6}" srcOrd="1" destOrd="0" presId="urn:microsoft.com/office/officeart/2018/2/layout/IconVerticalSolidList"/>
    <dgm:cxn modelId="{ED340106-541F-4E72-A5F9-0D40A3D2D404}" type="presParOf" srcId="{46EA80F7-45F0-4247-8981-862AE9BA1006}" destId="{25B88BF7-19F3-4214-ABE6-62318F37C5F5}" srcOrd="2" destOrd="0" presId="urn:microsoft.com/office/officeart/2018/2/layout/IconVerticalSolidList"/>
    <dgm:cxn modelId="{2C3EF3B5-D733-42C2-AA42-9C00CB9B871D}" type="presParOf" srcId="{46EA80F7-45F0-4247-8981-862AE9BA1006}" destId="{62E04E46-C11B-48D2-A07D-9CFA6C9AB8B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C7CB6-1785-4C7F-AE55-449CDF26DF31}">
      <dsp:nvSpPr>
        <dsp:cNvPr id="0" name=""/>
        <dsp:cNvSpPr/>
      </dsp:nvSpPr>
      <dsp:spPr>
        <a:xfrm>
          <a:off x="0" y="3662"/>
          <a:ext cx="12180030" cy="780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8400C-E697-4666-8894-4BC07D7AD7E1}">
      <dsp:nvSpPr>
        <dsp:cNvPr id="0" name=""/>
        <dsp:cNvSpPr/>
      </dsp:nvSpPr>
      <dsp:spPr>
        <a:xfrm>
          <a:off x="235952" y="179163"/>
          <a:ext cx="429003" cy="429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525ACA-39B5-4F7B-B1F1-B8D74D9BA3B8}">
      <dsp:nvSpPr>
        <dsp:cNvPr id="0" name=""/>
        <dsp:cNvSpPr/>
      </dsp:nvSpPr>
      <dsp:spPr>
        <a:xfrm>
          <a:off x="900908" y="3662"/>
          <a:ext cx="11279121" cy="780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1" tIns="82551" rIns="82551" bIns="82551" numCol="1" spcCol="1270" anchor="ctr" anchorCtr="0">
          <a:noAutofit/>
        </a:bodyPr>
        <a:lstStyle/>
        <a:p>
          <a:pPr marL="0" lvl="0" indent="0" algn="l" defTabSz="1066800">
            <a:lnSpc>
              <a:spcPct val="100000"/>
            </a:lnSpc>
            <a:spcBef>
              <a:spcPct val="0"/>
            </a:spcBef>
            <a:spcAft>
              <a:spcPct val="35000"/>
            </a:spcAft>
            <a:buNone/>
          </a:pPr>
          <a:r>
            <a:rPr lang="en-US" sz="2400" kern="1200"/>
            <a:t>Data-driven decision-making is now essential in sports.</a:t>
          </a:r>
        </a:p>
      </dsp:txBody>
      <dsp:txXfrm>
        <a:off x="900908" y="3662"/>
        <a:ext cx="11279121" cy="780006"/>
      </dsp:txXfrm>
    </dsp:sp>
    <dsp:sp modelId="{8787007B-7128-4675-9302-C361E67BA408}">
      <dsp:nvSpPr>
        <dsp:cNvPr id="0" name=""/>
        <dsp:cNvSpPr/>
      </dsp:nvSpPr>
      <dsp:spPr>
        <a:xfrm>
          <a:off x="0" y="978670"/>
          <a:ext cx="12180030" cy="780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E58A12-B8B2-4913-954A-7E9DA9544DE6}">
      <dsp:nvSpPr>
        <dsp:cNvPr id="0" name=""/>
        <dsp:cNvSpPr/>
      </dsp:nvSpPr>
      <dsp:spPr>
        <a:xfrm>
          <a:off x="235952" y="1154172"/>
          <a:ext cx="429003" cy="429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462868-7B3D-460C-B6B8-F275216EFA94}">
      <dsp:nvSpPr>
        <dsp:cNvPr id="0" name=""/>
        <dsp:cNvSpPr/>
      </dsp:nvSpPr>
      <dsp:spPr>
        <a:xfrm>
          <a:off x="900908" y="978670"/>
          <a:ext cx="11279121" cy="780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1" tIns="82551" rIns="82551" bIns="82551" numCol="1" spcCol="1270" anchor="ctr" anchorCtr="0">
          <a:noAutofit/>
        </a:bodyPr>
        <a:lstStyle/>
        <a:p>
          <a:pPr marL="0" lvl="0" indent="0" algn="l" defTabSz="1066800">
            <a:lnSpc>
              <a:spcPct val="100000"/>
            </a:lnSpc>
            <a:spcBef>
              <a:spcPct val="0"/>
            </a:spcBef>
            <a:spcAft>
              <a:spcPct val="35000"/>
            </a:spcAft>
            <a:buNone/>
          </a:pPr>
          <a:r>
            <a:rPr lang="en-US" sz="2400" kern="1200"/>
            <a:t>Soccer performance is shaped by complex, interrelated factors.</a:t>
          </a:r>
        </a:p>
      </dsp:txBody>
      <dsp:txXfrm>
        <a:off x="900908" y="978670"/>
        <a:ext cx="11279121" cy="780006"/>
      </dsp:txXfrm>
    </dsp:sp>
    <dsp:sp modelId="{04E89F5A-85A4-49A1-A9B8-C1E86D5110EE}">
      <dsp:nvSpPr>
        <dsp:cNvPr id="0" name=""/>
        <dsp:cNvSpPr/>
      </dsp:nvSpPr>
      <dsp:spPr>
        <a:xfrm>
          <a:off x="0" y="1953679"/>
          <a:ext cx="12180030" cy="780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0832B8-0FEA-4DE6-96C5-B15E5EA0961D}">
      <dsp:nvSpPr>
        <dsp:cNvPr id="0" name=""/>
        <dsp:cNvSpPr/>
      </dsp:nvSpPr>
      <dsp:spPr>
        <a:xfrm>
          <a:off x="235952" y="2129181"/>
          <a:ext cx="429003" cy="429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518E51-EB3B-42E7-A517-42F0C7971720}">
      <dsp:nvSpPr>
        <dsp:cNvPr id="0" name=""/>
        <dsp:cNvSpPr/>
      </dsp:nvSpPr>
      <dsp:spPr>
        <a:xfrm>
          <a:off x="900908" y="1953679"/>
          <a:ext cx="11279121" cy="780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1" tIns="82551" rIns="82551" bIns="82551" numCol="1" spcCol="1270" anchor="ctr" anchorCtr="0">
          <a:noAutofit/>
        </a:bodyPr>
        <a:lstStyle/>
        <a:p>
          <a:pPr marL="0" lvl="0" indent="0" algn="l" defTabSz="977900">
            <a:lnSpc>
              <a:spcPct val="100000"/>
            </a:lnSpc>
            <a:spcBef>
              <a:spcPct val="0"/>
            </a:spcBef>
            <a:spcAft>
              <a:spcPct val="35000"/>
            </a:spcAft>
            <a:buNone/>
          </a:pPr>
          <a:r>
            <a:rPr lang="en-US" sz="2200" kern="1200"/>
            <a:t>Teams often lack clear insights into how health, fitness, and background affect outcomes.</a:t>
          </a:r>
        </a:p>
      </dsp:txBody>
      <dsp:txXfrm>
        <a:off x="900908" y="1953679"/>
        <a:ext cx="11279121" cy="780006"/>
      </dsp:txXfrm>
    </dsp:sp>
    <dsp:sp modelId="{51EF90F1-F22F-4930-8EA1-C1A3FA103C53}">
      <dsp:nvSpPr>
        <dsp:cNvPr id="0" name=""/>
        <dsp:cNvSpPr/>
      </dsp:nvSpPr>
      <dsp:spPr>
        <a:xfrm>
          <a:off x="0" y="2928688"/>
          <a:ext cx="12180030" cy="780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343878-ED60-47B6-8B4C-8CCD8B532797}">
      <dsp:nvSpPr>
        <dsp:cNvPr id="0" name=""/>
        <dsp:cNvSpPr/>
      </dsp:nvSpPr>
      <dsp:spPr>
        <a:xfrm>
          <a:off x="235952" y="3104189"/>
          <a:ext cx="429003" cy="429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B893A-1A9B-4D84-971B-5B43EDE5B24A}">
      <dsp:nvSpPr>
        <dsp:cNvPr id="0" name=""/>
        <dsp:cNvSpPr/>
      </dsp:nvSpPr>
      <dsp:spPr>
        <a:xfrm>
          <a:off x="900908" y="2928688"/>
          <a:ext cx="11279121" cy="780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1" tIns="82551" rIns="82551" bIns="82551" numCol="1" spcCol="1270" anchor="ctr" anchorCtr="0">
          <a:noAutofit/>
        </a:bodyPr>
        <a:lstStyle/>
        <a:p>
          <a:pPr marL="0" lvl="0" indent="0" algn="l" defTabSz="977900">
            <a:lnSpc>
              <a:spcPct val="100000"/>
            </a:lnSpc>
            <a:spcBef>
              <a:spcPct val="0"/>
            </a:spcBef>
            <a:spcAft>
              <a:spcPct val="35000"/>
            </a:spcAft>
            <a:buNone/>
          </a:pPr>
          <a:r>
            <a:rPr lang="en-US" sz="2200" kern="1200"/>
            <a:t>There’s a need to analyze these variables to improve training, strategy, and injury prevention.</a:t>
          </a:r>
        </a:p>
      </dsp:txBody>
      <dsp:txXfrm>
        <a:off x="900908" y="2928688"/>
        <a:ext cx="11279121" cy="780006"/>
      </dsp:txXfrm>
    </dsp:sp>
    <dsp:sp modelId="{CF1ED1D1-0927-4656-9113-21D36A7DD732}">
      <dsp:nvSpPr>
        <dsp:cNvPr id="0" name=""/>
        <dsp:cNvSpPr/>
      </dsp:nvSpPr>
      <dsp:spPr>
        <a:xfrm>
          <a:off x="0" y="3903696"/>
          <a:ext cx="12180030" cy="780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490D5E-DB29-4F75-8789-4F0A6AA9C315}">
      <dsp:nvSpPr>
        <dsp:cNvPr id="0" name=""/>
        <dsp:cNvSpPr/>
      </dsp:nvSpPr>
      <dsp:spPr>
        <a:xfrm>
          <a:off x="235952" y="4079198"/>
          <a:ext cx="429003" cy="429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0EA6C-EF72-401D-9B79-D462504A890F}">
      <dsp:nvSpPr>
        <dsp:cNvPr id="0" name=""/>
        <dsp:cNvSpPr/>
      </dsp:nvSpPr>
      <dsp:spPr>
        <a:xfrm>
          <a:off x="900908" y="3903696"/>
          <a:ext cx="11279121" cy="780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1" tIns="82551" rIns="82551" bIns="82551" numCol="1" spcCol="1270" anchor="ctr" anchorCtr="0">
          <a:noAutofit/>
        </a:bodyPr>
        <a:lstStyle/>
        <a:p>
          <a:pPr marL="0" lvl="0" indent="0" algn="l" defTabSz="866775">
            <a:lnSpc>
              <a:spcPct val="100000"/>
            </a:lnSpc>
            <a:spcBef>
              <a:spcPct val="0"/>
            </a:spcBef>
            <a:spcAft>
              <a:spcPct val="35000"/>
            </a:spcAft>
            <a:buNone/>
          </a:pPr>
          <a:r>
            <a:rPr lang="en-US" sz="1950" kern="1200"/>
            <a:t>This study explores how performance metrics, demographics, and fitness data relate to on-field success.</a:t>
          </a:r>
        </a:p>
      </dsp:txBody>
      <dsp:txXfrm>
        <a:off x="900908" y="3903696"/>
        <a:ext cx="11279121" cy="7800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F7B2B-7333-4C47-98D9-0272F52C52F4}">
      <dsp:nvSpPr>
        <dsp:cNvPr id="0" name=""/>
        <dsp:cNvSpPr/>
      </dsp:nvSpPr>
      <dsp:spPr>
        <a:xfrm>
          <a:off x="0" y="642"/>
          <a:ext cx="12191999" cy="15026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093B26-FE94-46A4-A419-5BD69967070C}">
      <dsp:nvSpPr>
        <dsp:cNvPr id="0" name=""/>
        <dsp:cNvSpPr/>
      </dsp:nvSpPr>
      <dsp:spPr>
        <a:xfrm>
          <a:off x="454552" y="338738"/>
          <a:ext cx="826458" cy="82645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8BAE0E-2284-482D-8853-F7139992BDA0}">
      <dsp:nvSpPr>
        <dsp:cNvPr id="0" name=""/>
        <dsp:cNvSpPr/>
      </dsp:nvSpPr>
      <dsp:spPr>
        <a:xfrm>
          <a:off x="1735563" y="642"/>
          <a:ext cx="10456435" cy="1502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31" tIns="159031" rIns="159031" bIns="159031" numCol="1" spcCol="1270" anchor="ctr" anchorCtr="0">
          <a:noAutofit/>
        </a:bodyPr>
        <a:lstStyle/>
        <a:p>
          <a:pPr marL="0" lvl="0" indent="0" algn="l" defTabSz="1111250">
            <a:lnSpc>
              <a:spcPct val="100000"/>
            </a:lnSpc>
            <a:spcBef>
              <a:spcPct val="0"/>
            </a:spcBef>
            <a:spcAft>
              <a:spcPct val="35000"/>
            </a:spcAft>
            <a:buNone/>
          </a:pPr>
          <a:r>
            <a:rPr lang="en-US" sz="2500" kern="1200"/>
            <a:t>Focused on 4 key metrics: goals scored, pass accuracy, injury type, and nationality</a:t>
          </a:r>
        </a:p>
      </dsp:txBody>
      <dsp:txXfrm>
        <a:off x="1735563" y="642"/>
        <a:ext cx="10456435" cy="1502652"/>
      </dsp:txXfrm>
    </dsp:sp>
    <dsp:sp modelId="{BB6DFDEE-6C0A-42BA-85F4-D83260EA67BC}">
      <dsp:nvSpPr>
        <dsp:cNvPr id="0" name=""/>
        <dsp:cNvSpPr/>
      </dsp:nvSpPr>
      <dsp:spPr>
        <a:xfrm>
          <a:off x="0" y="1878957"/>
          <a:ext cx="12191999" cy="15026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C6D807-EF38-4100-90C7-C793B5F30186}">
      <dsp:nvSpPr>
        <dsp:cNvPr id="0" name=""/>
        <dsp:cNvSpPr/>
      </dsp:nvSpPr>
      <dsp:spPr>
        <a:xfrm>
          <a:off x="454552" y="2217054"/>
          <a:ext cx="826458" cy="82645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A32DD7-3076-439A-A096-650A53A97F47}">
      <dsp:nvSpPr>
        <dsp:cNvPr id="0" name=""/>
        <dsp:cNvSpPr/>
      </dsp:nvSpPr>
      <dsp:spPr>
        <a:xfrm>
          <a:off x="1735563" y="1878957"/>
          <a:ext cx="10456435" cy="1502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31" tIns="159031" rIns="159031" bIns="159031" numCol="1" spcCol="1270" anchor="ctr" anchorCtr="0">
          <a:noAutofit/>
        </a:bodyPr>
        <a:lstStyle/>
        <a:p>
          <a:pPr marL="0" lvl="0" indent="0" algn="l" defTabSz="1111250">
            <a:lnSpc>
              <a:spcPct val="100000"/>
            </a:lnSpc>
            <a:spcBef>
              <a:spcPct val="0"/>
            </a:spcBef>
            <a:spcAft>
              <a:spcPct val="35000"/>
            </a:spcAft>
            <a:buNone/>
          </a:pPr>
          <a:r>
            <a:rPr lang="en-US" sz="2500" kern="1200"/>
            <a:t>Conducted a 3-part analysis: Exploratory, Descriptive, Predictive   </a:t>
          </a:r>
        </a:p>
      </dsp:txBody>
      <dsp:txXfrm>
        <a:off x="1735563" y="1878957"/>
        <a:ext cx="10456435" cy="1502652"/>
      </dsp:txXfrm>
    </dsp:sp>
    <dsp:sp modelId="{F0C11C34-A19E-4A39-B94D-487D6C49E9C4}">
      <dsp:nvSpPr>
        <dsp:cNvPr id="0" name=""/>
        <dsp:cNvSpPr/>
      </dsp:nvSpPr>
      <dsp:spPr>
        <a:xfrm>
          <a:off x="0" y="3757273"/>
          <a:ext cx="12191999" cy="15026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B9AAF6-C681-487E-9496-C7E552D326D6}">
      <dsp:nvSpPr>
        <dsp:cNvPr id="0" name=""/>
        <dsp:cNvSpPr/>
      </dsp:nvSpPr>
      <dsp:spPr>
        <a:xfrm>
          <a:off x="454552" y="4095370"/>
          <a:ext cx="826458" cy="82645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E04E46-C11B-48D2-A07D-9CFA6C9AB8B9}">
      <dsp:nvSpPr>
        <dsp:cNvPr id="0" name=""/>
        <dsp:cNvSpPr/>
      </dsp:nvSpPr>
      <dsp:spPr>
        <a:xfrm>
          <a:off x="1735563" y="3757273"/>
          <a:ext cx="10456435" cy="1502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031" tIns="159031" rIns="159031" bIns="159031" numCol="1" spcCol="1270" anchor="ctr" anchorCtr="0">
          <a:noAutofit/>
        </a:bodyPr>
        <a:lstStyle/>
        <a:p>
          <a:pPr marL="0" lvl="0" indent="0" algn="l" defTabSz="1111250">
            <a:lnSpc>
              <a:spcPct val="100000"/>
            </a:lnSpc>
            <a:spcBef>
              <a:spcPct val="0"/>
            </a:spcBef>
            <a:spcAft>
              <a:spcPct val="35000"/>
            </a:spcAft>
            <a:buNone/>
          </a:pPr>
          <a:r>
            <a:rPr lang="en-US" sz="2500" kern="1200"/>
            <a:t>Aimed to connect performance, health, and demographic factors with on-field success</a:t>
          </a:r>
        </a:p>
      </dsp:txBody>
      <dsp:txXfrm>
        <a:off x="1735563" y="3757273"/>
        <a:ext cx="10456435" cy="15026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19333A-A4B6-4CB0-AA6E-C6DD58D0B016}"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134DDF-A3D4-46F2-8ADE-6976668B1CB1}" type="slidenum">
              <a:rPr lang="en-US" smtClean="0"/>
              <a:t>‹#›</a:t>
            </a:fld>
            <a:endParaRPr lang="en-US"/>
          </a:p>
        </p:txBody>
      </p:sp>
    </p:spTree>
    <p:extLst>
      <p:ext uri="{BB962C8B-B14F-4D97-AF65-F5344CB8AC3E}">
        <p14:creationId xmlns:p14="http://schemas.microsoft.com/office/powerpoint/2010/main" val="444256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a:t>
            </a:r>
          </a:p>
        </p:txBody>
      </p:sp>
      <p:sp>
        <p:nvSpPr>
          <p:cNvPr id="4" name="Slide Number Placeholder 3"/>
          <p:cNvSpPr>
            <a:spLocks noGrp="1"/>
          </p:cNvSpPr>
          <p:nvPr>
            <p:ph type="sldNum" sz="quarter" idx="5"/>
          </p:nvPr>
        </p:nvSpPr>
        <p:spPr/>
        <p:txBody>
          <a:bodyPr/>
          <a:lstStyle/>
          <a:p>
            <a:fld id="{A7134DDF-A3D4-46F2-8ADE-6976668B1CB1}" type="slidenum">
              <a:rPr lang="en-US" smtClean="0"/>
              <a:t>1</a:t>
            </a:fld>
            <a:endParaRPr lang="en-US"/>
          </a:p>
        </p:txBody>
      </p:sp>
    </p:spTree>
    <p:extLst>
      <p:ext uri="{BB962C8B-B14F-4D97-AF65-F5344CB8AC3E}">
        <p14:creationId xmlns:p14="http://schemas.microsoft.com/office/powerpoint/2010/main" val="4063542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effectLst/>
              </a:rPr>
              <a:t>Data-driven decision-making is important in contemporary sport. Teams are using analytics—not just judgment—to find a competitive advantage. The complexity of soccer stems from many factors affecting performance, like physical condition and injury, skills of the players, and player demographics. Across the soccer landscape, many teams do not have clear insight into how health, fitness, and demographics inform performance outcomes. The purpose of this research, in part, is to fill the gap by investigating fitness and performance data combined with demographic data for insights that inform better planning for training, competition strategies, and injury prevention. Our aim is to provide a tool to move from data to meaningful insights that can inform meaningful changes on the pitch.</a:t>
            </a:r>
          </a:p>
          <a:p>
            <a:endParaRPr lang="en-US"/>
          </a:p>
        </p:txBody>
      </p:sp>
      <p:sp>
        <p:nvSpPr>
          <p:cNvPr id="4" name="Slide Number Placeholder 3"/>
          <p:cNvSpPr>
            <a:spLocks noGrp="1"/>
          </p:cNvSpPr>
          <p:nvPr>
            <p:ph type="sldNum" sz="quarter" idx="5"/>
          </p:nvPr>
        </p:nvSpPr>
        <p:spPr/>
        <p:txBody>
          <a:bodyPr/>
          <a:lstStyle/>
          <a:p>
            <a:fld id="{A7134DDF-A3D4-46F2-8ADE-6976668B1CB1}" type="slidenum">
              <a:rPr lang="en-US" smtClean="0"/>
              <a:t>2</a:t>
            </a:fld>
            <a:endParaRPr lang="en-US"/>
          </a:p>
        </p:txBody>
      </p:sp>
    </p:spTree>
    <p:extLst>
      <p:ext uri="{BB962C8B-B14F-4D97-AF65-F5344CB8AC3E}">
        <p14:creationId xmlns:p14="http://schemas.microsoft.com/office/powerpoint/2010/main" val="2044326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Emma T</a:t>
            </a:r>
          </a:p>
          <a:p>
            <a:endParaRPr lang="en-US"/>
          </a:p>
          <a:p>
            <a:r>
              <a:rPr lang="en-US"/>
              <a:t>So for our approach, we decided to start by looking at four key variables of interest. These variables were goals scored, pass accuracy, injury type, and nationality.</a:t>
            </a:r>
          </a:p>
          <a:p>
            <a:endParaRPr lang="en-US"/>
          </a:p>
          <a:p>
            <a:r>
              <a:rPr lang="en-US"/>
              <a:t>After we had settled on what our key metrics were, we then analyzed the data through many dimensions. This meant that we analyzed the data from a statistical viewpoint where we created several visualizations on key aspects like counts, sums, statistics, relationships. </a:t>
            </a:r>
          </a:p>
          <a:p>
            <a:endParaRPr lang="en-US"/>
          </a:p>
          <a:p>
            <a:r>
              <a:rPr lang="en-US"/>
              <a:t>After trying to identify the patterns through statistics and visualizations, we then performed a multiple regression to try to forecast performance outcomes. </a:t>
            </a:r>
          </a:p>
        </p:txBody>
      </p:sp>
      <p:sp>
        <p:nvSpPr>
          <p:cNvPr id="4" name="Slide Number Placeholder 3"/>
          <p:cNvSpPr>
            <a:spLocks noGrp="1"/>
          </p:cNvSpPr>
          <p:nvPr>
            <p:ph type="sldNum" sz="quarter" idx="5"/>
          </p:nvPr>
        </p:nvSpPr>
        <p:spPr/>
        <p:txBody>
          <a:bodyPr/>
          <a:lstStyle/>
          <a:p>
            <a:fld id="{A7134DDF-A3D4-46F2-8ADE-6976668B1CB1}" type="slidenum">
              <a:rPr lang="en-US" smtClean="0"/>
              <a:t>3</a:t>
            </a:fld>
            <a:endParaRPr lang="en-US"/>
          </a:p>
        </p:txBody>
      </p:sp>
    </p:spTree>
    <p:extLst>
      <p:ext uri="{BB962C8B-B14F-4D97-AF65-F5344CB8AC3E}">
        <p14:creationId xmlns:p14="http://schemas.microsoft.com/office/powerpoint/2010/main" val="243848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Emma T</a:t>
            </a:r>
          </a:p>
          <a:p>
            <a:endParaRPr lang="en-US"/>
          </a:p>
          <a:p>
            <a:r>
              <a:rPr lang="en-US"/>
              <a:t>Now we move on to our analysis of the metrics that we found. These are just some of the many visualizations and tables that we were able to create using our data.</a:t>
            </a:r>
          </a:p>
          <a:p>
            <a:endParaRPr lang="en-US"/>
          </a:p>
          <a:p>
            <a:r>
              <a:rPr lang="en-US"/>
              <a:t>Starting off, the clustered bar graph on injury type revealed that Hamstring Strain was the most prevalent injury at a count of 75.</a:t>
            </a:r>
          </a:p>
          <a:p>
            <a:endParaRPr lang="en-US"/>
          </a:p>
          <a:p>
            <a:r>
              <a:rPr lang="en-US"/>
              <a:t>As seen from the pie graph, we also found out that the position with the highest pass accuracy percentage was the midfielder position at 76.90%.</a:t>
            </a:r>
          </a:p>
          <a:p>
            <a:endParaRPr lang="en-US"/>
          </a:p>
          <a:p>
            <a:r>
              <a:rPr lang="en-US"/>
              <a:t>As can be seen from the bar graph on Sum of Assists and Goals on Day of the week, it is clear that Saturday and Friday generally have the most assists and most goals scored and this could be because more games are usually played on these dates where players tend to have more time.</a:t>
            </a:r>
          </a:p>
          <a:p>
            <a:endParaRPr lang="en-US"/>
          </a:p>
          <a:p>
            <a:r>
              <a:rPr lang="en-US"/>
              <a:t>Based on the graph about Goals per Match, the data shows that Midfielders score the most goals in both home and away while goalkeepers score the least in both but score more goals while they are home than away.</a:t>
            </a:r>
          </a:p>
          <a:p>
            <a:endParaRPr lang="en-US"/>
          </a:p>
          <a:p>
            <a:r>
              <a:rPr lang="en-US"/>
              <a:t>The graph on the bottom right depicts the frequency distribution of goals scored which shows that the majority of goals scored is 0 and generally tends to lean around 0 to 2 and is far more realistic.</a:t>
            </a:r>
          </a:p>
          <a:p>
            <a:endParaRPr lang="en-US"/>
          </a:p>
          <a:p>
            <a:r>
              <a:rPr lang="en-US"/>
              <a:t>The nationality frequency distribution reveals interesting information as well that the majority of players have a German or Brazilian nationality as there are 59 for Germany and Brazil.</a:t>
            </a:r>
          </a:p>
          <a:p>
            <a:endParaRPr lang="en-US"/>
          </a:p>
          <a:p>
            <a:r>
              <a:rPr lang="en-US"/>
              <a:t>Based on the data, it’s interesting to see how nationality, pass accuracy, goals scored, injury type, and even match dates and locations all have an interesting impact on the outcome and performance of a game.</a:t>
            </a:r>
          </a:p>
        </p:txBody>
      </p:sp>
      <p:sp>
        <p:nvSpPr>
          <p:cNvPr id="4" name="Slide Number Placeholder 3"/>
          <p:cNvSpPr>
            <a:spLocks noGrp="1"/>
          </p:cNvSpPr>
          <p:nvPr>
            <p:ph type="sldNum" sz="quarter" idx="5"/>
          </p:nvPr>
        </p:nvSpPr>
        <p:spPr/>
        <p:txBody>
          <a:bodyPr/>
          <a:lstStyle/>
          <a:p>
            <a:fld id="{A7134DDF-A3D4-46F2-8ADE-6976668B1CB1}" type="slidenum">
              <a:rPr lang="en-US" smtClean="0"/>
              <a:t>4</a:t>
            </a:fld>
            <a:endParaRPr lang="en-US"/>
          </a:p>
        </p:txBody>
      </p:sp>
    </p:spTree>
    <p:extLst>
      <p:ext uri="{BB962C8B-B14F-4D97-AF65-F5344CB8AC3E}">
        <p14:creationId xmlns:p14="http://schemas.microsoft.com/office/powerpoint/2010/main" val="934374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Emma M</a:t>
            </a:r>
          </a:p>
          <a:p>
            <a:r>
              <a:rPr lang="en-US"/>
              <a:t>Jumping into the section on descriptive statistics..</a:t>
            </a:r>
          </a:p>
          <a:p>
            <a:r>
              <a:rPr lang="en-US"/>
              <a:t>We started by looking at the relationship between age and speed which showed virtually no correlation. The R-squared value derived was .0048. Age explains less than 1% of the variance in speed - likely due to noise or discrepancies in the data. We then looked at goals by position. Midfielders scored the most which was sensible given that they have a more engaged role in both attacking play and buildup. Goalkeepers scored the least </a:t>
            </a:r>
            <a:r>
              <a:rPr lang="en-US" err="1"/>
              <a:t>whichgis</a:t>
            </a:r>
            <a:r>
              <a:rPr lang="en-US"/>
              <a:t> expected. However, it was notable that defenders surpassed forwards with their goals. Perhaps defenders scored more than forwards because they are involved in dead ball situations such as corners; or realistically it may be more a function of the limitations of the dataset, after all watching video broadcasts or datasets about real-life one might see forwards are top goal scorers. </a:t>
            </a:r>
          </a:p>
          <a:p>
            <a:endParaRPr lang="en-US"/>
          </a:p>
          <a:p>
            <a:r>
              <a:rPr lang="en-US"/>
              <a:t>Our most detailed insights derived from the summary statistics concerning pass accuracy, sprint speed, and muscle strength. The average pass accuracy was 72.7%, average sprint speed was 7.99 meters per second, and muscle strength average was 84.45. Pass accuracy and strength were moderately variable, while sprint speed was more consistent. The distributions were generally symmetrical; pass accuracy is slightly left skewed, as well the muscle strength is slightly right skewed. </a:t>
            </a:r>
          </a:p>
        </p:txBody>
      </p:sp>
      <p:sp>
        <p:nvSpPr>
          <p:cNvPr id="4" name="Slide Number Placeholder 3"/>
          <p:cNvSpPr>
            <a:spLocks noGrp="1"/>
          </p:cNvSpPr>
          <p:nvPr>
            <p:ph type="sldNum" sz="quarter" idx="5"/>
          </p:nvPr>
        </p:nvSpPr>
        <p:spPr/>
        <p:txBody>
          <a:bodyPr/>
          <a:lstStyle/>
          <a:p>
            <a:fld id="{A7134DDF-A3D4-46F2-8ADE-6976668B1CB1}" type="slidenum">
              <a:rPr lang="en-US" smtClean="0"/>
              <a:t>5</a:t>
            </a:fld>
            <a:endParaRPr lang="en-US"/>
          </a:p>
        </p:txBody>
      </p:sp>
    </p:spTree>
    <p:extLst>
      <p:ext uri="{BB962C8B-B14F-4D97-AF65-F5344CB8AC3E}">
        <p14:creationId xmlns:p14="http://schemas.microsoft.com/office/powerpoint/2010/main" val="3372784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a:t>
            </a:r>
          </a:p>
          <a:p>
            <a:endParaRPr lang="en-US"/>
          </a:p>
          <a:p>
            <a:r>
              <a:rPr lang="en-US"/>
              <a:t>To find out what predicts assists in soccer, we created a multiple linear regression model with minutes played per match, pass accuracy, age, and training hours per week as predictors. </a:t>
            </a:r>
          </a:p>
          <a:p>
            <a:r>
              <a:rPr lang="en-US"/>
              <a:t>At first, the regression was a very good fit with an R-squared of 0.979, meaning 98% of the variation in assists was accounted for by the model. However, only training hours per week was statistically significant (p-value = 0.0003) with a coefficient of 0.29, meaning every additional hour of training per week could be predicted to have one additional assist, when everything else was held constant. Pass accuracy had a p-value of 0.054 which is close enough to the 0.05 cut-off to consider it borderline significant. Minutes played and age had higher p-values (0.62 and 0.82), meaning both minutes played and age were not useful in predicting assists. Because of this, minutes played and age were removed as variables and the regression model was rerun.</a:t>
            </a:r>
          </a:p>
          <a:p>
            <a:r>
              <a:rPr lang="en-US"/>
              <a:t>The second model only used pass accuracy and training hours, and had roughly the same R-squared value. This confirmed that the two variables captured nearly all of the variation in assists of the original model.</a:t>
            </a:r>
          </a:p>
          <a:p>
            <a:r>
              <a:rPr lang="en-US"/>
              <a:t>However, the correlation matrix revealed that pass accuracy and training hours were almost perfectly correlated (r = 0.9988) which suggested a problem of multicollinearity. This probably accounts for why pass accuracy was at the edge of significance—it was too closely correlated to training hours to be a stand-alone predictor.</a:t>
            </a:r>
          </a:p>
          <a:p>
            <a:r>
              <a:rPr lang="en-US"/>
              <a:t>To solve the problem of multicollinearity and simplify interpretation, we dropped pass accuracy from the model. While not presented on the slide due to busyness, the final takeaway is that training hours per week as a predictor of assists emerged as the most reliable and interpretable predictor of assists — where it was able to keep all of its predictive power while eliminating multicollinearity.</a:t>
            </a:r>
          </a:p>
        </p:txBody>
      </p:sp>
      <p:sp>
        <p:nvSpPr>
          <p:cNvPr id="4" name="Slide Number Placeholder 3"/>
          <p:cNvSpPr>
            <a:spLocks noGrp="1"/>
          </p:cNvSpPr>
          <p:nvPr>
            <p:ph type="sldNum" sz="quarter" idx="5"/>
          </p:nvPr>
        </p:nvSpPr>
        <p:spPr/>
        <p:txBody>
          <a:bodyPr/>
          <a:lstStyle/>
          <a:p>
            <a:fld id="{A7134DDF-A3D4-46F2-8ADE-6976668B1CB1}" type="slidenum">
              <a:rPr lang="en-US" smtClean="0"/>
              <a:t>6</a:t>
            </a:fld>
            <a:endParaRPr lang="en-US"/>
          </a:p>
        </p:txBody>
      </p:sp>
    </p:spTree>
    <p:extLst>
      <p:ext uri="{BB962C8B-B14F-4D97-AF65-F5344CB8AC3E}">
        <p14:creationId xmlns:p14="http://schemas.microsoft.com/office/powerpoint/2010/main" val="3896271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a:t>
            </a:r>
          </a:p>
          <a:p>
            <a:endParaRPr lang="en-US"/>
          </a:p>
          <a:p>
            <a:r>
              <a:rPr lang="en-US"/>
              <a:t>Through the span of this project, we faced numerous challenges. The first challenge was selecting balanced and good performance metrics, which required careful planning to allow for meaningful insights into performance variations. Secondly, we had to convert categorical data, such as injury type and nationality, into continuous form, which complicated interpretation.</a:t>
            </a:r>
          </a:p>
          <a:p>
            <a:endParaRPr lang="en-US"/>
          </a:p>
          <a:p>
            <a:r>
              <a:rPr lang="en-US"/>
              <a:t>In the case of analyzing regressions in the final analysis, we bounded to drop variables that had not significant statistical relationship with our target variable, and had to deal with multicollinearity. Particularly, between hours of training, and pass accuracy, made it very hard to interpret the model.</a:t>
            </a:r>
          </a:p>
          <a:p>
            <a:endParaRPr lang="en-US"/>
          </a:p>
          <a:p>
            <a:r>
              <a:rPr lang="en-US"/>
              <a:t>The above challenges has reinforced the notion of the importance of proper variable selection, looking for any statistically significant relationships beforehand, and considering the redundancy amongst the inter-related variables. .Most critically, this highlighted the relative value in collaboration and iterative approach when moving through challenging empirical data.</a:t>
            </a:r>
          </a:p>
        </p:txBody>
      </p:sp>
      <p:sp>
        <p:nvSpPr>
          <p:cNvPr id="4" name="Slide Number Placeholder 3"/>
          <p:cNvSpPr>
            <a:spLocks noGrp="1"/>
          </p:cNvSpPr>
          <p:nvPr>
            <p:ph type="sldNum" sz="quarter" idx="5"/>
          </p:nvPr>
        </p:nvSpPr>
        <p:spPr/>
        <p:txBody>
          <a:bodyPr/>
          <a:lstStyle/>
          <a:p>
            <a:fld id="{A7134DDF-A3D4-46F2-8ADE-6976668B1CB1}" type="slidenum">
              <a:rPr lang="en-US" smtClean="0"/>
              <a:t>7</a:t>
            </a:fld>
            <a:endParaRPr lang="en-US"/>
          </a:p>
        </p:txBody>
      </p:sp>
    </p:spTree>
    <p:extLst>
      <p:ext uri="{BB962C8B-B14F-4D97-AF65-F5344CB8AC3E}">
        <p14:creationId xmlns:p14="http://schemas.microsoft.com/office/powerpoint/2010/main" val="1485012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Mackenzie</a:t>
            </a:r>
          </a:p>
          <a:p>
            <a:endParaRPr lang="en-US"/>
          </a:p>
          <a:p>
            <a:r>
              <a:rPr lang="en-US"/>
              <a:t>To summarize, Part 1 delineated contextual and cyclical trends in match performance and injury, outlining the physical demands and variability of the sport. Part 2 indicated that, while some differences existed in team and player attributes, the majority of training metrics were not powerful outcome predictors—therefore implying other complex and potentially hidden influences.</a:t>
            </a:r>
          </a:p>
          <a:p>
            <a:endParaRPr lang="en-US"/>
          </a:p>
          <a:p>
            <a:r>
              <a:rPr lang="en-US"/>
              <a:t>Part 3 saw a regression analysis of assists, with training hours as the most significant predictor. We cleaned up the model by excluding some weaker variables, and managed multicollinearity with the correlation of pass accuracy, to better communicate the results. Overall, we highlighted the importance of training and context, and did some smart modelling to better understand performance.</a:t>
            </a:r>
          </a:p>
          <a:p>
            <a:endParaRPr lang="en-US"/>
          </a:p>
          <a:p>
            <a:r>
              <a:rPr lang="en-US"/>
              <a:t>Thank you and we hope you enjoyed our presentation!</a:t>
            </a:r>
          </a:p>
        </p:txBody>
      </p:sp>
      <p:sp>
        <p:nvSpPr>
          <p:cNvPr id="4" name="Slide Number Placeholder 3"/>
          <p:cNvSpPr>
            <a:spLocks noGrp="1"/>
          </p:cNvSpPr>
          <p:nvPr>
            <p:ph type="sldNum" sz="quarter" idx="5"/>
          </p:nvPr>
        </p:nvSpPr>
        <p:spPr/>
        <p:txBody>
          <a:bodyPr/>
          <a:lstStyle/>
          <a:p>
            <a:fld id="{A7134DDF-A3D4-46F2-8ADE-6976668B1CB1}" type="slidenum">
              <a:rPr lang="en-US" smtClean="0"/>
              <a:t>8</a:t>
            </a:fld>
            <a:endParaRPr lang="en-US"/>
          </a:p>
        </p:txBody>
      </p:sp>
    </p:spTree>
    <p:extLst>
      <p:ext uri="{BB962C8B-B14F-4D97-AF65-F5344CB8AC3E}">
        <p14:creationId xmlns:p14="http://schemas.microsoft.com/office/powerpoint/2010/main" val="3439989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2C30-29E5-CE7C-6B1C-E7BEAE0B60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DBE5A5-C742-96DC-EAEF-5CCB167910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450221-B578-8960-8C45-3F28ACE086AB}"/>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C3239977-0379-4618-3CCE-FCB0D2E1DC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7504B-A607-579A-A298-9DEE4C3140FA}"/>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2329384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9B4E-30FF-B87E-5816-CDAC937A9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8EB6B7-26CF-E7A3-857A-88EC7E53D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0053F-4C21-DFC8-F1D9-6F7BF3D4E576}"/>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88DB48CF-F6C7-A6CA-8017-42CD77474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98127-2C67-8546-26C0-E004EF271CB7}"/>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3922416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0F6B8-8E70-1D69-16FD-0D11E7BCC9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240948-8143-1546-B0FA-B03D273375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D3BA32-8E9F-FC58-1A91-49B43BBE090A}"/>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15C09AB4-C488-1497-7BB4-05D62199D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226E7-4418-6A71-57B3-FE82B9E3E101}"/>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3338509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BB0E4-3C09-26F7-2836-15D0BDB02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F2841C-64CB-47E8-7DD0-3BF0E5AE66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E41F81-C3FB-5D25-BCC1-62D3636CC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A8B2F9-AD09-D537-A1F3-828F2918F487}"/>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6" name="Footer Placeholder 5">
            <a:extLst>
              <a:ext uri="{FF2B5EF4-FFF2-40B4-BE49-F238E27FC236}">
                <a16:creationId xmlns:a16="http://schemas.microsoft.com/office/drawing/2014/main" id="{51C039F6-BB0D-8C15-6C2C-15C3C88AB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D5C8F0-51E5-7174-C997-F890EF3995BC}"/>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3989225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0F73-6F3A-259F-1CDA-A3B86FA38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4D34DC-48E2-352D-C1C2-CECCA6D3BF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481C6E-EB37-510D-A7EC-D19AF8E1C8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86230-2AFB-FBA2-8913-CDA631543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21E7F7-54CA-755F-ADB9-E467295368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97E847-FEB1-06BC-FDBA-2ABEB7266290}"/>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8" name="Footer Placeholder 7">
            <a:extLst>
              <a:ext uri="{FF2B5EF4-FFF2-40B4-BE49-F238E27FC236}">
                <a16:creationId xmlns:a16="http://schemas.microsoft.com/office/drawing/2014/main" id="{146A9473-AE31-802F-4371-934270F996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554F26-4E4D-57EB-B387-3D0F78A8AD04}"/>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3528315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93D89-2BF7-2B47-58E1-1B2E660AFD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5DF3C5-8483-AFFC-6861-A348BEE54E29}"/>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4" name="Footer Placeholder 3">
            <a:extLst>
              <a:ext uri="{FF2B5EF4-FFF2-40B4-BE49-F238E27FC236}">
                <a16:creationId xmlns:a16="http://schemas.microsoft.com/office/drawing/2014/main" id="{1AF20D23-BC54-F42A-6090-35C226E7E9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70E951-AA96-2101-0CD2-589C8FF4C754}"/>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1320518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96715B-1130-C893-80AA-10377AD253B3}"/>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3" name="Footer Placeholder 2">
            <a:extLst>
              <a:ext uri="{FF2B5EF4-FFF2-40B4-BE49-F238E27FC236}">
                <a16:creationId xmlns:a16="http://schemas.microsoft.com/office/drawing/2014/main" id="{6C609A44-1EA9-04E9-9D26-CDD2AF04D8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0D137B-76E2-63E3-9A04-29003F53C3FF}"/>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370104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EB334-4018-98C2-1D35-34C710C63F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AC3AB8-081A-D520-5424-61D6A605E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262190-563D-EE2B-237C-59AF4E0A8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D73A0-DF67-AACB-9E39-1CBCD1AF6D83}"/>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6" name="Footer Placeholder 5">
            <a:extLst>
              <a:ext uri="{FF2B5EF4-FFF2-40B4-BE49-F238E27FC236}">
                <a16:creationId xmlns:a16="http://schemas.microsoft.com/office/drawing/2014/main" id="{F5C583AE-5426-4E47-7C04-C315C99927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6ED8A7-DB5E-DC38-B4EB-51DD00770BD1}"/>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2492076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9C42-ECC5-9456-42C7-F0A4547A01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A7C5E9-ECFF-9F3E-21A4-F4D6E53B46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1D1B04-B9C5-84D9-4828-E4BEA4512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A17E1B-17F9-9D70-36BD-BC973D130F81}"/>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6" name="Footer Placeholder 5">
            <a:extLst>
              <a:ext uri="{FF2B5EF4-FFF2-40B4-BE49-F238E27FC236}">
                <a16:creationId xmlns:a16="http://schemas.microsoft.com/office/drawing/2014/main" id="{39855E41-68D6-B5DA-DB10-1189B28B4A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3C271C-B0FA-ADC8-4F09-E88B074276A3}"/>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426102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6464D-3720-3C17-7E00-6594AC4A80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77C958-6115-6A2C-B42C-A8D9BD1A39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16C3E-5767-4317-65C4-8356114488F7}"/>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5DA34B1D-0D8A-540F-6B84-0DBA98BCA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F91C8-2645-D45D-DBA5-D22BA468C311}"/>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933602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7D68BA-3F2F-A0D3-BB45-16C6CA4CFA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6642F5-4C69-6F18-2CF4-E0037E7EE3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E164A8-D439-4706-EC8D-20576D5E34FB}"/>
              </a:ext>
            </a:extLst>
          </p:cNvPr>
          <p:cNvSpPr>
            <a:spLocks noGrp="1"/>
          </p:cNvSpPr>
          <p:nvPr>
            <p:ph type="dt" sz="half" idx="10"/>
          </p:nvPr>
        </p:nvSpPr>
        <p:spPr/>
        <p:txBody>
          <a:body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FA94BFEC-18E3-706E-54EE-6ED3BC5E7B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714708-4CB9-C48F-2F77-E2B06A083064}"/>
              </a:ext>
            </a:extLst>
          </p:cNvPr>
          <p:cNvSpPr>
            <a:spLocks noGrp="1"/>
          </p:cNvSpPr>
          <p:nvPr>
            <p:ph type="sldNum" sz="quarter" idx="12"/>
          </p:nvPr>
        </p:nvSpPr>
        <p:spPr/>
        <p:txBody>
          <a:bodyPr/>
          <a:lstStyle/>
          <a:p>
            <a:fld id="{4F8664F5-2EFE-42DD-A937-22C5212CFC08}" type="slidenum">
              <a:rPr lang="en-US" smtClean="0"/>
              <a:t>‹#›</a:t>
            </a:fld>
            <a:endParaRPr lang="en-US"/>
          </a:p>
        </p:txBody>
      </p:sp>
    </p:spTree>
    <p:extLst>
      <p:ext uri="{BB962C8B-B14F-4D97-AF65-F5344CB8AC3E}">
        <p14:creationId xmlns:p14="http://schemas.microsoft.com/office/powerpoint/2010/main" val="2314334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0519F1-E92C-9C87-EEC8-EC39516AB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5101C7-F1EC-0A26-0807-4298EC47CE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98B87A-5EFE-390B-0F53-34EA9D32A8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230074-DDC1-4008-89D0-6C016804B245}" type="datetimeFigureOut">
              <a:rPr lang="en-US" smtClean="0"/>
              <a:t>10/5/2026</a:t>
            </a:fld>
            <a:endParaRPr lang="en-US"/>
          </a:p>
        </p:txBody>
      </p:sp>
      <p:sp>
        <p:nvSpPr>
          <p:cNvPr id="5" name="Footer Placeholder 4">
            <a:extLst>
              <a:ext uri="{FF2B5EF4-FFF2-40B4-BE49-F238E27FC236}">
                <a16:creationId xmlns:a16="http://schemas.microsoft.com/office/drawing/2014/main" id="{B3BA8F26-F8DA-0729-646A-8D7D00A57E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AA8C59-8F67-1BE4-787E-C8BBF43FA8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8664F5-2EFE-42DD-A937-22C5212CFC08}" type="slidenum">
              <a:rPr lang="en-US" smtClean="0"/>
              <a:t>‹#›</a:t>
            </a:fld>
            <a:endParaRPr lang="en-US"/>
          </a:p>
        </p:txBody>
      </p:sp>
    </p:spTree>
    <p:extLst>
      <p:ext uri="{BB962C8B-B14F-4D97-AF65-F5344CB8AC3E}">
        <p14:creationId xmlns:p14="http://schemas.microsoft.com/office/powerpoint/2010/main" val="137697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football field with white lines&#10;&#10;AI-generated content may be incorrect.">
            <a:extLst>
              <a:ext uri="{FF2B5EF4-FFF2-40B4-BE49-F238E27FC236}">
                <a16:creationId xmlns:a16="http://schemas.microsoft.com/office/drawing/2014/main" id="{B2DB3886-5B8B-E54D-EBBC-5166409746AC}"/>
              </a:ext>
            </a:extLst>
          </p:cNvPr>
          <p:cNvPicPr>
            <a:picLocks noChangeAspect="1"/>
          </p:cNvPicPr>
          <p:nvPr/>
        </p:nvPicPr>
        <p:blipFill>
          <a:blip r:embed="rId3"/>
          <a:srcRect t="14618" b="10381"/>
          <a:stretch>
            <a:fillRect/>
          </a:stretch>
        </p:blipFill>
        <p:spPr>
          <a:xfrm>
            <a:off x="20" y="-22"/>
            <a:ext cx="12191977" cy="6858022"/>
          </a:xfrm>
          <a:prstGeom prst="rect">
            <a:avLst/>
          </a:prstGeom>
        </p:spPr>
      </p:pic>
      <p:sp>
        <p:nvSpPr>
          <p:cNvPr id="11" name="Rectangle 10">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C0BE6-08A1-7595-4921-0E8B0B47AE0B}"/>
              </a:ext>
            </a:extLst>
          </p:cNvPr>
          <p:cNvSpPr>
            <a:spLocks noGrp="1"/>
          </p:cNvSpPr>
          <p:nvPr>
            <p:ph type="ctrTitle"/>
          </p:nvPr>
        </p:nvSpPr>
        <p:spPr>
          <a:xfrm>
            <a:off x="766916" y="196645"/>
            <a:ext cx="10805652" cy="4650657"/>
          </a:xfrm>
        </p:spPr>
        <p:txBody>
          <a:bodyPr anchor="t">
            <a:noAutofit/>
          </a:bodyPr>
          <a:lstStyle/>
          <a:p>
            <a:r>
              <a:rPr lang="en-US" sz="10200">
                <a:solidFill>
                  <a:srgbClr val="FFFFFF"/>
                </a:solidFill>
              </a:rPr>
              <a:t>Soccer Performance &amp; Health Analytics</a:t>
            </a:r>
          </a:p>
        </p:txBody>
      </p:sp>
      <p:sp>
        <p:nvSpPr>
          <p:cNvPr id="3" name="Subtitle 2">
            <a:extLst>
              <a:ext uri="{FF2B5EF4-FFF2-40B4-BE49-F238E27FC236}">
                <a16:creationId xmlns:a16="http://schemas.microsoft.com/office/drawing/2014/main" id="{87DAB67F-1F1F-5745-FDB4-9F30AE897061}"/>
              </a:ext>
            </a:extLst>
          </p:cNvPr>
          <p:cNvSpPr>
            <a:spLocks noGrp="1"/>
          </p:cNvSpPr>
          <p:nvPr>
            <p:ph type="subTitle" idx="1"/>
          </p:nvPr>
        </p:nvSpPr>
        <p:spPr>
          <a:xfrm>
            <a:off x="6094475" y="4454013"/>
            <a:ext cx="5478093" cy="2300748"/>
          </a:xfrm>
        </p:spPr>
        <p:txBody>
          <a:bodyPr vert="horz" lIns="91440" tIns="45720" rIns="91440" bIns="45720" rtlCol="0" anchor="b">
            <a:normAutofit fontScale="92500" lnSpcReduction="10000"/>
          </a:bodyPr>
          <a:lstStyle/>
          <a:p>
            <a:r>
              <a:rPr lang="en-US" sz="3600">
                <a:solidFill>
                  <a:srgbClr val="FFFFFF"/>
                </a:solidFill>
              </a:rPr>
              <a:t>Group 1:</a:t>
            </a:r>
          </a:p>
          <a:p>
            <a:br>
              <a:rPr lang="en-US" sz="3600">
                <a:solidFill>
                  <a:srgbClr val="FFFFFF"/>
                </a:solidFill>
              </a:rPr>
            </a:br>
            <a:r>
              <a:rPr lang="en-US" sz="3600">
                <a:solidFill>
                  <a:srgbClr val="FFFFFF"/>
                </a:solidFill>
              </a:rPr>
              <a:t>Nicholas Ricci, Ty Tollie, Emma Meacher, Mackenzie Petermann, &amp; Emma Tate</a:t>
            </a:r>
          </a:p>
        </p:txBody>
      </p:sp>
      <p:sp>
        <p:nvSpPr>
          <p:cNvPr id="13" name="Rectangle 12">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6039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6A8E19-AE2E-175C-AAF2-0BC33087534F}"/>
              </a:ext>
            </a:extLst>
          </p:cNvPr>
          <p:cNvSpPr>
            <a:spLocks noGrp="1"/>
          </p:cNvSpPr>
          <p:nvPr>
            <p:ph type="title"/>
          </p:nvPr>
        </p:nvSpPr>
        <p:spPr>
          <a:xfrm>
            <a:off x="1383564" y="348865"/>
            <a:ext cx="9718111" cy="1540225"/>
          </a:xfrm>
        </p:spPr>
        <p:txBody>
          <a:bodyPr anchor="ctr">
            <a:normAutofit/>
          </a:bodyPr>
          <a:lstStyle/>
          <a:p>
            <a:pPr algn="ctr"/>
            <a:r>
              <a:rPr lang="en-US" sz="6000">
                <a:solidFill>
                  <a:srgbClr val="FFFFFF"/>
                </a:solidFill>
              </a:rPr>
              <a:t>Introduction</a:t>
            </a:r>
          </a:p>
        </p:txBody>
      </p:sp>
      <p:graphicFrame>
        <p:nvGraphicFramePr>
          <p:cNvPr id="14" name="Content Placeholder 2">
            <a:extLst>
              <a:ext uri="{FF2B5EF4-FFF2-40B4-BE49-F238E27FC236}">
                <a16:creationId xmlns:a16="http://schemas.microsoft.com/office/drawing/2014/main" id="{F5B4C4E1-443B-AA6C-625B-038A0F239F28}"/>
              </a:ext>
            </a:extLst>
          </p:cNvPr>
          <p:cNvGraphicFramePr>
            <a:graphicFrameLocks noGrp="1"/>
          </p:cNvGraphicFramePr>
          <p:nvPr>
            <p:ph idx="1"/>
            <p:extLst>
              <p:ext uri="{D42A27DB-BD31-4B8C-83A1-F6EECF244321}">
                <p14:modId xmlns:p14="http://schemas.microsoft.com/office/powerpoint/2010/main" val="1663947100"/>
              </p:ext>
            </p:extLst>
          </p:nvPr>
        </p:nvGraphicFramePr>
        <p:xfrm>
          <a:off x="11970" y="2170031"/>
          <a:ext cx="12180030" cy="4687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1240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3F298-E85A-9B6F-EC98-35D9C6811D30}"/>
              </a:ext>
            </a:extLst>
          </p:cNvPr>
          <p:cNvSpPr>
            <a:spLocks noGrp="1"/>
          </p:cNvSpPr>
          <p:nvPr>
            <p:ph type="title"/>
          </p:nvPr>
        </p:nvSpPr>
        <p:spPr>
          <a:xfrm>
            <a:off x="1371599" y="294538"/>
            <a:ext cx="9895951" cy="1033669"/>
          </a:xfrm>
        </p:spPr>
        <p:txBody>
          <a:bodyPr>
            <a:normAutofit/>
          </a:bodyPr>
          <a:lstStyle/>
          <a:p>
            <a:pPr algn="ctr"/>
            <a:r>
              <a:rPr lang="en-US" sz="6000">
                <a:solidFill>
                  <a:srgbClr val="FFFFFF"/>
                </a:solidFill>
              </a:rPr>
              <a:t>Our Approach </a:t>
            </a:r>
          </a:p>
        </p:txBody>
      </p:sp>
      <p:graphicFrame>
        <p:nvGraphicFramePr>
          <p:cNvPr id="27" name="Content Placeholder 2">
            <a:extLst>
              <a:ext uri="{FF2B5EF4-FFF2-40B4-BE49-F238E27FC236}">
                <a16:creationId xmlns:a16="http://schemas.microsoft.com/office/drawing/2014/main" id="{99AB5E6A-D069-B7E5-2320-30E9CC6C1CD1}"/>
              </a:ext>
            </a:extLst>
          </p:cNvPr>
          <p:cNvGraphicFramePr>
            <a:graphicFrameLocks noGrp="1"/>
          </p:cNvGraphicFramePr>
          <p:nvPr>
            <p:ph idx="1"/>
            <p:extLst>
              <p:ext uri="{D42A27DB-BD31-4B8C-83A1-F6EECF244321}">
                <p14:modId xmlns:p14="http://schemas.microsoft.com/office/powerpoint/2010/main" val="2080910574"/>
              </p:ext>
            </p:extLst>
          </p:nvPr>
        </p:nvGraphicFramePr>
        <p:xfrm>
          <a:off x="-3" y="1597432"/>
          <a:ext cx="12191999" cy="5260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995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2D6CD5-BBD7-7109-1069-164759B5E57B}"/>
              </a:ext>
            </a:extLst>
          </p:cNvPr>
          <p:cNvSpPr>
            <a:spLocks noGrp="1"/>
          </p:cNvSpPr>
          <p:nvPr>
            <p:ph type="title"/>
          </p:nvPr>
        </p:nvSpPr>
        <p:spPr>
          <a:xfrm>
            <a:off x="1371599" y="294538"/>
            <a:ext cx="9895951" cy="1033669"/>
          </a:xfrm>
        </p:spPr>
        <p:txBody>
          <a:bodyPr>
            <a:normAutofit/>
          </a:bodyPr>
          <a:lstStyle/>
          <a:p>
            <a:pPr algn="ctr"/>
            <a:r>
              <a:rPr lang="en-US" sz="6000">
                <a:solidFill>
                  <a:srgbClr val="FFFFFF"/>
                </a:solidFill>
              </a:rPr>
              <a:t>Analyzing Key Metrics</a:t>
            </a:r>
          </a:p>
        </p:txBody>
      </p:sp>
      <p:graphicFrame>
        <p:nvGraphicFramePr>
          <p:cNvPr id="7" name="Chart 6">
            <a:extLst>
              <a:ext uri="{FF2B5EF4-FFF2-40B4-BE49-F238E27FC236}">
                <a16:creationId xmlns:a16="http://schemas.microsoft.com/office/drawing/2014/main" id="{9CB1E6A1-0B60-48EC-C498-049D80C5CFAA}"/>
              </a:ext>
              <a:ext uri="{147F2762-F138-4A5C-976F-8EAC2B608ADB}">
                <a16:predDERef xmlns:a16="http://schemas.microsoft.com/office/drawing/2014/main" pred="{FB30B680-252F-A362-FB0D-AD261D7B8459}"/>
              </a:ext>
            </a:extLst>
          </p:cNvPr>
          <p:cNvGraphicFramePr/>
          <p:nvPr>
            <p:extLst>
              <p:ext uri="{D42A27DB-BD31-4B8C-83A1-F6EECF244321}">
                <p14:modId xmlns:p14="http://schemas.microsoft.com/office/powerpoint/2010/main" val="1638836325"/>
              </p:ext>
            </p:extLst>
          </p:nvPr>
        </p:nvGraphicFramePr>
        <p:xfrm>
          <a:off x="5017964" y="3947731"/>
          <a:ext cx="3436225" cy="2628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EE5F74EB-88E7-48E4-0D9B-7D1246CFE24C}"/>
              </a:ext>
            </a:extLst>
          </p:cNvPr>
          <p:cNvGraphicFramePr/>
          <p:nvPr>
            <p:extLst>
              <p:ext uri="{D42A27DB-BD31-4B8C-83A1-F6EECF244321}">
                <p14:modId xmlns:p14="http://schemas.microsoft.com/office/powerpoint/2010/main" val="1393185339"/>
              </p:ext>
            </p:extLst>
          </p:nvPr>
        </p:nvGraphicFramePr>
        <p:xfrm>
          <a:off x="108682" y="1620906"/>
          <a:ext cx="3384891" cy="21472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76E75D8A-C1A1-4091-D55C-BDD0F3A9456A}"/>
              </a:ext>
              <a:ext uri="{147F2762-F138-4A5C-976F-8EAC2B608ADB}">
                <a16:predDERef xmlns:a16="http://schemas.microsoft.com/office/drawing/2014/main" pred="{13EEA9ED-F513-E860-D965-6C83DDF83B70}"/>
              </a:ext>
            </a:extLst>
          </p:cNvPr>
          <p:cNvGraphicFramePr/>
          <p:nvPr>
            <p:extLst>
              <p:ext uri="{D42A27DB-BD31-4B8C-83A1-F6EECF244321}">
                <p14:modId xmlns:p14="http://schemas.microsoft.com/office/powerpoint/2010/main" val="3819299265"/>
              </p:ext>
            </p:extLst>
          </p:nvPr>
        </p:nvGraphicFramePr>
        <p:xfrm>
          <a:off x="108682" y="3947731"/>
          <a:ext cx="4800600" cy="27584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4EAD157A-9F4B-C53A-4E47-AD9C397E3319}"/>
              </a:ext>
              <a:ext uri="{147F2762-F138-4A5C-976F-8EAC2B608ADB}">
                <a16:predDERef xmlns:a16="http://schemas.microsoft.com/office/drawing/2014/main" pred="{73EA7D5A-343C-1029-3DED-B0C506A490C4}"/>
              </a:ext>
            </a:extLst>
          </p:cNvPr>
          <p:cNvGraphicFramePr/>
          <p:nvPr>
            <p:extLst>
              <p:ext uri="{D42A27DB-BD31-4B8C-83A1-F6EECF244321}">
                <p14:modId xmlns:p14="http://schemas.microsoft.com/office/powerpoint/2010/main" val="2304437189"/>
              </p:ext>
            </p:extLst>
          </p:nvPr>
        </p:nvGraphicFramePr>
        <p:xfrm>
          <a:off x="8814234" y="1640588"/>
          <a:ext cx="3213336" cy="226398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2" name="Chart 21">
            <a:extLst>
              <a:ext uri="{FF2B5EF4-FFF2-40B4-BE49-F238E27FC236}">
                <a16:creationId xmlns:a16="http://schemas.microsoft.com/office/drawing/2014/main" id="{4640D750-7464-1AF1-8F6E-8B8B89F7BB33}"/>
              </a:ext>
              <a:ext uri="{147F2762-F138-4A5C-976F-8EAC2B608ADB}">
                <a16:predDERef xmlns:a16="http://schemas.microsoft.com/office/drawing/2014/main" pred="{03C966AF-B8E3-49D0-94C0-C5BDFB9055F7}"/>
              </a:ext>
            </a:extLst>
          </p:cNvPr>
          <p:cNvGraphicFramePr/>
          <p:nvPr>
            <p:extLst>
              <p:ext uri="{D42A27DB-BD31-4B8C-83A1-F6EECF244321}">
                <p14:modId xmlns:p14="http://schemas.microsoft.com/office/powerpoint/2010/main" val="417368412"/>
              </p:ext>
            </p:extLst>
          </p:nvPr>
        </p:nvGraphicFramePr>
        <p:xfrm>
          <a:off x="8716426" y="3960900"/>
          <a:ext cx="3213336" cy="261573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4" name="Chart 23">
            <a:extLst>
              <a:ext uri="{FF2B5EF4-FFF2-40B4-BE49-F238E27FC236}">
                <a16:creationId xmlns:a16="http://schemas.microsoft.com/office/drawing/2014/main" id="{8F8C323F-92A9-DF57-0E0D-6D009BF6AC99}"/>
              </a:ext>
              <a:ext uri="{147F2762-F138-4A5C-976F-8EAC2B608ADB}">
                <a16:predDERef xmlns:a16="http://schemas.microsoft.com/office/drawing/2014/main" pred="{2A1C5DC1-9EB3-A16D-54AF-8EFB06198B96}"/>
              </a:ext>
            </a:extLst>
          </p:cNvPr>
          <p:cNvGraphicFramePr/>
          <p:nvPr>
            <p:extLst>
              <p:ext uri="{D42A27DB-BD31-4B8C-83A1-F6EECF244321}">
                <p14:modId xmlns:p14="http://schemas.microsoft.com/office/powerpoint/2010/main" val="2838997471"/>
              </p:ext>
            </p:extLst>
          </p:nvPr>
        </p:nvGraphicFramePr>
        <p:xfrm>
          <a:off x="3796800" y="1568451"/>
          <a:ext cx="4752171" cy="2227452"/>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86015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7F642-EFBE-8D33-A067-3E10500D169D}"/>
              </a:ext>
            </a:extLst>
          </p:cNvPr>
          <p:cNvSpPr>
            <a:spLocks noGrp="1"/>
          </p:cNvSpPr>
          <p:nvPr>
            <p:ph type="title"/>
          </p:nvPr>
        </p:nvSpPr>
        <p:spPr>
          <a:xfrm>
            <a:off x="2398644" y="294538"/>
            <a:ext cx="9528314" cy="1033669"/>
          </a:xfrm>
        </p:spPr>
        <p:txBody>
          <a:bodyPr>
            <a:normAutofit fontScale="90000"/>
          </a:bodyPr>
          <a:lstStyle/>
          <a:p>
            <a:pPr algn="ctr"/>
            <a:r>
              <a:rPr lang="en-US" sz="6000">
                <a:solidFill>
                  <a:srgbClr val="FFFFFF"/>
                </a:solidFill>
              </a:rPr>
              <a:t>Analyzing Descriptive Statistics</a:t>
            </a:r>
          </a:p>
        </p:txBody>
      </p:sp>
      <p:graphicFrame>
        <p:nvGraphicFramePr>
          <p:cNvPr id="6" name="Content Placeholder 5">
            <a:extLst>
              <a:ext uri="{FF2B5EF4-FFF2-40B4-BE49-F238E27FC236}">
                <a16:creationId xmlns:a16="http://schemas.microsoft.com/office/drawing/2014/main" id="{8BB54D03-DCB9-6436-0EA7-B3A000584A18}"/>
              </a:ext>
            </a:extLst>
          </p:cNvPr>
          <p:cNvGraphicFramePr>
            <a:graphicFrameLocks noGrp="1"/>
          </p:cNvGraphicFramePr>
          <p:nvPr>
            <p:ph idx="1"/>
            <p:extLst>
              <p:ext uri="{D42A27DB-BD31-4B8C-83A1-F6EECF244321}">
                <p14:modId xmlns:p14="http://schemas.microsoft.com/office/powerpoint/2010/main" val="1779406533"/>
              </p:ext>
            </p:extLst>
          </p:nvPr>
        </p:nvGraphicFramePr>
        <p:xfrm>
          <a:off x="309286" y="1885279"/>
          <a:ext cx="5393953" cy="4581782"/>
        </p:xfrm>
        <a:graphic>
          <a:graphicData uri="http://schemas.openxmlformats.org/drawingml/2006/table">
            <a:tbl>
              <a:tblPr firstRow="1" firstCol="1" bandRow="1">
                <a:tableStyleId>{5C22544A-7EE6-4342-B048-85BDC9FD1C3A}</a:tableStyleId>
              </a:tblPr>
              <a:tblGrid>
                <a:gridCol w="988290">
                  <a:extLst>
                    <a:ext uri="{9D8B030D-6E8A-4147-A177-3AD203B41FA5}">
                      <a16:colId xmlns:a16="http://schemas.microsoft.com/office/drawing/2014/main" val="3129729381"/>
                    </a:ext>
                  </a:extLst>
                </a:gridCol>
                <a:gridCol w="770089">
                  <a:extLst>
                    <a:ext uri="{9D8B030D-6E8A-4147-A177-3AD203B41FA5}">
                      <a16:colId xmlns:a16="http://schemas.microsoft.com/office/drawing/2014/main" val="4005919798"/>
                    </a:ext>
                  </a:extLst>
                </a:gridCol>
                <a:gridCol w="988290">
                  <a:extLst>
                    <a:ext uri="{9D8B030D-6E8A-4147-A177-3AD203B41FA5}">
                      <a16:colId xmlns:a16="http://schemas.microsoft.com/office/drawing/2014/main" val="656279807"/>
                    </a:ext>
                  </a:extLst>
                </a:gridCol>
                <a:gridCol w="770089">
                  <a:extLst>
                    <a:ext uri="{9D8B030D-6E8A-4147-A177-3AD203B41FA5}">
                      <a16:colId xmlns:a16="http://schemas.microsoft.com/office/drawing/2014/main" val="705587222"/>
                    </a:ext>
                  </a:extLst>
                </a:gridCol>
                <a:gridCol w="1177064">
                  <a:extLst>
                    <a:ext uri="{9D8B030D-6E8A-4147-A177-3AD203B41FA5}">
                      <a16:colId xmlns:a16="http://schemas.microsoft.com/office/drawing/2014/main" val="2477524708"/>
                    </a:ext>
                  </a:extLst>
                </a:gridCol>
                <a:gridCol w="700131">
                  <a:extLst>
                    <a:ext uri="{9D8B030D-6E8A-4147-A177-3AD203B41FA5}">
                      <a16:colId xmlns:a16="http://schemas.microsoft.com/office/drawing/2014/main" val="3741142347"/>
                    </a:ext>
                  </a:extLst>
                </a:gridCol>
              </a:tblGrid>
              <a:tr h="402915">
                <a:tc>
                  <a:txBody>
                    <a:bodyPr/>
                    <a:lstStyle/>
                    <a:p>
                      <a:pPr marL="0" marR="0" algn="ctr">
                        <a:lnSpc>
                          <a:spcPct val="150000"/>
                        </a:lnSpc>
                        <a:spcAft>
                          <a:spcPts val="800"/>
                        </a:spcAft>
                        <a:buNone/>
                      </a:pPr>
                      <a:r>
                        <a:rPr lang="en-US" sz="700" kern="0">
                          <a:effectLst/>
                        </a:rPr>
                        <a:t>Pass Accuracy (%)</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 </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Sprint Speed (m/s)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 </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Muscle Strength Score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 </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1119802909"/>
                  </a:ext>
                </a:extLst>
              </a:tr>
              <a:tr h="402915">
                <a:tc>
                  <a:txBody>
                    <a:bodyPr/>
                    <a:lstStyle/>
                    <a:p>
                      <a:pPr marL="0" marR="0" algn="ctr">
                        <a:lnSpc>
                          <a:spcPct val="150000"/>
                        </a:lnSpc>
                        <a:spcAft>
                          <a:spcPts val="800"/>
                        </a:spcAft>
                        <a:buNone/>
                      </a:pPr>
                      <a:r>
                        <a:rPr lang="en-US" sz="700" kern="0">
                          <a:effectLst/>
                        </a:rPr>
                        <a:t>Mean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72.70403571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Mean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7.993535714</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Mean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84.44789286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483080832"/>
                  </a:ext>
                </a:extLst>
              </a:tr>
              <a:tr h="402915">
                <a:tc>
                  <a:txBody>
                    <a:bodyPr/>
                    <a:lstStyle/>
                    <a:p>
                      <a:pPr marL="0" marR="0" algn="ctr">
                        <a:lnSpc>
                          <a:spcPct val="150000"/>
                        </a:lnSpc>
                        <a:spcAft>
                          <a:spcPts val="800"/>
                        </a:spcAft>
                        <a:buNone/>
                      </a:pPr>
                      <a:r>
                        <a:rPr lang="en-US" sz="700" kern="0">
                          <a:effectLst/>
                        </a:rPr>
                        <a:t>Standard Error</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0.806620172</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Standard Error</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0.070504328</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Standard Error</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0.508786135</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1845856269"/>
                  </a:ext>
                </a:extLst>
              </a:tr>
              <a:tr h="191109">
                <a:tc>
                  <a:txBody>
                    <a:bodyPr/>
                    <a:lstStyle/>
                    <a:p>
                      <a:pPr marL="0" marR="0" algn="ctr">
                        <a:lnSpc>
                          <a:spcPct val="150000"/>
                        </a:lnSpc>
                        <a:spcAft>
                          <a:spcPts val="800"/>
                        </a:spcAft>
                        <a:buNone/>
                      </a:pPr>
                      <a:r>
                        <a:rPr lang="en-US" sz="700" kern="0">
                          <a:effectLst/>
                        </a:rPr>
                        <a:t>Median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73.205</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Median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7.97</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Median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84.11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2437709439"/>
                  </a:ext>
                </a:extLst>
              </a:tr>
              <a:tr h="191109">
                <a:tc>
                  <a:txBody>
                    <a:bodyPr/>
                    <a:lstStyle/>
                    <a:p>
                      <a:pPr marL="0" marR="0" algn="ctr">
                        <a:lnSpc>
                          <a:spcPct val="150000"/>
                        </a:lnSpc>
                        <a:spcAft>
                          <a:spcPts val="800"/>
                        </a:spcAft>
                        <a:buNone/>
                      </a:pPr>
                      <a:r>
                        <a:rPr lang="en-US" sz="700" kern="0">
                          <a:effectLst/>
                        </a:rPr>
                        <a:t>Mode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84.69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Mode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9.86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Mode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75.38</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119897445"/>
                  </a:ext>
                </a:extLst>
              </a:tr>
              <a:tr h="402915">
                <a:tc>
                  <a:txBody>
                    <a:bodyPr/>
                    <a:lstStyle/>
                    <a:p>
                      <a:pPr marL="0" marR="0" algn="ctr">
                        <a:lnSpc>
                          <a:spcPct val="150000"/>
                        </a:lnSpc>
                        <a:spcAft>
                          <a:spcPts val="800"/>
                        </a:spcAft>
                        <a:buNone/>
                      </a:pPr>
                      <a:r>
                        <a:rPr lang="en-US" sz="700" kern="0">
                          <a:effectLst/>
                        </a:rPr>
                        <a:t>Standard Deviation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13.4973371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Standard Deviation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1.179763052</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Standard Deviation</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8.51362043</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3549641491"/>
                  </a:ext>
                </a:extLst>
              </a:tr>
              <a:tr h="402915">
                <a:tc>
                  <a:txBody>
                    <a:bodyPr/>
                    <a:lstStyle/>
                    <a:p>
                      <a:pPr marL="0" marR="0" algn="ctr">
                        <a:lnSpc>
                          <a:spcPct val="150000"/>
                        </a:lnSpc>
                        <a:spcAft>
                          <a:spcPts val="800"/>
                        </a:spcAft>
                        <a:buNone/>
                      </a:pPr>
                      <a:r>
                        <a:rPr lang="en-US" sz="700" kern="0">
                          <a:effectLst/>
                        </a:rPr>
                        <a:t>Sample Variance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182.1781087</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Sample Variance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1.391840859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Sample Variance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72.48173282</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1907943104"/>
                  </a:ext>
                </a:extLst>
              </a:tr>
              <a:tr h="614722">
                <a:tc>
                  <a:txBody>
                    <a:bodyPr/>
                    <a:lstStyle/>
                    <a:p>
                      <a:pPr marL="0" marR="0" algn="ctr">
                        <a:lnSpc>
                          <a:spcPct val="150000"/>
                        </a:lnSpc>
                        <a:spcAft>
                          <a:spcPts val="800"/>
                        </a:spcAft>
                        <a:buNone/>
                      </a:pPr>
                      <a:r>
                        <a:rPr lang="en-US" sz="700" kern="0">
                          <a:effectLst/>
                        </a:rPr>
                        <a:t>Kurtosis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-1.214863861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Kurtosis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-1.218995566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Kurtosis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-1.175284613</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880144746"/>
                  </a:ext>
                </a:extLst>
              </a:tr>
              <a:tr h="614722">
                <a:tc>
                  <a:txBody>
                    <a:bodyPr/>
                    <a:lstStyle/>
                    <a:p>
                      <a:pPr marL="0" marR="0" algn="ctr">
                        <a:lnSpc>
                          <a:spcPct val="150000"/>
                        </a:lnSpc>
                        <a:spcAft>
                          <a:spcPts val="800"/>
                        </a:spcAft>
                        <a:buNone/>
                      </a:pPr>
                      <a:r>
                        <a:rPr lang="en-US" sz="700" kern="0">
                          <a:effectLst/>
                        </a:rPr>
                        <a:t>Skewness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-0.075298399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Skewness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-0.031992384</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Skewness</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0.067273038</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3356817232"/>
                  </a:ext>
                </a:extLst>
              </a:tr>
              <a:tr h="191109">
                <a:tc>
                  <a:txBody>
                    <a:bodyPr/>
                    <a:lstStyle/>
                    <a:p>
                      <a:pPr marL="0" marR="0" algn="ctr">
                        <a:lnSpc>
                          <a:spcPct val="150000"/>
                        </a:lnSpc>
                        <a:spcAft>
                          <a:spcPts val="800"/>
                        </a:spcAft>
                        <a:buNone/>
                      </a:pPr>
                      <a:r>
                        <a:rPr lang="en-US" sz="700" kern="0">
                          <a:effectLst/>
                        </a:rPr>
                        <a:t>Range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44.96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Range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3.99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Range</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29.86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1340508674"/>
                  </a:ext>
                </a:extLst>
              </a:tr>
              <a:tr h="191109">
                <a:tc>
                  <a:txBody>
                    <a:bodyPr/>
                    <a:lstStyle/>
                    <a:p>
                      <a:pPr marL="0" marR="0" algn="ctr">
                        <a:lnSpc>
                          <a:spcPct val="150000"/>
                        </a:lnSpc>
                        <a:spcAft>
                          <a:spcPts val="800"/>
                        </a:spcAft>
                        <a:buNone/>
                      </a:pPr>
                      <a:r>
                        <a:rPr lang="en-US" sz="700" kern="0">
                          <a:effectLst/>
                        </a:rPr>
                        <a:t>Minimum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50.01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Minimum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Minimum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70.06</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3913234131"/>
                  </a:ext>
                </a:extLst>
              </a:tr>
              <a:tr h="191109">
                <a:tc>
                  <a:txBody>
                    <a:bodyPr/>
                    <a:lstStyle/>
                    <a:p>
                      <a:pPr marL="0" marR="0" algn="ctr">
                        <a:lnSpc>
                          <a:spcPct val="150000"/>
                        </a:lnSpc>
                        <a:spcAft>
                          <a:spcPts val="800"/>
                        </a:spcAft>
                        <a:buNone/>
                      </a:pPr>
                      <a:r>
                        <a:rPr lang="en-US" sz="700" kern="0">
                          <a:effectLst/>
                        </a:rPr>
                        <a:t>Maximum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94.97</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Maximum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9.99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Maximum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99.92</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2271214516"/>
                  </a:ext>
                </a:extLst>
              </a:tr>
              <a:tr h="191109">
                <a:tc>
                  <a:txBody>
                    <a:bodyPr/>
                    <a:lstStyle/>
                    <a:p>
                      <a:pPr marL="0" marR="0" algn="ctr">
                        <a:lnSpc>
                          <a:spcPct val="150000"/>
                        </a:lnSpc>
                        <a:spcAft>
                          <a:spcPts val="800"/>
                        </a:spcAft>
                        <a:buNone/>
                      </a:pPr>
                      <a:r>
                        <a:rPr lang="en-US" sz="700" kern="0">
                          <a:effectLst/>
                        </a:rPr>
                        <a:t>Sum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20357.13</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2238.19</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Sum</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23645.41</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3153166602"/>
                  </a:ext>
                </a:extLst>
              </a:tr>
              <a:tr h="191109">
                <a:tc>
                  <a:txBody>
                    <a:bodyPr/>
                    <a:lstStyle/>
                    <a:p>
                      <a:pPr marL="0" marR="0" algn="ctr">
                        <a:lnSpc>
                          <a:spcPct val="150000"/>
                        </a:lnSpc>
                        <a:spcAft>
                          <a:spcPts val="800"/>
                        </a:spcAft>
                        <a:buNone/>
                      </a:pPr>
                      <a:r>
                        <a:rPr lang="en-US" sz="700" kern="0">
                          <a:effectLst/>
                        </a:rPr>
                        <a:t>Count</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280</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Count</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280</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Count</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tc>
                  <a:txBody>
                    <a:bodyPr/>
                    <a:lstStyle/>
                    <a:p>
                      <a:pPr marL="0" marR="0" algn="ctr">
                        <a:lnSpc>
                          <a:spcPct val="150000"/>
                        </a:lnSpc>
                        <a:spcAft>
                          <a:spcPts val="800"/>
                        </a:spcAft>
                        <a:buNone/>
                      </a:pPr>
                      <a:r>
                        <a:rPr lang="en-US" sz="700" kern="0">
                          <a:effectLst/>
                        </a:rPr>
                        <a:t>280</a:t>
                      </a:r>
                      <a:endParaRPr lang="en-US" sz="8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46454" marR="46454" marT="0" marB="0" anchor="b"/>
                </a:tc>
                <a:extLst>
                  <a:ext uri="{0D108BD9-81ED-4DB2-BD59-A6C34878D82A}">
                    <a16:rowId xmlns:a16="http://schemas.microsoft.com/office/drawing/2014/main" val="2962887130"/>
                  </a:ext>
                </a:extLst>
              </a:tr>
            </a:tbl>
          </a:graphicData>
        </a:graphic>
      </p:graphicFrame>
      <p:graphicFrame>
        <p:nvGraphicFramePr>
          <p:cNvPr id="7" name="Chart 6">
            <a:extLst>
              <a:ext uri="{FF2B5EF4-FFF2-40B4-BE49-F238E27FC236}">
                <a16:creationId xmlns:a16="http://schemas.microsoft.com/office/drawing/2014/main" id="{6804699E-5F43-7C4B-EE29-6CEED4C8E0D5}"/>
              </a:ext>
            </a:extLst>
          </p:cNvPr>
          <p:cNvGraphicFramePr/>
          <p:nvPr>
            <p:extLst>
              <p:ext uri="{D42A27DB-BD31-4B8C-83A1-F6EECF244321}">
                <p14:modId xmlns:p14="http://schemas.microsoft.com/office/powerpoint/2010/main" val="900242865"/>
              </p:ext>
            </p:extLst>
          </p:nvPr>
        </p:nvGraphicFramePr>
        <p:xfrm>
          <a:off x="6012525" y="1891968"/>
          <a:ext cx="5759892" cy="2072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B417E29-FF83-4E6F-ED78-27D18EBF7D74}"/>
              </a:ext>
            </a:extLst>
          </p:cNvPr>
          <p:cNvGraphicFramePr/>
          <p:nvPr>
            <p:extLst>
              <p:ext uri="{D42A27DB-BD31-4B8C-83A1-F6EECF244321}">
                <p14:modId xmlns:p14="http://schemas.microsoft.com/office/powerpoint/2010/main" val="1386408230"/>
              </p:ext>
            </p:extLst>
          </p:nvPr>
        </p:nvGraphicFramePr>
        <p:xfrm>
          <a:off x="6012525" y="4259144"/>
          <a:ext cx="5759892" cy="22021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3370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D95C3-988E-F223-07B9-C1E48D4F4DE0}"/>
              </a:ext>
            </a:extLst>
          </p:cNvPr>
          <p:cNvSpPr>
            <a:spLocks noGrp="1"/>
          </p:cNvSpPr>
          <p:nvPr>
            <p:ph type="title"/>
          </p:nvPr>
        </p:nvSpPr>
        <p:spPr>
          <a:xfrm>
            <a:off x="2915478" y="294538"/>
            <a:ext cx="8352072" cy="1033669"/>
          </a:xfrm>
        </p:spPr>
        <p:txBody>
          <a:bodyPr>
            <a:normAutofit/>
          </a:bodyPr>
          <a:lstStyle/>
          <a:p>
            <a:pPr algn="ctr"/>
            <a:r>
              <a:rPr lang="en-US" sz="6000">
                <a:solidFill>
                  <a:srgbClr val="FFFFFF"/>
                </a:solidFill>
              </a:rPr>
              <a:t>Regression Analysis</a:t>
            </a:r>
          </a:p>
        </p:txBody>
      </p:sp>
      <p:graphicFrame>
        <p:nvGraphicFramePr>
          <p:cNvPr id="6" name="Table 5">
            <a:extLst>
              <a:ext uri="{FF2B5EF4-FFF2-40B4-BE49-F238E27FC236}">
                <a16:creationId xmlns:a16="http://schemas.microsoft.com/office/drawing/2014/main" id="{C2E261E4-F6F1-1383-C0D0-EF9E4AB857EE}"/>
              </a:ext>
            </a:extLst>
          </p:cNvPr>
          <p:cNvGraphicFramePr>
            <a:graphicFrameLocks noGrp="1"/>
          </p:cNvGraphicFramePr>
          <p:nvPr>
            <p:extLst>
              <p:ext uri="{D42A27DB-BD31-4B8C-83A1-F6EECF244321}">
                <p14:modId xmlns:p14="http://schemas.microsoft.com/office/powerpoint/2010/main" val="3420512152"/>
              </p:ext>
            </p:extLst>
          </p:nvPr>
        </p:nvGraphicFramePr>
        <p:xfrm>
          <a:off x="8223271" y="3328799"/>
          <a:ext cx="3840257" cy="1363602"/>
        </p:xfrm>
        <a:graphic>
          <a:graphicData uri="http://schemas.openxmlformats.org/drawingml/2006/table">
            <a:tbl>
              <a:tblPr firstRow="1" firstCol="1" bandRow="1">
                <a:tableStyleId>{5C22544A-7EE6-4342-B048-85BDC9FD1C3A}</a:tableStyleId>
              </a:tblPr>
              <a:tblGrid>
                <a:gridCol w="2209882">
                  <a:extLst>
                    <a:ext uri="{9D8B030D-6E8A-4147-A177-3AD203B41FA5}">
                      <a16:colId xmlns:a16="http://schemas.microsoft.com/office/drawing/2014/main" val="1833151681"/>
                    </a:ext>
                  </a:extLst>
                </a:gridCol>
                <a:gridCol w="1630375">
                  <a:extLst>
                    <a:ext uri="{9D8B030D-6E8A-4147-A177-3AD203B41FA5}">
                      <a16:colId xmlns:a16="http://schemas.microsoft.com/office/drawing/2014/main" val="1549481463"/>
                    </a:ext>
                  </a:extLst>
                </a:gridCol>
              </a:tblGrid>
              <a:tr h="182880">
                <a:tc>
                  <a:txBody>
                    <a:bodyPr/>
                    <a:lstStyle/>
                    <a:p>
                      <a:pPr marL="0" marR="0" algn="ctr">
                        <a:lnSpc>
                          <a:spcPct val="150000"/>
                        </a:lnSpc>
                        <a:spcAft>
                          <a:spcPts val="800"/>
                        </a:spcAft>
                        <a:buNone/>
                      </a:pPr>
                      <a:r>
                        <a:rPr lang="en-US" sz="1100" kern="0">
                          <a:effectLst/>
                        </a:rPr>
                        <a:t>Regression Statistics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extLst>
                  <a:ext uri="{0D108BD9-81ED-4DB2-BD59-A6C34878D82A}">
                    <a16:rowId xmlns:a16="http://schemas.microsoft.com/office/drawing/2014/main" val="338688658"/>
                  </a:ext>
                </a:extLst>
              </a:tr>
              <a:tr h="182880">
                <a:tc>
                  <a:txBody>
                    <a:bodyPr/>
                    <a:lstStyle/>
                    <a:p>
                      <a:pPr marL="0" marR="0" algn="ctr">
                        <a:lnSpc>
                          <a:spcPct val="150000"/>
                        </a:lnSpc>
                        <a:spcAft>
                          <a:spcPts val="800"/>
                        </a:spcAft>
                        <a:buNone/>
                      </a:pPr>
                      <a:r>
                        <a:rPr lang="en-US" sz="1100" kern="0">
                          <a:effectLst/>
                        </a:rPr>
                        <a:t>Multiple R</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0.98930673</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559461085"/>
                  </a:ext>
                </a:extLst>
              </a:tr>
              <a:tr h="182880">
                <a:tc>
                  <a:txBody>
                    <a:bodyPr/>
                    <a:lstStyle/>
                    <a:p>
                      <a:pPr marL="0" marR="0" algn="ctr">
                        <a:lnSpc>
                          <a:spcPct val="150000"/>
                        </a:lnSpc>
                        <a:spcAft>
                          <a:spcPts val="800"/>
                        </a:spcAft>
                        <a:buNone/>
                      </a:pPr>
                      <a:r>
                        <a:rPr lang="en-US" sz="1100" kern="0">
                          <a:effectLst/>
                        </a:rPr>
                        <a:t>R Square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0.978727806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763622097"/>
                  </a:ext>
                </a:extLst>
              </a:tr>
              <a:tr h="182880">
                <a:tc>
                  <a:txBody>
                    <a:bodyPr/>
                    <a:lstStyle/>
                    <a:p>
                      <a:pPr marL="0" marR="0" algn="ctr">
                        <a:lnSpc>
                          <a:spcPct val="150000"/>
                        </a:lnSpc>
                        <a:spcAft>
                          <a:spcPts val="800"/>
                        </a:spcAft>
                        <a:buNone/>
                      </a:pPr>
                      <a:r>
                        <a:rPr lang="en-US" sz="1100" kern="0">
                          <a:effectLst/>
                        </a:rPr>
                        <a:t>Adjusted R Square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0.978418392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330800356"/>
                  </a:ext>
                </a:extLst>
              </a:tr>
              <a:tr h="182880">
                <a:tc>
                  <a:txBody>
                    <a:bodyPr/>
                    <a:lstStyle/>
                    <a:p>
                      <a:pPr marL="0" marR="0" algn="ctr">
                        <a:lnSpc>
                          <a:spcPct val="150000"/>
                        </a:lnSpc>
                        <a:spcAft>
                          <a:spcPts val="800"/>
                        </a:spcAft>
                        <a:buNone/>
                      </a:pPr>
                      <a:r>
                        <a:rPr lang="en-US" sz="1100" kern="0">
                          <a:effectLst/>
                        </a:rPr>
                        <a:t>Standard Error</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0.299113547</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938987611"/>
                  </a:ext>
                </a:extLst>
              </a:tr>
              <a:tr h="190500">
                <a:tc>
                  <a:txBody>
                    <a:bodyPr/>
                    <a:lstStyle/>
                    <a:p>
                      <a:pPr marL="0" marR="0" algn="ctr">
                        <a:lnSpc>
                          <a:spcPct val="150000"/>
                        </a:lnSpc>
                        <a:spcAft>
                          <a:spcPts val="800"/>
                        </a:spcAft>
                        <a:buNone/>
                      </a:pPr>
                      <a:r>
                        <a:rPr lang="en-US" sz="1100" kern="0">
                          <a:effectLst/>
                        </a:rPr>
                        <a:t>Observations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280</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86193766"/>
                  </a:ext>
                </a:extLst>
              </a:tr>
            </a:tbl>
          </a:graphicData>
        </a:graphic>
      </p:graphicFrame>
      <p:graphicFrame>
        <p:nvGraphicFramePr>
          <p:cNvPr id="7" name="Table 6">
            <a:extLst>
              <a:ext uri="{FF2B5EF4-FFF2-40B4-BE49-F238E27FC236}">
                <a16:creationId xmlns:a16="http://schemas.microsoft.com/office/drawing/2014/main" id="{D7E89C3F-F7F2-C775-B00D-9D65D9F5A1AE}"/>
              </a:ext>
            </a:extLst>
          </p:cNvPr>
          <p:cNvGraphicFramePr>
            <a:graphicFrameLocks noGrp="1"/>
          </p:cNvGraphicFramePr>
          <p:nvPr>
            <p:extLst>
              <p:ext uri="{D42A27DB-BD31-4B8C-83A1-F6EECF244321}">
                <p14:modId xmlns:p14="http://schemas.microsoft.com/office/powerpoint/2010/main" val="481437106"/>
              </p:ext>
            </p:extLst>
          </p:nvPr>
        </p:nvGraphicFramePr>
        <p:xfrm>
          <a:off x="116598" y="3323571"/>
          <a:ext cx="7875386" cy="1136335"/>
        </p:xfrm>
        <a:graphic>
          <a:graphicData uri="http://schemas.openxmlformats.org/drawingml/2006/table">
            <a:tbl>
              <a:tblPr firstRow="1" firstCol="1" bandRow="1">
                <a:tableStyleId>{5C22544A-7EE6-4342-B048-85BDC9FD1C3A}</a:tableStyleId>
              </a:tblPr>
              <a:tblGrid>
                <a:gridCol w="1697904">
                  <a:extLst>
                    <a:ext uri="{9D8B030D-6E8A-4147-A177-3AD203B41FA5}">
                      <a16:colId xmlns:a16="http://schemas.microsoft.com/office/drawing/2014/main" val="1981430258"/>
                    </a:ext>
                  </a:extLst>
                </a:gridCol>
                <a:gridCol w="1228272">
                  <a:extLst>
                    <a:ext uri="{9D8B030D-6E8A-4147-A177-3AD203B41FA5}">
                      <a16:colId xmlns:a16="http://schemas.microsoft.com/office/drawing/2014/main" val="2598276012"/>
                    </a:ext>
                  </a:extLst>
                </a:gridCol>
                <a:gridCol w="1318585">
                  <a:extLst>
                    <a:ext uri="{9D8B030D-6E8A-4147-A177-3AD203B41FA5}">
                      <a16:colId xmlns:a16="http://schemas.microsoft.com/office/drawing/2014/main" val="1307891442"/>
                    </a:ext>
                  </a:extLst>
                </a:gridCol>
                <a:gridCol w="1228272">
                  <a:extLst>
                    <a:ext uri="{9D8B030D-6E8A-4147-A177-3AD203B41FA5}">
                      <a16:colId xmlns:a16="http://schemas.microsoft.com/office/drawing/2014/main" val="2189003315"/>
                    </a:ext>
                  </a:extLst>
                </a:gridCol>
                <a:gridCol w="1174081">
                  <a:extLst>
                    <a:ext uri="{9D8B030D-6E8A-4147-A177-3AD203B41FA5}">
                      <a16:colId xmlns:a16="http://schemas.microsoft.com/office/drawing/2014/main" val="517707441"/>
                    </a:ext>
                  </a:extLst>
                </a:gridCol>
                <a:gridCol w="1228272">
                  <a:extLst>
                    <a:ext uri="{9D8B030D-6E8A-4147-A177-3AD203B41FA5}">
                      <a16:colId xmlns:a16="http://schemas.microsoft.com/office/drawing/2014/main" val="1285202398"/>
                    </a:ext>
                  </a:extLst>
                </a:gridCol>
              </a:tblGrid>
              <a:tr h="190500">
                <a:tc>
                  <a:txBody>
                    <a:bodyPr/>
                    <a:lstStyle/>
                    <a:p>
                      <a:pPr marL="0" marR="0" algn="ctr">
                        <a:lnSpc>
                          <a:spcPct val="150000"/>
                        </a:lnSpc>
                        <a:spcAft>
                          <a:spcPts val="800"/>
                        </a:spcAft>
                        <a:buNone/>
                      </a:pPr>
                      <a:r>
                        <a:rPr lang="en-US" sz="1100" kern="0">
                          <a:effectLst/>
                        </a:rPr>
                        <a:t>ANOVA</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extLst>
                  <a:ext uri="{0D108BD9-81ED-4DB2-BD59-A6C34878D82A}">
                    <a16:rowId xmlns:a16="http://schemas.microsoft.com/office/drawing/2014/main" val="982040170"/>
                  </a:ext>
                </a:extLst>
              </a:tr>
              <a:tr h="182880">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marL="0" marR="0" algn="ctr">
                        <a:lnSpc>
                          <a:spcPct val="150000"/>
                        </a:lnSpc>
                        <a:spcAft>
                          <a:spcPts val="800"/>
                        </a:spcAft>
                        <a:buNone/>
                      </a:pPr>
                      <a:r>
                        <a:rPr lang="en-US" sz="1100" kern="0">
                          <a:effectLst/>
                        </a:rPr>
                        <a:t>df</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SS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MS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F</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Significance F</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69759726"/>
                  </a:ext>
                </a:extLst>
              </a:tr>
              <a:tr h="182880">
                <a:tc>
                  <a:txBody>
                    <a:bodyPr/>
                    <a:lstStyle/>
                    <a:p>
                      <a:pPr marL="0" marR="0" algn="ctr">
                        <a:lnSpc>
                          <a:spcPct val="150000"/>
                        </a:lnSpc>
                        <a:spcAft>
                          <a:spcPts val="800"/>
                        </a:spcAft>
                        <a:buNone/>
                      </a:pPr>
                      <a:r>
                        <a:rPr lang="en-US" sz="1100" kern="0">
                          <a:effectLst/>
                        </a:rPr>
                        <a:t>Regression</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1132.021049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283.0052622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3163.168639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1.6083E-228</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833306413"/>
                  </a:ext>
                </a:extLst>
              </a:tr>
              <a:tr h="182880">
                <a:tc>
                  <a:txBody>
                    <a:bodyPr/>
                    <a:lstStyle/>
                    <a:p>
                      <a:pPr marL="0" marR="0" algn="ctr">
                        <a:lnSpc>
                          <a:spcPct val="150000"/>
                        </a:lnSpc>
                        <a:spcAft>
                          <a:spcPts val="800"/>
                        </a:spcAft>
                        <a:buNone/>
                      </a:pPr>
                      <a:r>
                        <a:rPr lang="en-US" sz="1100" kern="0">
                          <a:effectLst/>
                        </a:rPr>
                        <a:t>Residual</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275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24.60395128</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0.089468914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extLst>
                  <a:ext uri="{0D108BD9-81ED-4DB2-BD59-A6C34878D82A}">
                    <a16:rowId xmlns:a16="http://schemas.microsoft.com/office/drawing/2014/main" val="2029702101"/>
                  </a:ext>
                </a:extLst>
              </a:tr>
              <a:tr h="190500">
                <a:tc>
                  <a:txBody>
                    <a:bodyPr/>
                    <a:lstStyle/>
                    <a:p>
                      <a:pPr marL="0" marR="0" algn="ctr">
                        <a:lnSpc>
                          <a:spcPct val="150000"/>
                        </a:lnSpc>
                        <a:spcAft>
                          <a:spcPts val="800"/>
                        </a:spcAft>
                        <a:buNone/>
                      </a:pPr>
                      <a:r>
                        <a:rPr lang="en-US" sz="1100" kern="0">
                          <a:effectLst/>
                        </a:rPr>
                        <a:t>Total</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279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1156.625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tc>
                  <a:txBody>
                    <a:bodyPr/>
                    <a:lstStyle/>
                    <a:p>
                      <a:pPr>
                        <a:lnSpc>
                          <a:spcPct val="115000"/>
                        </a:lnSpc>
                      </a:pPr>
                      <a:endParaRPr lang="en-US" sz="1200" kern="100">
                        <a:effectLst/>
                        <a:latin typeface="Aptos" panose="020B0004020202020204" pitchFamily="34" charset="0"/>
                      </a:endParaRPr>
                    </a:p>
                  </a:txBody>
                  <a:tcPr marL="68580" marR="68580" marT="0" marB="0" anchor="b"/>
                </a:tc>
                <a:extLst>
                  <a:ext uri="{0D108BD9-81ED-4DB2-BD59-A6C34878D82A}">
                    <a16:rowId xmlns:a16="http://schemas.microsoft.com/office/drawing/2014/main" val="1300971598"/>
                  </a:ext>
                </a:extLst>
              </a:tr>
            </a:tbl>
          </a:graphicData>
        </a:graphic>
      </p:graphicFrame>
      <p:graphicFrame>
        <p:nvGraphicFramePr>
          <p:cNvPr id="9" name="Table 8">
            <a:extLst>
              <a:ext uri="{FF2B5EF4-FFF2-40B4-BE49-F238E27FC236}">
                <a16:creationId xmlns:a16="http://schemas.microsoft.com/office/drawing/2014/main" id="{536C8FC3-027B-2FE9-F146-69689CD48807}"/>
              </a:ext>
            </a:extLst>
          </p:cNvPr>
          <p:cNvGraphicFramePr>
            <a:graphicFrameLocks noGrp="1"/>
          </p:cNvGraphicFramePr>
          <p:nvPr>
            <p:extLst>
              <p:ext uri="{D42A27DB-BD31-4B8C-83A1-F6EECF244321}">
                <p14:modId xmlns:p14="http://schemas.microsoft.com/office/powerpoint/2010/main" val="3408139101"/>
              </p:ext>
            </p:extLst>
          </p:nvPr>
        </p:nvGraphicFramePr>
        <p:xfrm>
          <a:off x="116598" y="4692401"/>
          <a:ext cx="7882104" cy="1961328"/>
        </p:xfrm>
        <a:graphic>
          <a:graphicData uri="http://schemas.openxmlformats.org/drawingml/2006/table">
            <a:tbl>
              <a:tblPr firstRow="1" firstCol="1" bandRow="1">
                <a:tableStyleId>{5C22544A-7EE6-4342-B048-85BDC9FD1C3A}</a:tableStyleId>
              </a:tblPr>
              <a:tblGrid>
                <a:gridCol w="1763727">
                  <a:extLst>
                    <a:ext uri="{9D8B030D-6E8A-4147-A177-3AD203B41FA5}">
                      <a16:colId xmlns:a16="http://schemas.microsoft.com/office/drawing/2014/main" val="3961940086"/>
                    </a:ext>
                  </a:extLst>
                </a:gridCol>
                <a:gridCol w="1010862">
                  <a:extLst>
                    <a:ext uri="{9D8B030D-6E8A-4147-A177-3AD203B41FA5}">
                      <a16:colId xmlns:a16="http://schemas.microsoft.com/office/drawing/2014/main" val="830767944"/>
                    </a:ext>
                  </a:extLst>
                </a:gridCol>
                <a:gridCol w="1064067">
                  <a:extLst>
                    <a:ext uri="{9D8B030D-6E8A-4147-A177-3AD203B41FA5}">
                      <a16:colId xmlns:a16="http://schemas.microsoft.com/office/drawing/2014/main" val="2505591608"/>
                    </a:ext>
                  </a:extLst>
                </a:gridCol>
                <a:gridCol w="1010862">
                  <a:extLst>
                    <a:ext uri="{9D8B030D-6E8A-4147-A177-3AD203B41FA5}">
                      <a16:colId xmlns:a16="http://schemas.microsoft.com/office/drawing/2014/main" val="7841854"/>
                    </a:ext>
                  </a:extLst>
                </a:gridCol>
                <a:gridCol w="1010862">
                  <a:extLst>
                    <a:ext uri="{9D8B030D-6E8A-4147-A177-3AD203B41FA5}">
                      <a16:colId xmlns:a16="http://schemas.microsoft.com/office/drawing/2014/main" val="496948109"/>
                    </a:ext>
                  </a:extLst>
                </a:gridCol>
                <a:gridCol w="1010862">
                  <a:extLst>
                    <a:ext uri="{9D8B030D-6E8A-4147-A177-3AD203B41FA5}">
                      <a16:colId xmlns:a16="http://schemas.microsoft.com/office/drawing/2014/main" val="2876743587"/>
                    </a:ext>
                  </a:extLst>
                </a:gridCol>
                <a:gridCol w="1010862">
                  <a:extLst>
                    <a:ext uri="{9D8B030D-6E8A-4147-A177-3AD203B41FA5}">
                      <a16:colId xmlns:a16="http://schemas.microsoft.com/office/drawing/2014/main" val="2229744997"/>
                    </a:ext>
                  </a:extLst>
                </a:gridCol>
              </a:tblGrid>
              <a:tr h="224674">
                <a:tc>
                  <a:txBody>
                    <a:bodyPr/>
                    <a:lstStyle/>
                    <a:p>
                      <a:pPr algn="l">
                        <a:lnSpc>
                          <a:spcPct val="115000"/>
                        </a:lnSpc>
                      </a:pPr>
                      <a:endParaRPr lang="en-US" sz="1200" kern="100">
                        <a:effectLst/>
                        <a:latin typeface="Aptos" panose="020B0004020202020204" pitchFamily="34" charset="0"/>
                      </a:endParaRPr>
                    </a:p>
                  </a:txBody>
                  <a:tcPr marL="68580" marR="68580" marT="0" marB="0" anchor="b"/>
                </a:tc>
                <a:tc>
                  <a:txBody>
                    <a:bodyPr/>
                    <a:lstStyle/>
                    <a:p>
                      <a:pPr marL="0" marR="0" algn="ctr">
                        <a:lnSpc>
                          <a:spcPct val="150000"/>
                        </a:lnSpc>
                        <a:spcAft>
                          <a:spcPts val="800"/>
                        </a:spcAft>
                        <a:buNone/>
                      </a:pPr>
                      <a:r>
                        <a:rPr lang="en-US" sz="1100" kern="0">
                          <a:effectLst/>
                        </a:rPr>
                        <a:t>Coefficients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Standard Error</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t Stat</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P-value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Lower 95%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Upper 95%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7031030"/>
                  </a:ext>
                </a:extLst>
              </a:tr>
              <a:tr h="342689">
                <a:tc>
                  <a:txBody>
                    <a:bodyPr/>
                    <a:lstStyle/>
                    <a:p>
                      <a:pPr marL="0" marR="0" algn="ctr">
                        <a:lnSpc>
                          <a:spcPct val="150000"/>
                        </a:lnSpc>
                        <a:spcAft>
                          <a:spcPts val="800"/>
                        </a:spcAft>
                        <a:buNone/>
                      </a:pPr>
                      <a:r>
                        <a:rPr lang="en-US" sz="1100" kern="0">
                          <a:effectLst/>
                        </a:rPr>
                        <a:t>Intercept</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-4.279519046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0.932887251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-4.587391498</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6.82663E-06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-6.116026889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-2.443011202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288642517"/>
                  </a:ext>
                </a:extLst>
              </a:tr>
              <a:tr h="342689">
                <a:tc>
                  <a:txBody>
                    <a:bodyPr/>
                    <a:lstStyle/>
                    <a:p>
                      <a:pPr marL="0" marR="0" algn="ctr">
                        <a:lnSpc>
                          <a:spcPct val="150000"/>
                        </a:lnSpc>
                        <a:spcAft>
                          <a:spcPts val="800"/>
                        </a:spcAft>
                        <a:buNone/>
                      </a:pPr>
                      <a:r>
                        <a:rPr lang="en-US" sz="1100" kern="0">
                          <a:effectLst/>
                        </a:rPr>
                        <a:t>Minutes Played per Match</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-0.000401088</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0.000808514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-0.496080732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0.620233702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-0.001992751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0.001190575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191625441"/>
                  </a:ext>
                </a:extLst>
              </a:tr>
              <a:tr h="342689">
                <a:tc>
                  <a:txBody>
                    <a:bodyPr/>
                    <a:lstStyle/>
                    <a:p>
                      <a:pPr marL="0" marR="0" algn="ctr">
                        <a:lnSpc>
                          <a:spcPct val="150000"/>
                        </a:lnSpc>
                        <a:spcAft>
                          <a:spcPts val="800"/>
                        </a:spcAft>
                        <a:buNone/>
                      </a:pPr>
                      <a:r>
                        <a:rPr lang="en-US" sz="1100" kern="0">
                          <a:effectLst/>
                        </a:rPr>
                        <a:t>Pass Accuracy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0.051563072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0.026676339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1.932914087</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0.054273371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-0.000952713</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0.104078857</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43266185"/>
                  </a:ext>
                </a:extLst>
              </a:tr>
              <a:tr h="342689">
                <a:tc>
                  <a:txBody>
                    <a:bodyPr/>
                    <a:lstStyle/>
                    <a:p>
                      <a:pPr marL="0" marR="0" algn="ctr">
                        <a:lnSpc>
                          <a:spcPct val="150000"/>
                        </a:lnSpc>
                        <a:spcAft>
                          <a:spcPts val="800"/>
                        </a:spcAft>
                        <a:buNone/>
                      </a:pPr>
                      <a:r>
                        <a:rPr lang="en-US" sz="1100" kern="0">
                          <a:effectLst/>
                        </a:rPr>
                        <a:t>Age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-0.000642023</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0.002754329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-0.233095954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0.815860299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-0.006064272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0.004780226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89591384"/>
                  </a:ext>
                </a:extLst>
              </a:tr>
              <a:tr h="224674">
                <a:tc>
                  <a:txBody>
                    <a:bodyPr/>
                    <a:lstStyle/>
                    <a:p>
                      <a:pPr marL="0" marR="0" algn="ctr">
                        <a:lnSpc>
                          <a:spcPct val="150000"/>
                        </a:lnSpc>
                        <a:spcAft>
                          <a:spcPts val="800"/>
                        </a:spcAft>
                        <a:buNone/>
                      </a:pPr>
                      <a:r>
                        <a:rPr lang="en-US" sz="1100" kern="0">
                          <a:effectLst/>
                        </a:rPr>
                        <a:t>Training Hours Per Week</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0.28889034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0.078932576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3.65996339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0.000302372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0.13350147</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0.44427921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997160797"/>
                  </a:ext>
                </a:extLst>
              </a:tr>
            </a:tbl>
          </a:graphicData>
        </a:graphic>
      </p:graphicFrame>
      <p:graphicFrame>
        <p:nvGraphicFramePr>
          <p:cNvPr id="11" name="Table 10">
            <a:extLst>
              <a:ext uri="{FF2B5EF4-FFF2-40B4-BE49-F238E27FC236}">
                <a16:creationId xmlns:a16="http://schemas.microsoft.com/office/drawing/2014/main" id="{9CA06E93-0071-B14F-EF1F-D13DEB209990}"/>
              </a:ext>
            </a:extLst>
          </p:cNvPr>
          <p:cNvGraphicFramePr>
            <a:graphicFrameLocks noGrp="1"/>
          </p:cNvGraphicFramePr>
          <p:nvPr>
            <p:extLst>
              <p:ext uri="{D42A27DB-BD31-4B8C-83A1-F6EECF244321}">
                <p14:modId xmlns:p14="http://schemas.microsoft.com/office/powerpoint/2010/main" val="1551454605"/>
              </p:ext>
            </p:extLst>
          </p:nvPr>
        </p:nvGraphicFramePr>
        <p:xfrm>
          <a:off x="1099594" y="1723689"/>
          <a:ext cx="10616692" cy="1460243"/>
        </p:xfrm>
        <a:graphic>
          <a:graphicData uri="http://schemas.openxmlformats.org/drawingml/2006/table">
            <a:tbl>
              <a:tblPr firstRow="1" firstCol="1" bandRow="1">
                <a:tableStyleId>{5C22544A-7EE6-4342-B048-85BDC9FD1C3A}</a:tableStyleId>
              </a:tblPr>
              <a:tblGrid>
                <a:gridCol w="2308390">
                  <a:extLst>
                    <a:ext uri="{9D8B030D-6E8A-4147-A177-3AD203B41FA5}">
                      <a16:colId xmlns:a16="http://schemas.microsoft.com/office/drawing/2014/main" val="1425908893"/>
                    </a:ext>
                  </a:extLst>
                </a:gridCol>
                <a:gridCol w="2365625">
                  <a:extLst>
                    <a:ext uri="{9D8B030D-6E8A-4147-A177-3AD203B41FA5}">
                      <a16:colId xmlns:a16="http://schemas.microsoft.com/office/drawing/2014/main" val="2338339012"/>
                    </a:ext>
                  </a:extLst>
                </a:gridCol>
                <a:gridCol w="1621597">
                  <a:extLst>
                    <a:ext uri="{9D8B030D-6E8A-4147-A177-3AD203B41FA5}">
                      <a16:colId xmlns:a16="http://schemas.microsoft.com/office/drawing/2014/main" val="2723933670"/>
                    </a:ext>
                  </a:extLst>
                </a:gridCol>
                <a:gridCol w="1297277">
                  <a:extLst>
                    <a:ext uri="{9D8B030D-6E8A-4147-A177-3AD203B41FA5}">
                      <a16:colId xmlns:a16="http://schemas.microsoft.com/office/drawing/2014/main" val="2024037457"/>
                    </a:ext>
                  </a:extLst>
                </a:gridCol>
                <a:gridCol w="2251160">
                  <a:extLst>
                    <a:ext uri="{9D8B030D-6E8A-4147-A177-3AD203B41FA5}">
                      <a16:colId xmlns:a16="http://schemas.microsoft.com/office/drawing/2014/main" val="1090060690"/>
                    </a:ext>
                  </a:extLst>
                </a:gridCol>
                <a:gridCol w="772643">
                  <a:extLst>
                    <a:ext uri="{9D8B030D-6E8A-4147-A177-3AD203B41FA5}">
                      <a16:colId xmlns:a16="http://schemas.microsoft.com/office/drawing/2014/main" val="351726515"/>
                    </a:ext>
                  </a:extLst>
                </a:gridCol>
              </a:tblGrid>
              <a:tr h="323908">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Minutes Played per Match</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Pass Accuracy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Age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Training Hours per Week</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Assists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954151457"/>
                  </a:ext>
                </a:extLst>
              </a:tr>
              <a:tr h="217363">
                <a:tc>
                  <a:txBody>
                    <a:bodyPr/>
                    <a:lstStyle/>
                    <a:p>
                      <a:pPr marL="0" marR="0" algn="ctr">
                        <a:lnSpc>
                          <a:spcPct val="150000"/>
                        </a:lnSpc>
                        <a:spcAft>
                          <a:spcPts val="800"/>
                        </a:spcAft>
                        <a:buNone/>
                      </a:pPr>
                      <a:r>
                        <a:rPr lang="en-US" sz="1100" kern="0">
                          <a:effectLst/>
                        </a:rPr>
                        <a:t>Minutes Played per Match</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329550760"/>
                  </a:ext>
                </a:extLst>
              </a:tr>
              <a:tr h="217363">
                <a:tc>
                  <a:txBody>
                    <a:bodyPr/>
                    <a:lstStyle/>
                    <a:p>
                      <a:pPr marL="0" marR="0" algn="ctr">
                        <a:lnSpc>
                          <a:spcPct val="150000"/>
                        </a:lnSpc>
                        <a:spcAft>
                          <a:spcPts val="800"/>
                        </a:spcAft>
                        <a:buNone/>
                      </a:pPr>
                      <a:r>
                        <a:rPr lang="en-US" sz="1100" kern="0">
                          <a:effectLst/>
                        </a:rPr>
                        <a:t>Pass Accuracy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-0.056547744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26153203"/>
                  </a:ext>
                </a:extLst>
              </a:tr>
              <a:tr h="217363">
                <a:tc>
                  <a:txBody>
                    <a:bodyPr/>
                    <a:lstStyle/>
                    <a:p>
                      <a:pPr marL="0" marR="0" algn="ctr">
                        <a:lnSpc>
                          <a:spcPct val="150000"/>
                        </a:lnSpc>
                        <a:spcAft>
                          <a:spcPts val="800"/>
                        </a:spcAft>
                        <a:buNone/>
                      </a:pPr>
                      <a:r>
                        <a:rPr lang="en-US" sz="1100" kern="0">
                          <a:effectLst/>
                        </a:rPr>
                        <a:t>Age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0.051817283</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-0.069940868</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486533748"/>
                  </a:ext>
                </a:extLst>
              </a:tr>
              <a:tr h="217363">
                <a:tc>
                  <a:txBody>
                    <a:bodyPr/>
                    <a:lstStyle/>
                    <a:p>
                      <a:pPr marL="0" marR="0" algn="ctr">
                        <a:lnSpc>
                          <a:spcPct val="150000"/>
                        </a:lnSpc>
                        <a:spcAft>
                          <a:spcPts val="800"/>
                        </a:spcAft>
                        <a:buNone/>
                      </a:pPr>
                      <a:r>
                        <a:rPr lang="en-US" sz="1100" kern="0">
                          <a:effectLst/>
                        </a:rPr>
                        <a:t>Training Hours per Week</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-0.057196855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0.998759566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-0.07238462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875027050"/>
                  </a:ext>
                </a:extLst>
              </a:tr>
              <a:tr h="217363">
                <a:tc>
                  <a:txBody>
                    <a:bodyPr/>
                    <a:lstStyle/>
                    <a:p>
                      <a:pPr marL="0" marR="0" algn="ctr">
                        <a:lnSpc>
                          <a:spcPct val="150000"/>
                        </a:lnSpc>
                        <a:spcAft>
                          <a:spcPts val="800"/>
                        </a:spcAft>
                        <a:buNone/>
                      </a:pPr>
                      <a:r>
                        <a:rPr lang="en-US" sz="1100" kern="0">
                          <a:effectLst/>
                        </a:rPr>
                        <a:t>Assists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-0.060838022</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0.988763769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-0.0730526</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0.989150649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lnSpc>
                          <a:spcPct val="150000"/>
                        </a:lnSpc>
                        <a:spcAft>
                          <a:spcPts val="800"/>
                        </a:spcAft>
                        <a:buNone/>
                      </a:pPr>
                      <a:r>
                        <a:rPr lang="en-US" sz="1100" kern="0">
                          <a:effectLst/>
                        </a:rPr>
                        <a:t>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81964793"/>
                  </a:ext>
                </a:extLst>
              </a:tr>
            </a:tbl>
          </a:graphicData>
        </a:graphic>
      </p:graphicFrame>
      <p:graphicFrame>
        <p:nvGraphicFramePr>
          <p:cNvPr id="13" name="Table 12">
            <a:extLst>
              <a:ext uri="{FF2B5EF4-FFF2-40B4-BE49-F238E27FC236}">
                <a16:creationId xmlns:a16="http://schemas.microsoft.com/office/drawing/2014/main" id="{5BB82772-D193-C7C3-61FD-8DD310DC70D9}"/>
              </a:ext>
            </a:extLst>
          </p:cNvPr>
          <p:cNvGraphicFramePr>
            <a:graphicFrameLocks noGrp="1"/>
          </p:cNvGraphicFramePr>
          <p:nvPr>
            <p:extLst>
              <p:ext uri="{D42A27DB-BD31-4B8C-83A1-F6EECF244321}">
                <p14:modId xmlns:p14="http://schemas.microsoft.com/office/powerpoint/2010/main" val="2708444699"/>
              </p:ext>
            </p:extLst>
          </p:nvPr>
        </p:nvGraphicFramePr>
        <p:xfrm>
          <a:off x="8223271" y="4948400"/>
          <a:ext cx="3860752" cy="1572198"/>
        </p:xfrm>
        <a:graphic>
          <a:graphicData uri="http://schemas.openxmlformats.org/drawingml/2006/table">
            <a:tbl>
              <a:tblPr firstRow="1" firstCol="1" bandRow="1">
                <a:tableStyleId>{5C22544A-7EE6-4342-B048-85BDC9FD1C3A}</a:tableStyleId>
              </a:tblPr>
              <a:tblGrid>
                <a:gridCol w="2418273">
                  <a:extLst>
                    <a:ext uri="{9D8B030D-6E8A-4147-A177-3AD203B41FA5}">
                      <a16:colId xmlns:a16="http://schemas.microsoft.com/office/drawing/2014/main" val="4151729169"/>
                    </a:ext>
                  </a:extLst>
                </a:gridCol>
                <a:gridCol w="1442479">
                  <a:extLst>
                    <a:ext uri="{9D8B030D-6E8A-4147-A177-3AD203B41FA5}">
                      <a16:colId xmlns:a16="http://schemas.microsoft.com/office/drawing/2014/main" val="531530092"/>
                    </a:ext>
                  </a:extLst>
                </a:gridCol>
              </a:tblGrid>
              <a:tr h="262033">
                <a:tc>
                  <a:txBody>
                    <a:bodyPr/>
                    <a:lstStyle/>
                    <a:p>
                      <a:pPr marL="0" marR="0" algn="ctr">
                        <a:lnSpc>
                          <a:spcPct val="150000"/>
                        </a:lnSpc>
                        <a:spcAft>
                          <a:spcPts val="800"/>
                        </a:spcAft>
                        <a:buNone/>
                      </a:pPr>
                      <a:r>
                        <a:rPr lang="en-US" sz="1100" kern="0">
                          <a:effectLst/>
                        </a:rPr>
                        <a:t>Regression Statistics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nSpc>
                          <a:spcPct val="150000"/>
                        </a:lnSpc>
                        <a:spcAft>
                          <a:spcPts val="800"/>
                        </a:spcAft>
                        <a:buNone/>
                      </a:pPr>
                      <a:r>
                        <a:rPr lang="en-US" sz="1100" kern="0">
                          <a:effectLst/>
                        </a:rPr>
                        <a:t> </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576382365"/>
                  </a:ext>
                </a:extLst>
              </a:tr>
              <a:tr h="262033">
                <a:tc>
                  <a:txBody>
                    <a:bodyPr/>
                    <a:lstStyle/>
                    <a:p>
                      <a:pPr marL="0" marR="0">
                        <a:lnSpc>
                          <a:spcPct val="150000"/>
                        </a:lnSpc>
                        <a:spcAft>
                          <a:spcPts val="800"/>
                        </a:spcAft>
                        <a:buNone/>
                      </a:pPr>
                      <a:r>
                        <a:rPr lang="en-US" sz="1100" kern="0">
                          <a:effectLst/>
                        </a:rPr>
                        <a:t>Multiple R</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50000"/>
                        </a:lnSpc>
                        <a:spcAft>
                          <a:spcPts val="800"/>
                        </a:spcAft>
                        <a:buNone/>
                      </a:pPr>
                      <a:r>
                        <a:rPr lang="en-US" sz="1100" kern="0">
                          <a:effectLst/>
                        </a:rPr>
                        <a:t>0.989294529</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33065591"/>
                  </a:ext>
                </a:extLst>
              </a:tr>
              <a:tr h="262033">
                <a:tc>
                  <a:txBody>
                    <a:bodyPr/>
                    <a:lstStyle/>
                    <a:p>
                      <a:pPr marL="0" marR="0">
                        <a:lnSpc>
                          <a:spcPct val="150000"/>
                        </a:lnSpc>
                        <a:spcAft>
                          <a:spcPts val="800"/>
                        </a:spcAft>
                        <a:buNone/>
                      </a:pPr>
                      <a:r>
                        <a:rPr lang="en-US" sz="1100" kern="0">
                          <a:effectLst/>
                        </a:rPr>
                        <a:t>R Square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50000"/>
                        </a:lnSpc>
                        <a:spcAft>
                          <a:spcPts val="800"/>
                        </a:spcAft>
                        <a:buNone/>
                      </a:pPr>
                      <a:r>
                        <a:rPr lang="en-US" sz="1100" kern="0">
                          <a:effectLst/>
                        </a:rPr>
                        <a:t>0.978703665</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362335242"/>
                  </a:ext>
                </a:extLst>
              </a:tr>
              <a:tr h="262033">
                <a:tc>
                  <a:txBody>
                    <a:bodyPr/>
                    <a:lstStyle/>
                    <a:p>
                      <a:pPr marL="0" marR="0">
                        <a:lnSpc>
                          <a:spcPct val="150000"/>
                        </a:lnSpc>
                        <a:spcAft>
                          <a:spcPts val="800"/>
                        </a:spcAft>
                        <a:buNone/>
                      </a:pPr>
                      <a:r>
                        <a:rPr lang="en-US" sz="1100" kern="0">
                          <a:effectLst/>
                        </a:rPr>
                        <a:t>Adjusted R Square</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50000"/>
                        </a:lnSpc>
                        <a:spcAft>
                          <a:spcPts val="800"/>
                        </a:spcAft>
                        <a:buNone/>
                      </a:pPr>
                      <a:r>
                        <a:rPr lang="en-US" sz="1100" kern="0">
                          <a:effectLst/>
                        </a:rPr>
                        <a:t>0.978549901</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30147769"/>
                  </a:ext>
                </a:extLst>
              </a:tr>
              <a:tr h="262033">
                <a:tc>
                  <a:txBody>
                    <a:bodyPr/>
                    <a:lstStyle/>
                    <a:p>
                      <a:pPr marL="0" marR="0">
                        <a:lnSpc>
                          <a:spcPct val="150000"/>
                        </a:lnSpc>
                        <a:spcAft>
                          <a:spcPts val="800"/>
                        </a:spcAft>
                        <a:buNone/>
                      </a:pPr>
                      <a:r>
                        <a:rPr lang="en-US" sz="1100" kern="0">
                          <a:effectLst/>
                        </a:rPr>
                        <a:t>Standard Error</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50000"/>
                        </a:lnSpc>
                        <a:spcAft>
                          <a:spcPts val="800"/>
                        </a:spcAft>
                        <a:buNone/>
                      </a:pPr>
                      <a:r>
                        <a:rPr lang="en-US" sz="1100" kern="0">
                          <a:effectLst/>
                        </a:rPr>
                        <a:t>0.298200824</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679751093"/>
                  </a:ext>
                </a:extLst>
              </a:tr>
              <a:tr h="262033">
                <a:tc>
                  <a:txBody>
                    <a:bodyPr/>
                    <a:lstStyle/>
                    <a:p>
                      <a:pPr marL="0" marR="0">
                        <a:lnSpc>
                          <a:spcPct val="150000"/>
                        </a:lnSpc>
                        <a:spcAft>
                          <a:spcPts val="800"/>
                        </a:spcAft>
                        <a:buNone/>
                      </a:pPr>
                      <a:r>
                        <a:rPr lang="en-US" sz="1100" kern="0">
                          <a:effectLst/>
                        </a:rPr>
                        <a:t>Observations</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lnSpc>
                          <a:spcPct val="150000"/>
                        </a:lnSpc>
                        <a:spcAft>
                          <a:spcPts val="800"/>
                        </a:spcAft>
                        <a:buNone/>
                      </a:pPr>
                      <a:r>
                        <a:rPr lang="en-US" sz="1100" kern="0">
                          <a:effectLst/>
                        </a:rPr>
                        <a:t>280</a:t>
                      </a:r>
                      <a:endParaRPr lang="en-US" sz="12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79238853"/>
                  </a:ext>
                </a:extLst>
              </a:tr>
            </a:tbl>
          </a:graphicData>
        </a:graphic>
      </p:graphicFrame>
    </p:spTree>
    <p:extLst>
      <p:ext uri="{BB962C8B-B14F-4D97-AF65-F5344CB8AC3E}">
        <p14:creationId xmlns:p14="http://schemas.microsoft.com/office/powerpoint/2010/main" val="83666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5440CA-2987-DE68-2132-56CFEDF3585C}"/>
              </a:ext>
            </a:extLst>
          </p:cNvPr>
          <p:cNvSpPr>
            <a:spLocks noGrp="1"/>
          </p:cNvSpPr>
          <p:nvPr>
            <p:ph type="title"/>
          </p:nvPr>
        </p:nvSpPr>
        <p:spPr>
          <a:xfrm>
            <a:off x="1371599" y="294538"/>
            <a:ext cx="9895951" cy="1033669"/>
          </a:xfrm>
        </p:spPr>
        <p:txBody>
          <a:bodyPr>
            <a:normAutofit/>
          </a:bodyPr>
          <a:lstStyle/>
          <a:p>
            <a:pPr algn="ctr"/>
            <a:r>
              <a:rPr lang="en-US" sz="6000">
                <a:solidFill>
                  <a:srgbClr val="FFFFFF"/>
                </a:solidFill>
              </a:rPr>
              <a:t>Lessons Learned</a:t>
            </a:r>
          </a:p>
        </p:txBody>
      </p:sp>
      <p:sp>
        <p:nvSpPr>
          <p:cNvPr id="3" name="Content Placeholder 2">
            <a:extLst>
              <a:ext uri="{FF2B5EF4-FFF2-40B4-BE49-F238E27FC236}">
                <a16:creationId xmlns:a16="http://schemas.microsoft.com/office/drawing/2014/main" id="{C08BAB9D-5710-9B9E-F766-838E815223E8}"/>
              </a:ext>
            </a:extLst>
          </p:cNvPr>
          <p:cNvSpPr>
            <a:spLocks noGrp="1"/>
          </p:cNvSpPr>
          <p:nvPr>
            <p:ph idx="1"/>
          </p:nvPr>
        </p:nvSpPr>
        <p:spPr>
          <a:xfrm>
            <a:off x="0" y="1590740"/>
            <a:ext cx="12191995" cy="5267259"/>
          </a:xfrm>
        </p:spPr>
        <p:txBody>
          <a:bodyPr anchor="ctr">
            <a:normAutofit/>
          </a:bodyPr>
          <a:lstStyle/>
          <a:p>
            <a:pPr marL="0" indent="0">
              <a:buNone/>
            </a:pPr>
            <a:r>
              <a:rPr lang="en-US" sz="2000" b="1"/>
              <a:t>Challenges:</a:t>
            </a:r>
            <a:endParaRPr lang="en-US" sz="2000"/>
          </a:p>
          <a:p>
            <a:r>
              <a:rPr lang="en-US" sz="2000"/>
              <a:t>Selecting relevant and balanced performance metrics</a:t>
            </a:r>
          </a:p>
          <a:p>
            <a:r>
              <a:rPr lang="en-US" sz="2000"/>
              <a:t>Integrating categorical variables like injury type and nationality</a:t>
            </a:r>
          </a:p>
          <a:p>
            <a:r>
              <a:rPr lang="en-US" sz="2000"/>
              <a:t>Interpreting categorical data converted into continuous form</a:t>
            </a:r>
          </a:p>
          <a:p>
            <a:r>
              <a:rPr lang="en-US" sz="2000"/>
              <a:t>Identifying and removing statistically insignificant predictors</a:t>
            </a:r>
          </a:p>
          <a:p>
            <a:r>
              <a:rPr lang="en-US" sz="2000"/>
              <a:t>Dealing with multicollinearity, especially between training hours and pass accuracy</a:t>
            </a:r>
          </a:p>
          <a:p>
            <a:endParaRPr lang="en-US" sz="2000"/>
          </a:p>
          <a:p>
            <a:pPr marL="0" indent="0">
              <a:buNone/>
            </a:pPr>
            <a:r>
              <a:rPr lang="en-US" sz="2000" b="1"/>
              <a:t>Lessons Learned:</a:t>
            </a:r>
            <a:endParaRPr lang="en-US" sz="2000"/>
          </a:p>
          <a:p>
            <a:r>
              <a:rPr lang="en-US" sz="2000"/>
              <a:t>Importance of careful metric selection for meaningful insight</a:t>
            </a:r>
          </a:p>
          <a:p>
            <a:r>
              <a:rPr lang="en-US" sz="2000"/>
              <a:t>Need for proper handling and transformation of mixed data types</a:t>
            </a:r>
          </a:p>
          <a:p>
            <a:r>
              <a:rPr lang="en-US" sz="2000"/>
              <a:t>Understanding statistical significance and predictor relevance</a:t>
            </a:r>
          </a:p>
          <a:p>
            <a:r>
              <a:rPr lang="en-US" sz="2000"/>
              <a:t>Recognizing the impact of redundancy and multicollinearity on model reliability</a:t>
            </a:r>
          </a:p>
          <a:p>
            <a:r>
              <a:rPr lang="en-US" sz="2000"/>
              <a:t>Value of collaborative, iterative analysis and team communication</a:t>
            </a:r>
          </a:p>
        </p:txBody>
      </p:sp>
    </p:spTree>
    <p:extLst>
      <p:ext uri="{BB962C8B-B14F-4D97-AF65-F5344CB8AC3E}">
        <p14:creationId xmlns:p14="http://schemas.microsoft.com/office/powerpoint/2010/main" val="3197802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13E891-591D-9987-9BF2-517D6089920C}"/>
              </a:ext>
            </a:extLst>
          </p:cNvPr>
          <p:cNvSpPr>
            <a:spLocks noGrp="1"/>
          </p:cNvSpPr>
          <p:nvPr>
            <p:ph type="title"/>
          </p:nvPr>
        </p:nvSpPr>
        <p:spPr>
          <a:xfrm>
            <a:off x="1371599" y="294538"/>
            <a:ext cx="9895951" cy="1033669"/>
          </a:xfrm>
        </p:spPr>
        <p:txBody>
          <a:bodyPr>
            <a:normAutofit/>
          </a:bodyPr>
          <a:lstStyle/>
          <a:p>
            <a:pPr algn="ctr"/>
            <a:r>
              <a:rPr lang="en-US" sz="6000">
                <a:solidFill>
                  <a:srgbClr val="FFFFFF"/>
                </a:solidFill>
              </a:rPr>
              <a:t>Conclusion</a:t>
            </a:r>
          </a:p>
        </p:txBody>
      </p:sp>
      <p:sp>
        <p:nvSpPr>
          <p:cNvPr id="3" name="Content Placeholder 2">
            <a:extLst>
              <a:ext uri="{FF2B5EF4-FFF2-40B4-BE49-F238E27FC236}">
                <a16:creationId xmlns:a16="http://schemas.microsoft.com/office/drawing/2014/main" id="{66CDCC98-B27B-E1C8-FB5D-8CA21BCCFC54}"/>
              </a:ext>
            </a:extLst>
          </p:cNvPr>
          <p:cNvSpPr>
            <a:spLocks noGrp="1"/>
          </p:cNvSpPr>
          <p:nvPr>
            <p:ph idx="1"/>
          </p:nvPr>
        </p:nvSpPr>
        <p:spPr>
          <a:xfrm>
            <a:off x="0" y="1597432"/>
            <a:ext cx="12191995" cy="5260568"/>
          </a:xfrm>
        </p:spPr>
        <p:txBody>
          <a:bodyPr anchor="ctr">
            <a:normAutofit/>
          </a:bodyPr>
          <a:lstStyle/>
          <a:p>
            <a:pPr marL="0" indent="0">
              <a:buNone/>
            </a:pPr>
            <a:r>
              <a:rPr lang="en-US" sz="2000" b="1"/>
              <a:t>Key Takeaways:</a:t>
            </a:r>
            <a:endParaRPr lang="en-US" sz="2000"/>
          </a:p>
          <a:p>
            <a:r>
              <a:rPr lang="en-US" sz="2000"/>
              <a:t>Offensive output peaks on weekends and varies by player role and match location.</a:t>
            </a:r>
          </a:p>
          <a:p>
            <a:endParaRPr lang="en-US" sz="2000"/>
          </a:p>
          <a:p>
            <a:r>
              <a:rPr lang="en-US" sz="2000"/>
              <a:t>Injuries and fitness patterns show the physical demands of the sport.</a:t>
            </a:r>
          </a:p>
          <a:p>
            <a:endParaRPr lang="en-US" sz="2000"/>
          </a:p>
          <a:p>
            <a:r>
              <a:rPr lang="en-US" sz="2000"/>
              <a:t>Limited linear relationships suggest other unmeasured performance drivers exist.</a:t>
            </a:r>
          </a:p>
          <a:p>
            <a:endParaRPr lang="en-US" sz="2000"/>
          </a:p>
          <a:p>
            <a:r>
              <a:rPr lang="en-US" sz="2000"/>
              <a:t>Multivariate analysis showed training hours are the strongest predictor of assists.</a:t>
            </a:r>
          </a:p>
          <a:p>
            <a:endParaRPr lang="en-US" sz="2000"/>
          </a:p>
          <a:p>
            <a:r>
              <a:rPr lang="en-US" sz="2000"/>
              <a:t>Multicollinearity with pass accuracy was resolved to improve model clarity.</a:t>
            </a:r>
          </a:p>
          <a:p>
            <a:endParaRPr lang="en-US" sz="2000"/>
          </a:p>
          <a:p>
            <a:r>
              <a:rPr lang="en-US" sz="2000"/>
              <a:t>Iterative analysis helped refine insights across performance, health, and training data.</a:t>
            </a:r>
          </a:p>
          <a:p>
            <a:endParaRPr lang="en-US" sz="2600"/>
          </a:p>
        </p:txBody>
      </p:sp>
    </p:spTree>
    <p:extLst>
      <p:ext uri="{BB962C8B-B14F-4D97-AF65-F5344CB8AC3E}">
        <p14:creationId xmlns:p14="http://schemas.microsoft.com/office/powerpoint/2010/main" val="2546717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658F355FD1AE40AA485C5FF8198128" ma:contentTypeVersion="13" ma:contentTypeDescription="Create a new document." ma:contentTypeScope="" ma:versionID="92ed682f5544ca3d5cda01e2bf518f3f">
  <xsd:schema xmlns:xsd="http://www.w3.org/2001/XMLSchema" xmlns:xs="http://www.w3.org/2001/XMLSchema" xmlns:p="http://schemas.microsoft.com/office/2006/metadata/properties" xmlns:ns3="72ec2a71-aad7-4905-bc69-2ab89762ef75" xmlns:ns4="561913c5-d8b0-476b-ae15-cee925bc4d14" targetNamespace="http://schemas.microsoft.com/office/2006/metadata/properties" ma:root="true" ma:fieldsID="8a25e7d1b2cb52f03c1a0aa7911b16c5" ns3:_="" ns4:_="">
    <xsd:import namespace="72ec2a71-aad7-4905-bc69-2ab89762ef75"/>
    <xsd:import namespace="561913c5-d8b0-476b-ae15-cee925bc4d1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ec2a71-aad7-4905-bc69-2ab89762ef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61913c5-d8b0-476b-ae15-cee925bc4d1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2ec2a71-aad7-4905-bc69-2ab89762ef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185ABC-35EA-4406-A6DF-B0348103D919}">
  <ds:schemaRefs>
    <ds:schemaRef ds:uri="561913c5-d8b0-476b-ae15-cee925bc4d14"/>
    <ds:schemaRef ds:uri="72ec2a71-aad7-4905-bc69-2ab89762ef7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29E1DBC9-6E21-4E25-B0C1-2E9F0990E997}">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72ec2a71-aad7-4905-bc69-2ab89762ef75"/>
    <ds:schemaRef ds:uri="http://purl.org/dc/terms/"/>
    <ds:schemaRef ds:uri="561913c5-d8b0-476b-ae15-cee925bc4d14"/>
    <ds:schemaRef ds:uri="http://purl.org/dc/dcmitype/"/>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5FBC24A2-4DB6-4044-91CC-4CD3D0DB96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TotalTime>
  <Words>2092</Words>
  <Application>Microsoft Office PowerPoint</Application>
  <PresentationFormat>Widescreen</PresentationFormat>
  <Paragraphs>322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Soccer Performance &amp; Health Analytics</vt:lpstr>
      <vt:lpstr>Introduction</vt:lpstr>
      <vt:lpstr>Our Approach </vt:lpstr>
      <vt:lpstr>Analyzing Key Metrics</vt:lpstr>
      <vt:lpstr>Analyzing Descriptive Statistics</vt:lpstr>
      <vt:lpstr>Regression Analysis</vt:lpstr>
      <vt:lpstr>Lessons Learned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Soccer Performance &amp; Health Analytics</dc:title>
  <dc:creator>Ricci, Nicholas M</dc:creator>
  <cp:lastModifiedBy>Nick Ricci</cp:lastModifiedBy>
  <cp:revision>4</cp:revision>
  <dcterms:created xsi:type="dcterms:W3CDTF">2025-06-10T17:12:26Z</dcterms:created>
  <dcterms:modified xsi:type="dcterms:W3CDTF">2026-10-05T21:48:36Z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0x01010079658F355FD1AE40AA485C5FF8198128</vt:lpwstr>
  </property>
</Properties>
</file>