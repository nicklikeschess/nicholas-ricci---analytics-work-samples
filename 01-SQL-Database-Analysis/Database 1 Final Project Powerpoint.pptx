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7" r:id="rId3"/>
    <p:sldId id="260" r:id="rId4"/>
    <p:sldId id="261" r:id="rId5"/>
    <p:sldId id="266"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95F554-0AED-429F-93AB-3A87F34C067A}" v="178" dt="2024-04-15T17:20:20.6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1314824" y="735106"/>
            <a:ext cx="10053763" cy="2928470"/>
          </a:xfrm>
        </p:spPr>
        <p:txBody>
          <a:bodyPr anchor="b">
            <a:normAutofit/>
          </a:bodyPr>
          <a:lstStyle/>
          <a:p>
            <a:r>
              <a:rPr lang="en-US" sz="19900" err="1">
                <a:solidFill>
                  <a:srgbClr val="FFFFFF"/>
                </a:solidFill>
              </a:rPr>
              <a:t>VicNicks</a:t>
            </a:r>
            <a:endParaRPr lang="en-US" sz="19900">
              <a:solidFill>
                <a:srgbClr val="FFFFFF"/>
              </a:solidFill>
            </a:endParaRPr>
          </a:p>
        </p:txBody>
      </p:sp>
      <p:sp>
        <p:nvSpPr>
          <p:cNvPr id="3" name="Subtitle 2"/>
          <p:cNvSpPr>
            <a:spLocks noGrp="1"/>
          </p:cNvSpPr>
          <p:nvPr>
            <p:ph type="subTitle" idx="1"/>
          </p:nvPr>
        </p:nvSpPr>
        <p:spPr>
          <a:xfrm>
            <a:off x="1350682" y="4398681"/>
            <a:ext cx="10005951" cy="2110273"/>
          </a:xfrm>
        </p:spPr>
        <p:txBody>
          <a:bodyPr vert="horz" lIns="91440" tIns="45720" rIns="91440" bIns="45720" rtlCol="0" anchor="ctr">
            <a:noAutofit/>
          </a:bodyPr>
          <a:lstStyle/>
          <a:p>
            <a:pPr algn="l"/>
            <a:r>
              <a:rPr lang="en-US" sz="8000"/>
              <a:t>By Victor K. Dimitrov &amp; Nicholas M. Ricci</a:t>
            </a: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0AD577-4D49-7299-3C3B-34FB39322446}"/>
              </a:ext>
            </a:extLst>
          </p:cNvPr>
          <p:cNvSpPr>
            <a:spLocks noGrp="1"/>
          </p:cNvSpPr>
          <p:nvPr>
            <p:ph type="title"/>
          </p:nvPr>
        </p:nvSpPr>
        <p:spPr>
          <a:xfrm>
            <a:off x="466722" y="586855"/>
            <a:ext cx="3201366" cy="3387497"/>
          </a:xfrm>
        </p:spPr>
        <p:txBody>
          <a:bodyPr anchor="b">
            <a:normAutofit fontScale="90000"/>
          </a:bodyPr>
          <a:lstStyle/>
          <a:p>
            <a:pPr algn="r"/>
            <a:r>
              <a:rPr lang="en-US" sz="6600">
                <a:solidFill>
                  <a:srgbClr val="FFFFFF"/>
                </a:solidFill>
              </a:rPr>
              <a:t>Executive Summary</a:t>
            </a:r>
          </a:p>
        </p:txBody>
      </p:sp>
      <p:sp>
        <p:nvSpPr>
          <p:cNvPr id="3" name="Content Placeholder 2">
            <a:extLst>
              <a:ext uri="{FF2B5EF4-FFF2-40B4-BE49-F238E27FC236}">
                <a16:creationId xmlns:a16="http://schemas.microsoft.com/office/drawing/2014/main" id="{25920E56-5E3D-B9B1-A170-895C86678288}"/>
              </a:ext>
            </a:extLst>
          </p:cNvPr>
          <p:cNvSpPr>
            <a:spLocks noGrp="1"/>
          </p:cNvSpPr>
          <p:nvPr>
            <p:ph idx="1"/>
          </p:nvPr>
        </p:nvSpPr>
        <p:spPr>
          <a:xfrm>
            <a:off x="4810259" y="216310"/>
            <a:ext cx="6555347" cy="6312309"/>
          </a:xfrm>
        </p:spPr>
        <p:txBody>
          <a:bodyPr anchor="ctr">
            <a:normAutofit fontScale="32500" lnSpcReduction="20000"/>
          </a:bodyPr>
          <a:lstStyle/>
          <a:p>
            <a:r>
              <a:rPr lang="en-US" sz="6500" b="1">
                <a:ea typeface="+mn-lt"/>
                <a:cs typeface="+mn-lt"/>
              </a:rPr>
              <a:t>Business: </a:t>
            </a:r>
            <a:r>
              <a:rPr lang="en-US" sz="6500" err="1">
                <a:ea typeface="+mn-lt"/>
                <a:cs typeface="+mn-lt"/>
              </a:rPr>
              <a:t>VicNicks</a:t>
            </a:r>
            <a:r>
              <a:rPr lang="en-US" sz="6500">
                <a:ea typeface="+mn-lt"/>
                <a:cs typeface="+mn-lt"/>
              </a:rPr>
              <a:t> is dedicated to catering to the dynamic needs of the tech community by offering cutting-edge solutions and services. With a focus on innovation and customer satisfaction, </a:t>
            </a:r>
            <a:r>
              <a:rPr lang="en-US" sz="6500" err="1">
                <a:ea typeface="+mn-lt"/>
                <a:cs typeface="+mn-lt"/>
              </a:rPr>
              <a:t>VicNicks</a:t>
            </a:r>
            <a:r>
              <a:rPr lang="en-US" sz="6500">
                <a:ea typeface="+mn-lt"/>
                <a:cs typeface="+mn-lt"/>
              </a:rPr>
              <a:t> has established itself as a prominent player in the industry, leveraging expertise and forward-thinking strategies to stay ahead in the rapidly evolving tech landscape.</a:t>
            </a:r>
          </a:p>
          <a:p>
            <a:r>
              <a:rPr lang="en-US" sz="6500" b="1">
                <a:latin typeface="Arial"/>
                <a:cs typeface="Arial"/>
              </a:rPr>
              <a:t>Problem: </a:t>
            </a:r>
            <a:r>
              <a:rPr lang="en-US" sz="6500" err="1">
                <a:latin typeface="Arial"/>
                <a:cs typeface="Arial"/>
              </a:rPr>
              <a:t>VicNicks</a:t>
            </a:r>
            <a:r>
              <a:rPr lang="en-US" sz="6500">
                <a:latin typeface="Arial"/>
                <a:cs typeface="Arial"/>
              </a:rPr>
              <a:t>' rapid growth over the past three years has led to a significant increase in data volume and complexity. Relying on spreadsheet-based data management has become increasingly inadequate and cumbersome, hindering operational efficiency and the company's ability to adapt to evolving market demands.</a:t>
            </a:r>
          </a:p>
          <a:p>
            <a:r>
              <a:rPr lang="en-US" sz="6500" b="1">
                <a:latin typeface="Arial"/>
                <a:cs typeface="Arial"/>
              </a:rPr>
              <a:t>Solution: </a:t>
            </a:r>
            <a:r>
              <a:rPr lang="en-US" sz="6500" err="1">
                <a:latin typeface="Arial"/>
                <a:cs typeface="Arial"/>
              </a:rPr>
              <a:t>VicNicks</a:t>
            </a:r>
            <a:r>
              <a:rPr lang="en-US" sz="6500">
                <a:latin typeface="Arial"/>
                <a:cs typeface="Arial"/>
              </a:rPr>
              <a:t> will modernize its data infrastructure by adopting a comprehensive database solution tailored for rapid growth. This transition from spreadsheets to a sophisticated database architecture will enhance data accessibility, streamline operations, and empower informed decision-making, enabling </a:t>
            </a:r>
            <a:r>
              <a:rPr lang="en-US" sz="6500" err="1">
                <a:latin typeface="Arial"/>
                <a:cs typeface="Arial"/>
              </a:rPr>
              <a:t>VicNicks</a:t>
            </a:r>
            <a:r>
              <a:rPr lang="en-US" sz="6500">
                <a:latin typeface="Arial"/>
                <a:cs typeface="Arial"/>
              </a:rPr>
              <a:t> to unlock new opportunities for innovation and growth in the tech industry.</a:t>
            </a:r>
          </a:p>
          <a:p>
            <a:endParaRPr lang="en-US" sz="1700"/>
          </a:p>
        </p:txBody>
      </p:sp>
    </p:spTree>
    <p:extLst>
      <p:ext uri="{BB962C8B-B14F-4D97-AF65-F5344CB8AC3E}">
        <p14:creationId xmlns:p14="http://schemas.microsoft.com/office/powerpoint/2010/main" val="1523249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9F40DD-C117-5911-14F8-CFBD32341FA9}"/>
              </a:ext>
            </a:extLst>
          </p:cNvPr>
          <p:cNvSpPr>
            <a:spLocks noGrp="1"/>
          </p:cNvSpPr>
          <p:nvPr>
            <p:ph type="title"/>
          </p:nvPr>
        </p:nvSpPr>
        <p:spPr>
          <a:xfrm>
            <a:off x="466722" y="586855"/>
            <a:ext cx="3201366" cy="3387497"/>
          </a:xfrm>
        </p:spPr>
        <p:txBody>
          <a:bodyPr anchor="b">
            <a:normAutofit/>
          </a:bodyPr>
          <a:lstStyle/>
          <a:p>
            <a:r>
              <a:rPr lang="en-US" sz="4800">
                <a:solidFill>
                  <a:srgbClr val="FFFFFF"/>
                </a:solidFill>
              </a:rPr>
              <a:t>Constraints &amp; Defined Objectives</a:t>
            </a:r>
          </a:p>
        </p:txBody>
      </p:sp>
      <p:sp>
        <p:nvSpPr>
          <p:cNvPr id="3" name="Content Placeholder 2">
            <a:extLst>
              <a:ext uri="{FF2B5EF4-FFF2-40B4-BE49-F238E27FC236}">
                <a16:creationId xmlns:a16="http://schemas.microsoft.com/office/drawing/2014/main" id="{01733C98-7374-4579-8E2B-15E2F9CFFB61}"/>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r>
              <a:rPr lang="en-US" sz="2000" b="1">
                <a:ea typeface="+mn-lt"/>
                <a:cs typeface="+mn-lt"/>
              </a:rPr>
              <a:t>Constraints:</a:t>
            </a:r>
            <a:endParaRPr lang="en-US" sz="2000" b="1"/>
          </a:p>
          <a:p>
            <a:r>
              <a:rPr lang="en-US" sz="2000">
                <a:ea typeface="+mn-lt"/>
                <a:cs typeface="+mn-lt"/>
              </a:rPr>
              <a:t>Limited finances.</a:t>
            </a:r>
          </a:p>
          <a:p>
            <a:r>
              <a:rPr lang="en-US" sz="2000">
                <a:ea typeface="+mn-lt"/>
                <a:cs typeface="+mn-lt"/>
              </a:rPr>
              <a:t>Time constraints.</a:t>
            </a:r>
          </a:p>
          <a:p>
            <a:r>
              <a:rPr lang="en-US" sz="2000">
                <a:ea typeface="+mn-lt"/>
                <a:cs typeface="+mn-lt"/>
              </a:rPr>
              <a:t>Organizational resistance hinder technological upgrades.</a:t>
            </a:r>
          </a:p>
          <a:p>
            <a:pPr marL="0" indent="0">
              <a:buNone/>
            </a:pPr>
            <a:r>
              <a:rPr lang="en-US" sz="2000" b="1"/>
              <a:t>Objectives:</a:t>
            </a:r>
          </a:p>
          <a:p>
            <a:r>
              <a:rPr lang="en-US" sz="2000"/>
              <a:t>Modernization of </a:t>
            </a:r>
            <a:r>
              <a:rPr lang="en-US" sz="2000" err="1"/>
              <a:t>VicNicks's</a:t>
            </a:r>
            <a:r>
              <a:rPr lang="en-US" sz="2000"/>
              <a:t> data infrastructure, to enhance data accessibility, integrity, and security.</a:t>
            </a:r>
          </a:p>
          <a:p>
            <a:r>
              <a:rPr lang="en-US" sz="2000"/>
              <a:t>Reduce manual workload and accelerate workflows by implementing automation technologies.</a:t>
            </a:r>
          </a:p>
          <a:p>
            <a:r>
              <a:rPr lang="en-US" sz="2000"/>
              <a:t>Foster a culture of innovation that empowers employees with actionable insights derived from data analytics, </a:t>
            </a:r>
            <a:r>
              <a:rPr lang="en-US" sz="2000">
                <a:ea typeface="+mn-lt"/>
                <a:cs typeface="+mn-lt"/>
              </a:rPr>
              <a:t>encouraging experimentation, collaboration, and the generation of innovative solutions.</a:t>
            </a:r>
            <a:endParaRPr lang="en-US" sz="2000"/>
          </a:p>
          <a:p>
            <a:endParaRPr lang="en-US" sz="2000"/>
          </a:p>
        </p:txBody>
      </p:sp>
    </p:spTree>
    <p:extLst>
      <p:ext uri="{BB962C8B-B14F-4D97-AF65-F5344CB8AC3E}">
        <p14:creationId xmlns:p14="http://schemas.microsoft.com/office/powerpoint/2010/main" val="3746067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9716F3-84BF-13BF-0CC9-DC2D2DB71657}"/>
              </a:ext>
            </a:extLst>
          </p:cNvPr>
          <p:cNvSpPr>
            <a:spLocks noGrp="1"/>
          </p:cNvSpPr>
          <p:nvPr>
            <p:ph type="title"/>
          </p:nvPr>
        </p:nvSpPr>
        <p:spPr>
          <a:xfrm>
            <a:off x="466722" y="586855"/>
            <a:ext cx="3201366" cy="3387497"/>
          </a:xfrm>
        </p:spPr>
        <p:txBody>
          <a:bodyPr anchor="b">
            <a:normAutofit/>
          </a:bodyPr>
          <a:lstStyle/>
          <a:p>
            <a:r>
              <a:rPr lang="en-US" sz="6000">
                <a:solidFill>
                  <a:srgbClr val="FFFFFF"/>
                </a:solidFill>
              </a:rPr>
              <a:t>Key Business Rules</a:t>
            </a:r>
          </a:p>
        </p:txBody>
      </p:sp>
      <p:sp>
        <p:nvSpPr>
          <p:cNvPr id="3" name="Content Placeholder 2">
            <a:extLst>
              <a:ext uri="{FF2B5EF4-FFF2-40B4-BE49-F238E27FC236}">
                <a16:creationId xmlns:a16="http://schemas.microsoft.com/office/drawing/2014/main" id="{24523281-3F8A-C20A-9AB0-EE2C8BC25661}"/>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marR="0" indent="0">
              <a:spcBef>
                <a:spcPts val="0"/>
              </a:spcBef>
              <a:spcAft>
                <a:spcPts val="800"/>
              </a:spcAft>
              <a:buNone/>
            </a:pPr>
            <a:r>
              <a:rPr lang="en-US" sz="1900" b="1" kern="100">
                <a:effectLst/>
                <a:ea typeface="Aptos" panose="020B0004020202020204" pitchFamily="34" charset="0"/>
                <a:cs typeface="Times New Roman" panose="02020603050405020304" pitchFamily="18" charset="0"/>
              </a:rPr>
              <a:t>One-to-One (1:1) Relationship: </a:t>
            </a:r>
            <a:r>
              <a:rPr lang="en-US" sz="1900" kern="100">
                <a:effectLst/>
                <a:ea typeface="Aptos" panose="020B0004020202020204" pitchFamily="34" charset="0"/>
                <a:cs typeface="Times New Roman" panose="02020603050405020304" pitchFamily="18" charset="0"/>
              </a:rPr>
              <a:t>Employees are assigned to departments, each overseen by a single manager. This is shown through the links between EMPLOYEE, DEPARTMENT, and MANAGER tables, where the department ID in EMPLOYEE corresponds to DEPARTMENT, and DEPARTMENT's manager ID connects to MANAGER. Additionally, each customer is uniquely identified by their email address in the CUSTOMER table.</a:t>
            </a:r>
          </a:p>
          <a:p>
            <a:pPr marL="0" marR="0" indent="0">
              <a:spcBef>
                <a:spcPts val="0"/>
              </a:spcBef>
              <a:spcAft>
                <a:spcPts val="800"/>
              </a:spcAft>
              <a:buNone/>
            </a:pPr>
            <a:r>
              <a:rPr lang="en-US" sz="1900" b="1" kern="100">
                <a:effectLst/>
                <a:ea typeface="Aptos" panose="020B0004020202020204" pitchFamily="34" charset="0"/>
                <a:cs typeface="Times New Roman" panose="02020603050405020304" pitchFamily="18" charset="0"/>
              </a:rPr>
              <a:t>One-to-Many (1:M) Relationship: </a:t>
            </a:r>
            <a:r>
              <a:rPr lang="en-US" sz="1900" kern="100">
                <a:effectLst/>
                <a:ea typeface="Aptos" panose="020B0004020202020204" pitchFamily="34" charset="0"/>
                <a:cs typeface="Times New Roman" panose="02020603050405020304" pitchFamily="18" charset="0"/>
              </a:rPr>
              <a:t>Departments can have multiple employees, illustrated by the DEPARTMENT to EMPLOYEE connection. Each department ID in DEPARTMENT relates to multiple employee records in EMPLOYEE. Similarly, each product is categorized into one category, demonstrated by the PRODUCT_CATEGORY column in the PRODUCT table.</a:t>
            </a:r>
          </a:p>
          <a:p>
            <a:pPr marL="0" marR="0" indent="0">
              <a:spcBef>
                <a:spcPts val="0"/>
              </a:spcBef>
              <a:spcAft>
                <a:spcPts val="800"/>
              </a:spcAft>
              <a:buNone/>
            </a:pPr>
            <a:r>
              <a:rPr lang="en-US" sz="1900" b="1" kern="100">
                <a:effectLst/>
                <a:ea typeface="Aptos" panose="020B0004020202020204" pitchFamily="34" charset="0"/>
                <a:cs typeface="Times New Roman" panose="02020603050405020304" pitchFamily="18" charset="0"/>
              </a:rPr>
              <a:t>Many-to-Many (M:N) Relationship: </a:t>
            </a:r>
            <a:r>
              <a:rPr lang="en-US" sz="1900" kern="100">
                <a:effectLst/>
                <a:ea typeface="Aptos" panose="020B0004020202020204" pitchFamily="34" charset="0"/>
                <a:cs typeface="Times New Roman" panose="02020603050405020304" pitchFamily="18" charset="0"/>
              </a:rPr>
              <a:t>Customers can purchase multiple products, reflected in the relationship between CUSTOMER and INVOICE tables. Each invoice can include multiple products bought by a customer, capturing the dynamic interactions between customers and products.</a:t>
            </a:r>
          </a:p>
        </p:txBody>
      </p:sp>
    </p:spTree>
    <p:extLst>
      <p:ext uri="{BB962C8B-B14F-4D97-AF65-F5344CB8AC3E}">
        <p14:creationId xmlns:p14="http://schemas.microsoft.com/office/powerpoint/2010/main" val="936022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398F3DEE-0E56-499F-AFAE-C2DA7C2C8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85CCF60-79A2-440A-86A2-1A64A59F7B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F2162BA-EECD-43E0-99D9-C00B19482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200" y="8482"/>
            <a:ext cx="3568276" cy="68580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160DB805-F71F-46BB-A8CC-74F6D8306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Rectangle 50">
            <a:extLst>
              <a:ext uri="{FF2B5EF4-FFF2-40B4-BE49-F238E27FC236}">
                <a16:creationId xmlns:a16="http://schemas.microsoft.com/office/drawing/2014/main" id="{6F91054C-3439-420E-88EB-F0A5637EC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8667F7-1D12-B1E7-B28E-1A8AB8320D6A}"/>
              </a:ext>
            </a:extLst>
          </p:cNvPr>
          <p:cNvSpPr>
            <a:spLocks noGrp="1"/>
          </p:cNvSpPr>
          <p:nvPr>
            <p:ph type="title"/>
          </p:nvPr>
        </p:nvSpPr>
        <p:spPr>
          <a:xfrm>
            <a:off x="576798" y="1387454"/>
            <a:ext cx="2895573" cy="3097160"/>
          </a:xfrm>
        </p:spPr>
        <p:txBody>
          <a:bodyPr vert="horz" lIns="91440" tIns="45720" rIns="91440" bIns="45720" rtlCol="0" anchor="t">
            <a:normAutofit/>
          </a:bodyPr>
          <a:lstStyle/>
          <a:p>
            <a:r>
              <a:rPr lang="en-US" sz="5400">
                <a:solidFill>
                  <a:srgbClr val="FFFFFF"/>
                </a:solidFill>
              </a:rPr>
              <a:t>Database Tables and Columns</a:t>
            </a:r>
          </a:p>
        </p:txBody>
      </p:sp>
      <p:pic>
        <p:nvPicPr>
          <p:cNvPr id="8" name="Picture 7" descr="A screenshot of a computer program&#10;&#10;Description automatically generated">
            <a:extLst>
              <a:ext uri="{FF2B5EF4-FFF2-40B4-BE49-F238E27FC236}">
                <a16:creationId xmlns:a16="http://schemas.microsoft.com/office/drawing/2014/main" id="{7EC92884-99ED-066F-BCA5-7940EE0C8676}"/>
              </a:ext>
            </a:extLst>
          </p:cNvPr>
          <p:cNvPicPr>
            <a:picLocks noChangeAspect="1"/>
          </p:cNvPicPr>
          <p:nvPr/>
        </p:nvPicPr>
        <p:blipFill>
          <a:blip r:embed="rId2"/>
          <a:stretch>
            <a:fillRect/>
          </a:stretch>
        </p:blipFill>
        <p:spPr>
          <a:xfrm>
            <a:off x="4025476" y="0"/>
            <a:ext cx="4179409" cy="2936034"/>
          </a:xfrm>
          <a:prstGeom prst="rect">
            <a:avLst/>
          </a:prstGeom>
        </p:spPr>
      </p:pic>
      <p:pic>
        <p:nvPicPr>
          <p:cNvPr id="14" name="Picture 13" descr="A screenshot of a computer screen&#10;&#10;Description automatically generated">
            <a:extLst>
              <a:ext uri="{FF2B5EF4-FFF2-40B4-BE49-F238E27FC236}">
                <a16:creationId xmlns:a16="http://schemas.microsoft.com/office/drawing/2014/main" id="{EE1016EA-0187-A0EA-9F0A-0F2A38E32114}"/>
              </a:ext>
            </a:extLst>
          </p:cNvPr>
          <p:cNvPicPr>
            <a:picLocks noChangeAspect="1"/>
          </p:cNvPicPr>
          <p:nvPr/>
        </p:nvPicPr>
        <p:blipFill>
          <a:blip r:embed="rId3"/>
          <a:stretch>
            <a:fillRect/>
          </a:stretch>
        </p:blipFill>
        <p:spPr>
          <a:xfrm>
            <a:off x="8182250" y="-8482"/>
            <a:ext cx="4009750" cy="1679966"/>
          </a:xfrm>
          <a:prstGeom prst="rect">
            <a:avLst/>
          </a:prstGeom>
        </p:spPr>
      </p:pic>
      <p:pic>
        <p:nvPicPr>
          <p:cNvPr id="20" name="Picture 19" descr="A black screen with white text&#10;&#10;Description automatically generated">
            <a:extLst>
              <a:ext uri="{FF2B5EF4-FFF2-40B4-BE49-F238E27FC236}">
                <a16:creationId xmlns:a16="http://schemas.microsoft.com/office/drawing/2014/main" id="{04ACA301-2CB5-68DF-F591-82F6C4306A86}"/>
              </a:ext>
            </a:extLst>
          </p:cNvPr>
          <p:cNvPicPr>
            <a:picLocks noChangeAspect="1"/>
          </p:cNvPicPr>
          <p:nvPr/>
        </p:nvPicPr>
        <p:blipFill>
          <a:blip r:embed="rId4"/>
          <a:stretch>
            <a:fillRect/>
          </a:stretch>
        </p:blipFill>
        <p:spPr>
          <a:xfrm>
            <a:off x="4025475" y="5213950"/>
            <a:ext cx="4179409" cy="1652531"/>
          </a:xfrm>
          <a:prstGeom prst="rect">
            <a:avLst/>
          </a:prstGeom>
        </p:spPr>
      </p:pic>
      <p:pic>
        <p:nvPicPr>
          <p:cNvPr id="18" name="Content Placeholder 17" descr="A screen shot of a computer&#10;&#10;Description automatically generated">
            <a:extLst>
              <a:ext uri="{FF2B5EF4-FFF2-40B4-BE49-F238E27FC236}">
                <a16:creationId xmlns:a16="http://schemas.microsoft.com/office/drawing/2014/main" id="{85E6E228-8968-0F13-0493-BD422F7E4D25}"/>
              </a:ext>
            </a:extLst>
          </p:cNvPr>
          <p:cNvPicPr>
            <a:picLocks noGrp="1" noChangeAspect="1"/>
          </p:cNvPicPr>
          <p:nvPr>
            <p:ph idx="1"/>
          </p:nvPr>
        </p:nvPicPr>
        <p:blipFill>
          <a:blip r:embed="rId5"/>
          <a:stretch>
            <a:fillRect/>
          </a:stretch>
        </p:blipFill>
        <p:spPr>
          <a:xfrm>
            <a:off x="4025474" y="2936034"/>
            <a:ext cx="4179409" cy="2277488"/>
          </a:xfrm>
          <a:prstGeom prst="rect">
            <a:avLst/>
          </a:prstGeom>
        </p:spPr>
      </p:pic>
      <p:pic>
        <p:nvPicPr>
          <p:cNvPr id="9" name="Picture 8">
            <a:extLst>
              <a:ext uri="{FF2B5EF4-FFF2-40B4-BE49-F238E27FC236}">
                <a16:creationId xmlns:a16="http://schemas.microsoft.com/office/drawing/2014/main" id="{C11F217D-8494-FF58-2AA8-B5535E1CF68D}"/>
              </a:ext>
            </a:extLst>
          </p:cNvPr>
          <p:cNvPicPr>
            <a:picLocks noChangeAspect="1"/>
          </p:cNvPicPr>
          <p:nvPr/>
        </p:nvPicPr>
        <p:blipFill>
          <a:blip r:embed="rId6"/>
          <a:stretch>
            <a:fillRect/>
          </a:stretch>
        </p:blipFill>
        <p:spPr>
          <a:xfrm>
            <a:off x="8195037" y="4040372"/>
            <a:ext cx="3993681" cy="2819644"/>
          </a:xfrm>
          <a:prstGeom prst="rect">
            <a:avLst/>
          </a:prstGeom>
        </p:spPr>
      </p:pic>
      <p:pic>
        <p:nvPicPr>
          <p:cNvPr id="11" name="Picture 10">
            <a:extLst>
              <a:ext uri="{FF2B5EF4-FFF2-40B4-BE49-F238E27FC236}">
                <a16:creationId xmlns:a16="http://schemas.microsoft.com/office/drawing/2014/main" id="{59C1BBE9-2499-72B1-FCD9-7FB32687EEAD}"/>
              </a:ext>
            </a:extLst>
          </p:cNvPr>
          <p:cNvPicPr>
            <a:picLocks noChangeAspect="1"/>
          </p:cNvPicPr>
          <p:nvPr/>
        </p:nvPicPr>
        <p:blipFill>
          <a:blip r:embed="rId7"/>
          <a:stretch>
            <a:fillRect/>
          </a:stretch>
        </p:blipFill>
        <p:spPr>
          <a:xfrm>
            <a:off x="8204883" y="1671484"/>
            <a:ext cx="3987117" cy="2364865"/>
          </a:xfrm>
          <a:prstGeom prst="rect">
            <a:avLst/>
          </a:prstGeom>
        </p:spPr>
      </p:pic>
    </p:spTree>
    <p:extLst>
      <p:ext uri="{BB962C8B-B14F-4D97-AF65-F5344CB8AC3E}">
        <p14:creationId xmlns:p14="http://schemas.microsoft.com/office/powerpoint/2010/main" val="1165269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D6DBC8B-2117-16AD-1392-39BA71018DF3}"/>
              </a:ext>
            </a:extLst>
          </p:cNvPr>
          <p:cNvSpPr>
            <a:spLocks noGrp="1"/>
          </p:cNvSpPr>
          <p:nvPr>
            <p:ph type="title"/>
          </p:nvPr>
        </p:nvSpPr>
        <p:spPr>
          <a:xfrm>
            <a:off x="578888" y="1896373"/>
            <a:ext cx="2880828" cy="2518312"/>
          </a:xfrm>
        </p:spPr>
        <p:txBody>
          <a:bodyPr vert="horz" lIns="91440" tIns="45720" rIns="91440" bIns="45720" rtlCol="0" anchor="t">
            <a:normAutofit/>
          </a:bodyPr>
          <a:lstStyle/>
          <a:p>
            <a:r>
              <a:rPr lang="en-US" sz="4200" kern="1200">
                <a:solidFill>
                  <a:srgbClr val="FFFFFF"/>
                </a:solidFill>
                <a:latin typeface="+mj-lt"/>
                <a:ea typeface="+mj-ea"/>
                <a:cs typeface="+mj-cs"/>
              </a:rPr>
              <a:t>Entity Relationship Diagram (ERD)</a:t>
            </a:r>
          </a:p>
        </p:txBody>
      </p:sp>
      <p:pic>
        <p:nvPicPr>
          <p:cNvPr id="9" name="Content Placeholder 8" descr="A diagram of a computer&#10;&#10;Description automatically generated">
            <a:extLst>
              <a:ext uri="{FF2B5EF4-FFF2-40B4-BE49-F238E27FC236}">
                <a16:creationId xmlns:a16="http://schemas.microsoft.com/office/drawing/2014/main" id="{263D80C7-C146-4C25-D2E6-EF5B62AE6D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8604" y="0"/>
            <a:ext cx="8153395" cy="6858000"/>
          </a:xfrm>
        </p:spPr>
      </p:pic>
      <p:sp>
        <p:nvSpPr>
          <p:cNvPr id="6" name="TextBox 5">
            <a:extLst>
              <a:ext uri="{FF2B5EF4-FFF2-40B4-BE49-F238E27FC236}">
                <a16:creationId xmlns:a16="http://schemas.microsoft.com/office/drawing/2014/main" id="{470907BB-2147-B5B7-0A97-FF9C439FFFBE}"/>
              </a:ext>
            </a:extLst>
          </p:cNvPr>
          <p:cNvSpPr txBox="1"/>
          <p:nvPr/>
        </p:nvSpPr>
        <p:spPr>
          <a:xfrm>
            <a:off x="3048000" y="2836210"/>
            <a:ext cx="6096000" cy="369332"/>
          </a:xfrm>
          <a:prstGeom prst="rect">
            <a:avLst/>
          </a:prstGeom>
          <a:noFill/>
        </p:spPr>
        <p:txBody>
          <a:bodyPr wrap="square">
            <a:spAutoFit/>
          </a:bodyPr>
          <a:lstStyle/>
          <a:p>
            <a:endParaRPr lang="en-US" dirty="0"/>
          </a:p>
        </p:txBody>
      </p:sp>
    </p:spTree>
    <p:extLst>
      <p:ext uri="{BB962C8B-B14F-4D97-AF65-F5344CB8AC3E}">
        <p14:creationId xmlns:p14="http://schemas.microsoft.com/office/powerpoint/2010/main" val="322991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A74814-4D2D-43A0-D60E-DB31455CC7B2}"/>
              </a:ext>
            </a:extLst>
          </p:cNvPr>
          <p:cNvSpPr>
            <a:spLocks noGrp="1"/>
          </p:cNvSpPr>
          <p:nvPr>
            <p:ph type="title"/>
          </p:nvPr>
        </p:nvSpPr>
        <p:spPr>
          <a:xfrm>
            <a:off x="418225" y="2306087"/>
            <a:ext cx="3201366" cy="1799304"/>
          </a:xfrm>
        </p:spPr>
        <p:txBody>
          <a:bodyPr anchor="b">
            <a:normAutofit/>
          </a:bodyPr>
          <a:lstStyle/>
          <a:p>
            <a:r>
              <a:rPr lang="en-US" sz="5400">
                <a:solidFill>
                  <a:srgbClr val="FFFFFF"/>
                </a:solidFill>
              </a:rPr>
              <a:t>Biggest Challenge</a:t>
            </a:r>
          </a:p>
        </p:txBody>
      </p:sp>
      <p:sp>
        <p:nvSpPr>
          <p:cNvPr id="3" name="Content Placeholder 2">
            <a:extLst>
              <a:ext uri="{FF2B5EF4-FFF2-40B4-BE49-F238E27FC236}">
                <a16:creationId xmlns:a16="http://schemas.microsoft.com/office/drawing/2014/main" id="{FB984554-52F9-493F-71FD-646F1881F05F}"/>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en-US" sz="2400" b="1"/>
              <a:t>Foreign Key Referencing: </a:t>
            </a:r>
            <a:r>
              <a:rPr lang="en-US" sz="2400"/>
              <a:t>Managing foreign key constraints posed significant challenges, especially in ensuring referential integrity across related tables.</a:t>
            </a:r>
          </a:p>
          <a:p>
            <a:pPr marL="0" indent="0">
              <a:buNone/>
            </a:pPr>
            <a:endParaRPr lang="en-US" sz="2400"/>
          </a:p>
          <a:p>
            <a:r>
              <a:rPr lang="en-US" sz="2400" b="1"/>
              <a:t>SQL Code Creation: </a:t>
            </a:r>
            <a:r>
              <a:rPr lang="en-US" sz="2400"/>
              <a:t>Crafting SQL code for table creation and defining relationships was complex, requiring precise implementation to avoid errors.</a:t>
            </a:r>
          </a:p>
          <a:p>
            <a:endParaRPr lang="en-US" sz="2400"/>
          </a:p>
          <a:p>
            <a:r>
              <a:rPr lang="en-US" sz="2400" b="1"/>
              <a:t>Table Design: </a:t>
            </a:r>
            <a:r>
              <a:rPr lang="en-US" sz="2400"/>
              <a:t>Designing tables to capture entity relationships while adhering to constraints was challenging, balancing data normalization, performance optimization, and usability</a:t>
            </a:r>
            <a:r>
              <a:rPr lang="en-US" sz="2000"/>
              <a:t>.</a:t>
            </a:r>
          </a:p>
        </p:txBody>
      </p:sp>
    </p:spTree>
    <p:extLst>
      <p:ext uri="{BB962C8B-B14F-4D97-AF65-F5344CB8AC3E}">
        <p14:creationId xmlns:p14="http://schemas.microsoft.com/office/powerpoint/2010/main" val="276003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82E876-4CBB-32F2-D4D0-32161DB680F1}"/>
              </a:ext>
            </a:extLst>
          </p:cNvPr>
          <p:cNvSpPr>
            <a:spLocks noGrp="1"/>
          </p:cNvSpPr>
          <p:nvPr>
            <p:ph type="title"/>
          </p:nvPr>
        </p:nvSpPr>
        <p:spPr>
          <a:xfrm>
            <a:off x="418225" y="1481591"/>
            <a:ext cx="3201366" cy="3387497"/>
          </a:xfrm>
        </p:spPr>
        <p:txBody>
          <a:bodyPr anchor="b">
            <a:noAutofit/>
          </a:bodyPr>
          <a:lstStyle/>
          <a:p>
            <a:r>
              <a:rPr lang="en-US" sz="6000">
                <a:solidFill>
                  <a:srgbClr val="FFFFFF"/>
                </a:solidFill>
              </a:rPr>
              <a:t>Summary of Database Solution</a:t>
            </a:r>
          </a:p>
        </p:txBody>
      </p:sp>
      <p:sp>
        <p:nvSpPr>
          <p:cNvPr id="3" name="Content Placeholder 2">
            <a:extLst>
              <a:ext uri="{FF2B5EF4-FFF2-40B4-BE49-F238E27FC236}">
                <a16:creationId xmlns:a16="http://schemas.microsoft.com/office/drawing/2014/main" id="{03833F68-DD86-B732-B19C-88DFF2E66E75}"/>
              </a:ext>
            </a:extLst>
          </p:cNvPr>
          <p:cNvSpPr>
            <a:spLocks noGrp="1"/>
          </p:cNvSpPr>
          <p:nvPr>
            <p:ph idx="1"/>
          </p:nvPr>
        </p:nvSpPr>
        <p:spPr>
          <a:xfrm>
            <a:off x="4810259" y="649480"/>
            <a:ext cx="6555347" cy="5546047"/>
          </a:xfrm>
        </p:spPr>
        <p:txBody>
          <a:bodyPr vert="horz" lIns="91440" tIns="45720" rIns="91440" bIns="45720" rtlCol="0" anchor="ctr">
            <a:normAutofit fontScale="92500" lnSpcReduction="20000"/>
          </a:bodyPr>
          <a:lstStyle/>
          <a:p>
            <a:r>
              <a:rPr lang="en-US" sz="2000" err="1"/>
              <a:t>VicNicks</a:t>
            </a:r>
            <a:r>
              <a:rPr lang="en-US" sz="2000"/>
              <a:t>' adoption of a comprehensive database solution signifies a significant milestone in its pursuit of operational excellence and sustainable growth.</a:t>
            </a:r>
          </a:p>
          <a:p>
            <a:r>
              <a:rPr lang="en-US" sz="2000"/>
              <a:t>Transitioning from outdated data management practices to modernization demonstrates </a:t>
            </a:r>
            <a:r>
              <a:rPr lang="en-US" sz="2000" err="1"/>
              <a:t>VicNicks</a:t>
            </a:r>
            <a:r>
              <a:rPr lang="en-US" sz="2000"/>
              <a:t>' proactive approach to navigating the evolving tech landscape.</a:t>
            </a:r>
          </a:p>
          <a:p>
            <a:r>
              <a:rPr lang="en-US" sz="2000"/>
              <a:t>The meticulously crafted database schema captures crucial aspects of </a:t>
            </a:r>
            <a:r>
              <a:rPr lang="en-US" sz="2000" err="1"/>
              <a:t>VicNicks</a:t>
            </a:r>
            <a:r>
              <a:rPr lang="en-US" sz="2000"/>
              <a:t>' operations, including customer relationship management, sales, and inventory management.</a:t>
            </a:r>
          </a:p>
          <a:p>
            <a:r>
              <a:rPr lang="en-US" sz="2000"/>
              <a:t>The schema aligns with established business rules and constraints, ensuring reliable data integration and fostering deeper operational insights.</a:t>
            </a:r>
          </a:p>
          <a:p>
            <a:r>
              <a:rPr lang="en-US" sz="2000"/>
              <a:t>This approach empowers </a:t>
            </a:r>
            <a:r>
              <a:rPr lang="en-US" sz="2000" err="1"/>
              <a:t>VicNicks</a:t>
            </a:r>
            <a:r>
              <a:rPr lang="en-US" sz="2000"/>
              <a:t> to stay agile and responsive in the face of dynamic market conditions.</a:t>
            </a:r>
          </a:p>
          <a:p>
            <a:r>
              <a:rPr lang="en-US" sz="2000"/>
              <a:t>Leveraging cutting-edge technologies and industry best practices, </a:t>
            </a:r>
            <a:r>
              <a:rPr lang="en-US" sz="2000" err="1"/>
              <a:t>VicNicks</a:t>
            </a:r>
            <a:r>
              <a:rPr lang="en-US" sz="2000"/>
              <a:t> aims to enhance operational efficiency and deliver value to clients and stakeholders.</a:t>
            </a:r>
          </a:p>
          <a:p>
            <a:r>
              <a:rPr lang="en-US" sz="2000"/>
              <a:t>With a robust foundation in place, </a:t>
            </a:r>
            <a:r>
              <a:rPr lang="en-US" sz="2000" err="1"/>
              <a:t>VicNicks</a:t>
            </a:r>
            <a:r>
              <a:rPr lang="en-US" sz="2000"/>
              <a:t> is poised to lead in the competitive tech landscape, seizing emerging opportunities and overcoming challenges with resilience and foresight.</a:t>
            </a:r>
          </a:p>
        </p:txBody>
      </p:sp>
    </p:spTree>
    <p:extLst>
      <p:ext uri="{BB962C8B-B14F-4D97-AF65-F5344CB8AC3E}">
        <p14:creationId xmlns:p14="http://schemas.microsoft.com/office/powerpoint/2010/main" val="3750114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A9C481-DC03-9EB5-DBDC-169DA3009B0E}"/>
              </a:ext>
            </a:extLst>
          </p:cNvPr>
          <p:cNvSpPr>
            <a:spLocks noGrp="1"/>
          </p:cNvSpPr>
          <p:nvPr>
            <p:ph type="title"/>
          </p:nvPr>
        </p:nvSpPr>
        <p:spPr>
          <a:xfrm>
            <a:off x="299573" y="1406013"/>
            <a:ext cx="3201366" cy="3342969"/>
          </a:xfrm>
        </p:spPr>
        <p:txBody>
          <a:bodyPr anchor="b">
            <a:normAutofit/>
          </a:bodyPr>
          <a:lstStyle/>
          <a:p>
            <a:r>
              <a:rPr lang="en-US" sz="6600">
                <a:solidFill>
                  <a:srgbClr val="FFFFFF"/>
                </a:solidFill>
              </a:rPr>
              <a:t>What we have Learned</a:t>
            </a:r>
          </a:p>
        </p:txBody>
      </p:sp>
      <p:sp>
        <p:nvSpPr>
          <p:cNvPr id="3" name="Content Placeholder 2">
            <a:extLst>
              <a:ext uri="{FF2B5EF4-FFF2-40B4-BE49-F238E27FC236}">
                <a16:creationId xmlns:a16="http://schemas.microsoft.com/office/drawing/2014/main" id="{0D21BE23-C475-DA2A-81E4-BAAE30F79C58}"/>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en-US" sz="2000" b="1"/>
              <a:t>Database Design and Foreign Keys: </a:t>
            </a:r>
            <a:r>
              <a:rPr lang="en-US" sz="2000"/>
              <a:t>Learned the importance of meticulous database design for data integrity and managing foreign key relationships.</a:t>
            </a:r>
          </a:p>
          <a:p>
            <a:r>
              <a:rPr lang="en-US" sz="2000" b="1"/>
              <a:t>SQL Proficiency: </a:t>
            </a:r>
            <a:r>
              <a:rPr lang="en-US" sz="2000"/>
              <a:t>Enhanced skills in crafting SQL queries for data manipulation and consistency.</a:t>
            </a:r>
          </a:p>
          <a:p>
            <a:r>
              <a:rPr lang="en-US" sz="2000" b="1"/>
              <a:t>Team Collaboration and Problem-Solving: </a:t>
            </a:r>
            <a:r>
              <a:rPr lang="en-US" sz="2000"/>
              <a:t>Developed effective communication and problem-solving skills, overcoming challenges like foreign key constraints.</a:t>
            </a:r>
          </a:p>
          <a:p>
            <a:r>
              <a:rPr lang="en-US" sz="2000" b="1"/>
              <a:t>Project Management and Adaptability: </a:t>
            </a:r>
            <a:r>
              <a:rPr lang="en-US" sz="2000"/>
              <a:t>Gained experience in project planning, execution, and adaptation to changing requirements.</a:t>
            </a:r>
          </a:p>
          <a:p>
            <a:r>
              <a:rPr lang="en-US" sz="2000" b="1"/>
              <a:t>Documentation, Presentation, and Learning: </a:t>
            </a:r>
            <a:r>
              <a:rPr lang="en-US" sz="2000"/>
              <a:t>Improved skills in documentation, presentations, and continuous learning for staying updated with database technologies.</a:t>
            </a:r>
          </a:p>
        </p:txBody>
      </p:sp>
    </p:spTree>
    <p:extLst>
      <p:ext uri="{BB962C8B-B14F-4D97-AF65-F5344CB8AC3E}">
        <p14:creationId xmlns:p14="http://schemas.microsoft.com/office/powerpoint/2010/main" val="2225189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766</Words>
  <Application>Microsoft Office PowerPoint</Application>
  <PresentationFormat>Widescreen</PresentationFormat>
  <Paragraphs>41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VicNicks</vt:lpstr>
      <vt:lpstr>Executive Summary</vt:lpstr>
      <vt:lpstr>Constraints &amp; Defined Objectives</vt:lpstr>
      <vt:lpstr>Key Business Rules</vt:lpstr>
      <vt:lpstr>Database Tables and Columns</vt:lpstr>
      <vt:lpstr>Entity Relationship Diagram (ERD)</vt:lpstr>
      <vt:lpstr>Biggest Challenge</vt:lpstr>
      <vt:lpstr>Summary of Database Solution</vt:lpstr>
      <vt:lpstr>What we have Learned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Ricci, Nicholas</cp:lastModifiedBy>
  <cp:revision>2</cp:revision>
  <dcterms:created xsi:type="dcterms:W3CDTF">2024-04-08T04:56:37Z</dcterms:created>
  <dcterms:modified xsi:type="dcterms:W3CDTF">2024-04-15T17:22:23Z</dcterms:modified>
</cp:coreProperties>
</file>