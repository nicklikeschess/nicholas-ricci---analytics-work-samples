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8" r:id="rId1"/>
  </p:sldMasterIdLst>
  <p:notesMasterIdLst>
    <p:notesMasterId r:id="rId20"/>
  </p:notesMasterIdLst>
  <p:sldIdLst>
    <p:sldId id="256" r:id="rId2"/>
    <p:sldId id="258" r:id="rId3"/>
    <p:sldId id="259" r:id="rId4"/>
    <p:sldId id="269" r:id="rId5"/>
    <p:sldId id="270" r:id="rId6"/>
    <p:sldId id="260" r:id="rId7"/>
    <p:sldId id="261" r:id="rId8"/>
    <p:sldId id="272" r:id="rId9"/>
    <p:sldId id="273" r:id="rId10"/>
    <p:sldId id="257" r:id="rId11"/>
    <p:sldId id="263" r:id="rId12"/>
    <p:sldId id="262" r:id="rId13"/>
    <p:sldId id="266" r:id="rId14"/>
    <p:sldId id="276" r:id="rId15"/>
    <p:sldId id="264" r:id="rId16"/>
    <p:sldId id="265" r:id="rId17"/>
    <p:sldId id="274"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E1F62A-2BAB-E19C-9282-5F9964BDDDC7}" name="Brewer, Cody" initials="BC" userId="S::cbrewer7077@floridapoly.edu::16adcafe-5d0e-4b21-a6d2-f5f18ec3634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microsoft.com/office/2018/10/relationships/authors" Target="author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227AD1-AF4A-614B-B7D9-3F895851A131}" type="datetimeFigureOut">
              <a:rPr lang="en-US" smtClean="0"/>
              <a:t>12/3/2022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1800A5-426A-BC47-BAE1-0A5E98744E8B}" type="slidenum">
              <a:rPr lang="en-US" smtClean="0"/>
              <a:t>‹#›</a:t>
            </a:fld>
            <a:endParaRPr lang="en-US"/>
          </a:p>
        </p:txBody>
      </p:sp>
    </p:spTree>
    <p:extLst>
      <p:ext uri="{BB962C8B-B14F-4D97-AF65-F5344CB8AC3E}">
        <p14:creationId xmlns:p14="http://schemas.microsoft.com/office/powerpoint/2010/main" val="1818486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01800A5-426A-BC47-BAE1-0A5E98744E8B}" type="slidenum">
              <a:rPr lang="en-US" smtClean="0"/>
              <a:t>1</a:t>
            </a:fld>
            <a:endParaRPr lang="en-US"/>
          </a:p>
        </p:txBody>
      </p:sp>
    </p:spTree>
    <p:extLst>
      <p:ext uri="{BB962C8B-B14F-4D97-AF65-F5344CB8AC3E}">
        <p14:creationId xmlns:p14="http://schemas.microsoft.com/office/powerpoint/2010/main" val="3220177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301800A5-426A-BC47-BAE1-0A5E98744E8B}" type="slidenum">
              <a:rPr lang="en-US" smtClean="0"/>
              <a:t>3</a:t>
            </a:fld>
            <a:endParaRPr lang="en-US"/>
          </a:p>
        </p:txBody>
      </p:sp>
    </p:spTree>
    <p:extLst>
      <p:ext uri="{BB962C8B-B14F-4D97-AF65-F5344CB8AC3E}">
        <p14:creationId xmlns:p14="http://schemas.microsoft.com/office/powerpoint/2010/main" val="1961014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now that we have learned about the importance of Lean lets go through the process mapping.</a:t>
            </a:r>
          </a:p>
          <a:p>
            <a:br>
              <a:rPr lang="en-US"/>
            </a:br>
            <a:endParaRPr lang="en-US"/>
          </a:p>
        </p:txBody>
      </p:sp>
      <p:sp>
        <p:nvSpPr>
          <p:cNvPr id="4" name="Slide Number Placeholder 3"/>
          <p:cNvSpPr>
            <a:spLocks noGrp="1"/>
          </p:cNvSpPr>
          <p:nvPr>
            <p:ph type="sldNum" sz="quarter" idx="5"/>
          </p:nvPr>
        </p:nvSpPr>
        <p:spPr/>
        <p:txBody>
          <a:bodyPr/>
          <a:lstStyle/>
          <a:p>
            <a:fld id="{301800A5-426A-BC47-BAE1-0A5E98744E8B}" type="slidenum">
              <a:rPr lang="en-US" smtClean="0"/>
              <a:t>9</a:t>
            </a:fld>
            <a:endParaRPr lang="en-US"/>
          </a:p>
        </p:txBody>
      </p:sp>
    </p:spTree>
    <p:extLst>
      <p:ext uri="{BB962C8B-B14F-4D97-AF65-F5344CB8AC3E}">
        <p14:creationId xmlns:p14="http://schemas.microsoft.com/office/powerpoint/2010/main" val="4287137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we have the process map for a patient we see the patient arrive at the hospital we escort them to the emergency room we figure out what exactly is wrong and that info is given to the receptionist and then we move him to a room, get a physician to access the patients needs, diagnose him, we prescribe him medicine, we make sure they don't blow up, charge </a:t>
            </a:r>
            <a:r>
              <a:rPr lang="en-US" dirty="0" err="1"/>
              <a:t>em</a:t>
            </a:r>
            <a:r>
              <a:rPr lang="en-US" dirty="0"/>
              <a:t>, sent the bill. That is what almost every hospital has to do when a patient is present. </a:t>
            </a:r>
          </a:p>
          <a:p>
            <a:br>
              <a:rPr lang="en-US" dirty="0">
                <a:cs typeface="+mn-lt"/>
              </a:rPr>
            </a:br>
            <a:endParaRPr lang="en-US"/>
          </a:p>
        </p:txBody>
      </p:sp>
      <p:sp>
        <p:nvSpPr>
          <p:cNvPr id="4" name="Slide Number Placeholder 3"/>
          <p:cNvSpPr>
            <a:spLocks noGrp="1"/>
          </p:cNvSpPr>
          <p:nvPr>
            <p:ph type="sldNum" sz="quarter" idx="5"/>
          </p:nvPr>
        </p:nvSpPr>
        <p:spPr/>
        <p:txBody>
          <a:bodyPr/>
          <a:lstStyle/>
          <a:p>
            <a:fld id="{301800A5-426A-BC47-BAE1-0A5E98744E8B}" type="slidenum">
              <a:rPr lang="en-US" smtClean="0"/>
              <a:t>10</a:t>
            </a:fld>
            <a:endParaRPr lang="en-US"/>
          </a:p>
        </p:txBody>
      </p:sp>
    </p:spTree>
    <p:extLst>
      <p:ext uri="{BB962C8B-B14F-4D97-AF65-F5344CB8AC3E}">
        <p14:creationId xmlns:p14="http://schemas.microsoft.com/office/powerpoint/2010/main" val="3901319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Ok so what are our inputs what are we getting in... patients. Now we go through our process this takes up most of our time. This is the main purpose of being here for the patients to figure out what they got. Then its payday we get paid by most likely the insurance company unless they decide not to pay. Now we go to the DMAIC Interpretation.</a:t>
            </a:r>
          </a:p>
        </p:txBody>
      </p:sp>
      <p:sp>
        <p:nvSpPr>
          <p:cNvPr id="4" name="Slide Number Placeholder 3"/>
          <p:cNvSpPr>
            <a:spLocks noGrp="1"/>
          </p:cNvSpPr>
          <p:nvPr>
            <p:ph type="sldNum" sz="quarter" idx="5"/>
          </p:nvPr>
        </p:nvSpPr>
        <p:spPr/>
        <p:txBody>
          <a:bodyPr/>
          <a:lstStyle/>
          <a:p>
            <a:fld id="{301800A5-426A-BC47-BAE1-0A5E98744E8B}" type="slidenum">
              <a:rPr lang="en-US" smtClean="0"/>
              <a:t>11</a:t>
            </a:fld>
            <a:endParaRPr lang="en-US"/>
          </a:p>
        </p:txBody>
      </p:sp>
    </p:spTree>
    <p:extLst>
      <p:ext uri="{BB962C8B-B14F-4D97-AF65-F5344CB8AC3E}">
        <p14:creationId xmlns:p14="http://schemas.microsoft.com/office/powerpoint/2010/main" val="1511358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12/3/2022</a:t>
            </a:fld>
            <a:endParaRPr lang="en-US"/>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040756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12/3/2022</a:t>
            </a:fld>
            <a:endParaRPr lang="en-US"/>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11303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12/3/2022</a:t>
            </a:fld>
            <a:endParaRPr lang="en-US"/>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077255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12/3/2022</a:t>
            </a:fld>
            <a:endParaRPr lang="en-US"/>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414865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12/3/2022</a:t>
            </a:fld>
            <a:endParaRPr lang="en-US"/>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05968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12/3/2022</a:t>
            </a:fld>
            <a:endParaRPr lang="en-US"/>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085574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12/3/2022</a:t>
            </a:fld>
            <a:endParaRPr lang="en-US"/>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864709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12/3/2022</a:t>
            </a:fld>
            <a:endParaRPr lang="en-US"/>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2225042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12/3/2022</a:t>
            </a:fld>
            <a:endParaRPr lang="en-US"/>
          </a:p>
        </p:txBody>
      </p:sp>
      <p:sp>
        <p:nvSpPr>
          <p:cNvPr id="6" name="Footer Placeholder 5"/>
          <p:cNvSpPr>
            <a:spLocks noGrp="1"/>
          </p:cNvSpPr>
          <p:nvPr>
            <p:ph type="ftr" sz="quarter" idx="11"/>
          </p:nvPr>
        </p:nvSpPr>
        <p:spPr>
          <a:xfrm>
            <a:off x="1097279" y="6446838"/>
            <a:ext cx="6818262" cy="365125"/>
          </a:xfr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778291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12/3/2022</a:t>
            </a:fld>
            <a:endParaRPr lang="en-US"/>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272679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12/3/2022</a:t>
            </a:fld>
            <a:endParaRPr lang="en-US"/>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78323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12/3/2022</a:t>
            </a:fld>
            <a:endParaRPr lang="en-US"/>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4260369"/>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Lst>
  <p:hf sldNum="0" hdr="0" ftr="0" dt="0"/>
  <p:txStyles>
    <p:titleStyle>
      <a:lvl1pPr algn="l" defTabSz="914400" rtl="0" eaLnBrk="1" latinLnBrk="0" hangingPunct="1">
        <a:lnSpc>
          <a:spcPct val="90000"/>
        </a:lnSpc>
        <a:spcBef>
          <a:spcPct val="0"/>
        </a:spcBef>
        <a:buNone/>
        <a:defRPr sz="53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hyperlink" Target="https://www.talend.com/resources/lean-integration/" TargetMode="External"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20">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9739A1-854A-9D85-763B-4814BAB4F66C}"/>
              </a:ext>
            </a:extLst>
          </p:cNvPr>
          <p:cNvSpPr>
            <a:spLocks noGrp="1"/>
          </p:cNvSpPr>
          <p:nvPr>
            <p:ph type="ctrTitle"/>
          </p:nvPr>
        </p:nvSpPr>
        <p:spPr>
          <a:xfrm>
            <a:off x="648929" y="639097"/>
            <a:ext cx="6253317" cy="3686015"/>
          </a:xfrm>
        </p:spPr>
        <p:txBody>
          <a:bodyPr>
            <a:normAutofit/>
          </a:bodyPr>
          <a:lstStyle/>
          <a:p>
            <a:r>
              <a:rPr lang="en-US" sz="6200"/>
              <a:t>The Study of Lean in Healthcare Systems</a:t>
            </a:r>
          </a:p>
        </p:txBody>
      </p:sp>
      <p:sp>
        <p:nvSpPr>
          <p:cNvPr id="3" name="Subtitle 2">
            <a:extLst>
              <a:ext uri="{FF2B5EF4-FFF2-40B4-BE49-F238E27FC236}">
                <a16:creationId xmlns:a16="http://schemas.microsoft.com/office/drawing/2014/main" id="{4818854E-CABA-DD7D-34CC-8952C1E8AF25}"/>
              </a:ext>
            </a:extLst>
          </p:cNvPr>
          <p:cNvSpPr>
            <a:spLocks noGrp="1"/>
          </p:cNvSpPr>
          <p:nvPr>
            <p:ph type="subTitle" idx="1"/>
          </p:nvPr>
        </p:nvSpPr>
        <p:spPr>
          <a:xfrm>
            <a:off x="632899" y="4672739"/>
            <a:ext cx="6269347" cy="1021498"/>
          </a:xfrm>
        </p:spPr>
        <p:txBody>
          <a:bodyPr>
            <a:normAutofit/>
          </a:bodyPr>
          <a:lstStyle/>
          <a:p>
            <a:pPr>
              <a:lnSpc>
                <a:spcPct val="90000"/>
              </a:lnSpc>
            </a:pPr>
            <a:r>
              <a:rPr lang="en-US" sz="2200">
                <a:solidFill>
                  <a:schemeClr val="tx1">
                    <a:lumMod val="85000"/>
                    <a:lumOff val="15000"/>
                  </a:schemeClr>
                </a:solidFill>
              </a:rPr>
              <a:t>By Andrei Bailes, Anthony Nguyen, Nicholas Ricci, Cody Brewer</a:t>
            </a:r>
          </a:p>
        </p:txBody>
      </p:sp>
      <p:cxnSp>
        <p:nvCxnSpPr>
          <p:cNvPr id="25" name="Straight Connector 22">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6" name="Picture 3" descr="Chart, radar chart&#10;&#10;Description automatically generated">
            <a:extLst>
              <a:ext uri="{FF2B5EF4-FFF2-40B4-BE49-F238E27FC236}">
                <a16:creationId xmlns:a16="http://schemas.microsoft.com/office/drawing/2014/main" id="{5B3F9888-620A-E1DF-414C-7D7D680AA687}"/>
              </a:ext>
            </a:extLst>
          </p:cNvPr>
          <p:cNvPicPr>
            <a:picLocks noChangeAspect="1"/>
          </p:cNvPicPr>
          <p:nvPr/>
        </p:nvPicPr>
        <p:blipFill rotWithShape="1">
          <a:blip r:embed="rId3"/>
          <a:srcRect l="9986" r="46588" b="1"/>
          <a:stretch/>
        </p:blipFill>
        <p:spPr>
          <a:xfrm>
            <a:off x="7556686" y="1"/>
            <a:ext cx="4635315" cy="6857999"/>
          </a:xfrm>
          <a:prstGeom prst="rect">
            <a:avLst/>
          </a:prstGeom>
        </p:spPr>
      </p:pic>
    </p:spTree>
    <p:extLst>
      <p:ext uri="{BB962C8B-B14F-4D97-AF65-F5344CB8AC3E}">
        <p14:creationId xmlns:p14="http://schemas.microsoft.com/office/powerpoint/2010/main" val="2600129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tint val="90000"/>
            <a:shade val="97000"/>
            <a:satMod val="13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58724" y="457200"/>
            <a:ext cx="11274552" cy="59436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D4158C-D9DB-5B88-C687-4AEF5E89261A}"/>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6000">
                <a:solidFill>
                  <a:schemeClr val="tx1">
                    <a:lumMod val="85000"/>
                    <a:lumOff val="15000"/>
                  </a:schemeClr>
                </a:solidFill>
              </a:rPr>
              <a:t>Integrating Lean in Healthcare</a:t>
            </a:r>
          </a:p>
        </p:txBody>
      </p:sp>
      <p:cxnSp>
        <p:nvCxnSpPr>
          <p:cNvPr id="15" name="Straight Connector 14">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329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1459A-EAEA-9674-3501-0B4A8DEC06BE}"/>
              </a:ext>
            </a:extLst>
          </p:cNvPr>
          <p:cNvSpPr>
            <a:spLocks noGrp="1"/>
          </p:cNvSpPr>
          <p:nvPr>
            <p:ph type="title"/>
          </p:nvPr>
        </p:nvSpPr>
        <p:spPr/>
        <p:txBody>
          <a:bodyPr/>
          <a:lstStyle/>
          <a:p>
            <a:r>
              <a:rPr lang="en-US"/>
              <a:t>Top-Down Implementation</a:t>
            </a:r>
          </a:p>
        </p:txBody>
      </p:sp>
      <p:sp>
        <p:nvSpPr>
          <p:cNvPr id="3" name="Content Placeholder 2">
            <a:extLst>
              <a:ext uri="{FF2B5EF4-FFF2-40B4-BE49-F238E27FC236}">
                <a16:creationId xmlns:a16="http://schemas.microsoft.com/office/drawing/2014/main" id="{F9AB7C80-FC3A-6CE6-A6FB-95C32C6EBC49}"/>
              </a:ext>
            </a:extLst>
          </p:cNvPr>
          <p:cNvSpPr>
            <a:spLocks noGrp="1"/>
          </p:cNvSpPr>
          <p:nvPr>
            <p:ph idx="1"/>
          </p:nvPr>
        </p:nvSpPr>
        <p:spPr/>
        <p:txBody>
          <a:bodyPr vert="horz" lIns="0" tIns="45720" rIns="0" bIns="45720" rtlCol="0" anchor="t">
            <a:normAutofit/>
          </a:bodyPr>
          <a:lstStyle/>
          <a:p>
            <a:pPr>
              <a:buFont typeface="Arial" panose="020F0502020204030204" pitchFamily="34" charset="0"/>
              <a:buChar char="•"/>
            </a:pPr>
            <a:r>
              <a:rPr lang="en-US"/>
              <a:t> Higher-Ups in management observe hospital staff in their working environment and takes notes.</a:t>
            </a:r>
          </a:p>
          <a:p>
            <a:pPr>
              <a:buFont typeface="Arial" panose="020F0502020204030204" pitchFamily="34" charset="0"/>
              <a:buChar char="•"/>
            </a:pPr>
            <a:r>
              <a:rPr lang="en-US"/>
              <a:t> As observations are made and compiled together, a team of analysts can study the data and make recommendations to improve any occurring errors. </a:t>
            </a:r>
          </a:p>
          <a:p>
            <a:pPr>
              <a:buFont typeface="Arial" panose="020F0502020204030204" pitchFamily="34" charset="0"/>
              <a:buChar char="•"/>
            </a:pPr>
            <a:r>
              <a:rPr lang="en-US"/>
              <a:t> Management would then create new processes, deploy these processes, receive feedback on these processes and conduct new observations</a:t>
            </a:r>
          </a:p>
          <a:p>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217801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07B64-C793-B08F-295F-6E460F109088}"/>
              </a:ext>
            </a:extLst>
          </p:cNvPr>
          <p:cNvSpPr>
            <a:spLocks noGrp="1"/>
          </p:cNvSpPr>
          <p:nvPr>
            <p:ph type="title"/>
          </p:nvPr>
        </p:nvSpPr>
        <p:spPr/>
        <p:txBody>
          <a:bodyPr>
            <a:normAutofit fontScale="90000"/>
          </a:bodyPr>
          <a:lstStyle/>
          <a:p>
            <a:r>
              <a:rPr lang="en-US"/>
              <a:t>A Culture of Continuous Improvement</a:t>
            </a:r>
          </a:p>
        </p:txBody>
      </p:sp>
      <p:sp>
        <p:nvSpPr>
          <p:cNvPr id="3" name="Content Placeholder 2">
            <a:extLst>
              <a:ext uri="{FF2B5EF4-FFF2-40B4-BE49-F238E27FC236}">
                <a16:creationId xmlns:a16="http://schemas.microsoft.com/office/drawing/2014/main" id="{C0A208CD-6848-66BD-01AB-A63D1E151D63}"/>
              </a:ext>
            </a:extLst>
          </p:cNvPr>
          <p:cNvSpPr>
            <a:spLocks noGrp="1"/>
          </p:cNvSpPr>
          <p:nvPr>
            <p:ph idx="1"/>
          </p:nvPr>
        </p:nvSpPr>
        <p:spPr/>
        <p:txBody>
          <a:bodyPr vert="horz" lIns="0" tIns="45720" rIns="0" bIns="45720" rtlCol="0" anchor="t">
            <a:normAutofit/>
          </a:bodyPr>
          <a:lstStyle/>
          <a:p>
            <a:pPr>
              <a:buFont typeface="Arial" panose="020F0502020204030204" pitchFamily="34" charset="0"/>
              <a:buChar char="•"/>
            </a:pPr>
            <a:r>
              <a:rPr lang="en-US"/>
              <a:t> Management would inform hospital staff of new standardized processes created from the analyzed data </a:t>
            </a:r>
          </a:p>
          <a:p>
            <a:pPr>
              <a:buFont typeface="Arial" panose="020F0502020204030204" pitchFamily="34" charset="0"/>
              <a:buChar char="•"/>
            </a:pPr>
            <a:r>
              <a:rPr lang="en-US"/>
              <a:t> Checklists can be created for staff to follow and reference afterwards to see if they are keeping up with the standard procedures set forth by management. </a:t>
            </a:r>
          </a:p>
          <a:p>
            <a:pPr>
              <a:buFont typeface="Arial" panose="020F0502020204030204" pitchFamily="34" charset="0"/>
              <a:buChar char="•"/>
            </a:pPr>
            <a:r>
              <a:rPr lang="en-US"/>
              <a:t> For Example, a medical advisor in training would use the checklists to ensure they are following the proper procedures as they gain experience in their position. </a:t>
            </a:r>
          </a:p>
        </p:txBody>
      </p:sp>
    </p:spTree>
    <p:extLst>
      <p:ext uri="{BB962C8B-B14F-4D97-AF65-F5344CB8AC3E}">
        <p14:creationId xmlns:p14="http://schemas.microsoft.com/office/powerpoint/2010/main" val="2223814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D1FA-3359-6A26-0C57-7548F5717294}"/>
              </a:ext>
            </a:extLst>
          </p:cNvPr>
          <p:cNvSpPr>
            <a:spLocks noGrp="1"/>
          </p:cNvSpPr>
          <p:nvPr>
            <p:ph type="title"/>
          </p:nvPr>
        </p:nvSpPr>
        <p:spPr/>
        <p:txBody>
          <a:bodyPr/>
          <a:lstStyle/>
          <a:p>
            <a:r>
              <a:rPr lang="en-US"/>
              <a:t>Extra Recommendation </a:t>
            </a:r>
          </a:p>
        </p:txBody>
      </p:sp>
      <p:sp>
        <p:nvSpPr>
          <p:cNvPr id="3" name="Content Placeholder 2">
            <a:extLst>
              <a:ext uri="{FF2B5EF4-FFF2-40B4-BE49-F238E27FC236}">
                <a16:creationId xmlns:a16="http://schemas.microsoft.com/office/drawing/2014/main" id="{A20E54EB-EE4C-9447-48BD-4F5212E0CBB8}"/>
              </a:ext>
            </a:extLst>
          </p:cNvPr>
          <p:cNvSpPr>
            <a:spLocks noGrp="1"/>
          </p:cNvSpPr>
          <p:nvPr>
            <p:ph idx="1"/>
          </p:nvPr>
        </p:nvSpPr>
        <p:spPr/>
        <p:txBody>
          <a:bodyPr vert="horz" lIns="0" tIns="45720" rIns="0" bIns="45720" rtlCol="0" anchor="t">
            <a:normAutofit/>
          </a:bodyPr>
          <a:lstStyle/>
          <a:p>
            <a:pPr>
              <a:buFont typeface="Arial" panose="020F0502020204030204" pitchFamily="34" charset="0"/>
              <a:buChar char="•"/>
            </a:pPr>
            <a:r>
              <a:rPr lang="en-US"/>
              <a:t> Surveillance on high-risk patients that alert staff if there is an emergency. Reducing the response time of medical staff to an emergency. </a:t>
            </a:r>
          </a:p>
          <a:p>
            <a:pPr>
              <a:buFont typeface="Arial" panose="020F0502020204030204" pitchFamily="34" charset="0"/>
              <a:buChar char="•"/>
            </a:pPr>
            <a:r>
              <a:rPr lang="en-US"/>
              <a:t> Hospital staff could act out scenarios with each other in-order-to train themselves to better understand what a patient needs in different situations. This can help improve diagnosis time if staff are more aware of the different the forms patients can present in. </a:t>
            </a:r>
          </a:p>
          <a:p>
            <a:pPr>
              <a:buFont typeface="Arial" panose="020F0502020204030204" pitchFamily="34" charset="0"/>
              <a:buChar char="•"/>
            </a:pPr>
            <a:r>
              <a:rPr lang="en-US"/>
              <a:t> Finding a way to streamline the paperwork patients need to fill out when they come to the ER, reducing the stress on the patient and creating a better experience for them.</a:t>
            </a:r>
          </a:p>
        </p:txBody>
      </p:sp>
    </p:spTree>
    <p:extLst>
      <p:ext uri="{BB962C8B-B14F-4D97-AF65-F5344CB8AC3E}">
        <p14:creationId xmlns:p14="http://schemas.microsoft.com/office/powerpoint/2010/main" val="316907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tint val="90000"/>
            <a:shade val="97000"/>
            <a:satMod val="13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58724" y="457200"/>
            <a:ext cx="11274552" cy="59436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A98F5-ADBA-8119-2FAE-7CF672B9EFB5}"/>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6000">
                <a:solidFill>
                  <a:schemeClr val="tx1">
                    <a:lumMod val="85000"/>
                    <a:lumOff val="15000"/>
                  </a:schemeClr>
                </a:solidFill>
              </a:rPr>
              <a:t>The Importance of Lean Integration in American Healthcare</a:t>
            </a:r>
          </a:p>
        </p:txBody>
      </p:sp>
      <p:cxnSp>
        <p:nvCxnSpPr>
          <p:cNvPr id="15" name="Straight Connector 14">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792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B980D-BA48-21DC-59FE-C66FC7D8E2A8}"/>
              </a:ext>
            </a:extLst>
          </p:cNvPr>
          <p:cNvSpPr>
            <a:spLocks noGrp="1"/>
          </p:cNvSpPr>
          <p:nvPr>
            <p:ph type="title"/>
          </p:nvPr>
        </p:nvSpPr>
        <p:spPr/>
        <p:txBody>
          <a:bodyPr/>
          <a:lstStyle/>
          <a:p>
            <a:r>
              <a:rPr lang="en-US"/>
              <a:t>What is Lean? </a:t>
            </a:r>
          </a:p>
        </p:txBody>
      </p:sp>
      <p:sp>
        <p:nvSpPr>
          <p:cNvPr id="3" name="Content Placeholder 2">
            <a:extLst>
              <a:ext uri="{FF2B5EF4-FFF2-40B4-BE49-F238E27FC236}">
                <a16:creationId xmlns:a16="http://schemas.microsoft.com/office/drawing/2014/main" id="{0FD3D9A2-D5D9-9916-F16F-5318D33AB343}"/>
              </a:ext>
            </a:extLst>
          </p:cNvPr>
          <p:cNvSpPr>
            <a:spLocks noGrp="1"/>
          </p:cNvSpPr>
          <p:nvPr>
            <p:ph idx="1"/>
          </p:nvPr>
        </p:nvSpPr>
        <p:spPr/>
        <p:txBody>
          <a:bodyPr vert="horz" lIns="0" tIns="45720" rIns="0" bIns="45720" rtlCol="0" anchor="t">
            <a:normAutofit/>
          </a:bodyPr>
          <a:lstStyle/>
          <a:p>
            <a:r>
              <a:rPr lang="en-US"/>
              <a:t>Lean is formulated to reduce wastefulness in a process by standardization and other principals</a:t>
            </a:r>
          </a:p>
          <a:p>
            <a:r>
              <a:rPr lang="en-US"/>
              <a:t>This encourages a culture of sustainability and growth</a:t>
            </a:r>
          </a:p>
          <a:p>
            <a:r>
              <a:rPr lang="en-US"/>
              <a:t>This leads to a continuous reduction in errors that occur in processes.</a:t>
            </a:r>
          </a:p>
          <a:p>
            <a:endParaRPr lang="en-US"/>
          </a:p>
          <a:p>
            <a:endParaRPr lang="en-US"/>
          </a:p>
          <a:p>
            <a:endParaRPr lang="en-US"/>
          </a:p>
        </p:txBody>
      </p:sp>
    </p:spTree>
    <p:extLst>
      <p:ext uri="{BB962C8B-B14F-4D97-AF65-F5344CB8AC3E}">
        <p14:creationId xmlns:p14="http://schemas.microsoft.com/office/powerpoint/2010/main" val="806769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815-5197-9BF2-B960-69AEC8F2B9AB}"/>
              </a:ext>
            </a:extLst>
          </p:cNvPr>
          <p:cNvSpPr>
            <a:spLocks noGrp="1"/>
          </p:cNvSpPr>
          <p:nvPr>
            <p:ph type="title"/>
          </p:nvPr>
        </p:nvSpPr>
        <p:spPr/>
        <p:txBody>
          <a:bodyPr/>
          <a:lstStyle/>
          <a:p>
            <a:r>
              <a:rPr lang="en-US"/>
              <a:t>Why is Lean Important in Healthcare</a:t>
            </a:r>
          </a:p>
        </p:txBody>
      </p:sp>
      <p:sp>
        <p:nvSpPr>
          <p:cNvPr id="3" name="Content Placeholder 2">
            <a:extLst>
              <a:ext uri="{FF2B5EF4-FFF2-40B4-BE49-F238E27FC236}">
                <a16:creationId xmlns:a16="http://schemas.microsoft.com/office/drawing/2014/main" id="{F725846D-D631-99E1-4894-3150A7067D6A}"/>
              </a:ext>
            </a:extLst>
          </p:cNvPr>
          <p:cNvSpPr>
            <a:spLocks noGrp="1"/>
          </p:cNvSpPr>
          <p:nvPr>
            <p:ph idx="1"/>
          </p:nvPr>
        </p:nvSpPr>
        <p:spPr/>
        <p:txBody>
          <a:bodyPr vert="horz" lIns="0" tIns="45720" rIns="0" bIns="45720" rtlCol="0" anchor="t">
            <a:normAutofit fontScale="92500"/>
          </a:bodyPr>
          <a:lstStyle/>
          <a:p>
            <a:r>
              <a:rPr lang="en-US"/>
              <a:t>Processes that are too long or complex or that haven't been reviewed can contain wasteful or redundant tasks</a:t>
            </a:r>
          </a:p>
          <a:p>
            <a:r>
              <a:rPr lang="en-US"/>
              <a:t>These wastes can delay life-saving treatments for patients</a:t>
            </a:r>
          </a:p>
          <a:p>
            <a:r>
              <a:rPr lang="en-US"/>
              <a:t>Lean identifies these wastes and works to eliminate them through a variety of methods</a:t>
            </a:r>
          </a:p>
          <a:p>
            <a:r>
              <a:rPr lang="en-US"/>
              <a:t>With these wastes eliminated hospitals can provide better, more efficient, treatments leading to better patient outcomes and higher overall satisfaction </a:t>
            </a:r>
          </a:p>
          <a:p>
            <a:r>
              <a:rPr lang="en-US"/>
              <a:t>Higher satisfaction means patients will return to the hospital when they are sick or injured </a:t>
            </a:r>
          </a:p>
        </p:txBody>
      </p:sp>
    </p:spTree>
    <p:extLst>
      <p:ext uri="{BB962C8B-B14F-4D97-AF65-F5344CB8AC3E}">
        <p14:creationId xmlns:p14="http://schemas.microsoft.com/office/powerpoint/2010/main" val="2035169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tint val="90000"/>
            <a:shade val="97000"/>
            <a:satMod val="13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58724" y="457200"/>
            <a:ext cx="11274552" cy="59436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A98F5-ADBA-8119-2FAE-7CF672B9EFB5}"/>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6000">
                <a:solidFill>
                  <a:schemeClr val="tx1">
                    <a:lumMod val="85000"/>
                    <a:lumOff val="15000"/>
                  </a:schemeClr>
                </a:solidFill>
              </a:rPr>
              <a:t>Process Mapping</a:t>
            </a:r>
            <a:endParaRPr lang="en-US"/>
          </a:p>
        </p:txBody>
      </p:sp>
      <p:cxnSp>
        <p:nvCxnSpPr>
          <p:cNvPr id="15" name="Straight Connector 14">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832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0">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9" name="Rectangle 12">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62105E-7895-DA7D-3AF0-10762DDD8063}"/>
              </a:ext>
            </a:extLst>
          </p:cNvPr>
          <p:cNvSpPr>
            <a:spLocks noGrp="1"/>
          </p:cNvSpPr>
          <p:nvPr>
            <p:ph type="title"/>
          </p:nvPr>
        </p:nvSpPr>
        <p:spPr>
          <a:xfrm>
            <a:off x="8104324" y="775733"/>
            <a:ext cx="3401961" cy="3494790"/>
          </a:xfrm>
        </p:spPr>
        <p:txBody>
          <a:bodyPr vert="horz" lIns="91440" tIns="45720" rIns="91440" bIns="45720" rtlCol="0" anchor="b">
            <a:normAutofit fontScale="90000"/>
          </a:bodyPr>
          <a:lstStyle/>
          <a:p>
            <a:r>
              <a:rPr lang="en-US" sz="5400">
                <a:solidFill>
                  <a:schemeClr val="tx1">
                    <a:lumMod val="85000"/>
                    <a:lumOff val="15000"/>
                  </a:schemeClr>
                </a:solidFill>
              </a:rPr>
              <a:t>Process Map for a Patient Entering the Emergency Room</a:t>
            </a:r>
          </a:p>
        </p:txBody>
      </p:sp>
      <p:cxnSp>
        <p:nvCxnSpPr>
          <p:cNvPr id="20" name="Straight Connector 14">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6" descr="Diagram&#10;&#10;Description automatically generated">
            <a:extLst>
              <a:ext uri="{FF2B5EF4-FFF2-40B4-BE49-F238E27FC236}">
                <a16:creationId xmlns:a16="http://schemas.microsoft.com/office/drawing/2014/main" id="{4D85AF91-7324-445F-AFE2-22B5A7A21857}"/>
              </a:ext>
            </a:extLst>
          </p:cNvPr>
          <p:cNvPicPr>
            <a:picLocks noGrp="1" noChangeAspect="1"/>
          </p:cNvPicPr>
          <p:nvPr>
            <p:ph idx="1"/>
          </p:nvPr>
        </p:nvPicPr>
        <p:blipFill>
          <a:blip r:embed="rId3"/>
          <a:stretch>
            <a:fillRect/>
          </a:stretch>
        </p:blipFill>
        <p:spPr>
          <a:xfrm>
            <a:off x="486683" y="846960"/>
            <a:ext cx="7501124" cy="4344215"/>
          </a:xfrm>
        </p:spPr>
      </p:pic>
    </p:spTree>
    <p:extLst>
      <p:ext uri="{BB962C8B-B14F-4D97-AF65-F5344CB8AC3E}">
        <p14:creationId xmlns:p14="http://schemas.microsoft.com/office/powerpoint/2010/main" val="412410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5270-97AC-897C-4277-3705D921299C}"/>
              </a:ext>
            </a:extLst>
          </p:cNvPr>
          <p:cNvSpPr>
            <a:spLocks noGrp="1"/>
          </p:cNvSpPr>
          <p:nvPr>
            <p:ph type="title"/>
          </p:nvPr>
        </p:nvSpPr>
        <p:spPr/>
        <p:txBody>
          <a:bodyPr>
            <a:normAutofit fontScale="90000"/>
          </a:bodyPr>
          <a:lstStyle/>
          <a:p>
            <a:r>
              <a:rPr lang="en-US"/>
              <a:t>The Inputs, Outputs, and Main Process</a:t>
            </a:r>
          </a:p>
        </p:txBody>
      </p:sp>
      <p:sp>
        <p:nvSpPr>
          <p:cNvPr id="3" name="Content Placeholder 2">
            <a:extLst>
              <a:ext uri="{FF2B5EF4-FFF2-40B4-BE49-F238E27FC236}">
                <a16:creationId xmlns:a16="http://schemas.microsoft.com/office/drawing/2014/main" id="{A5EBA10B-A5FE-AB72-A609-8713DAEC6CA3}"/>
              </a:ext>
            </a:extLst>
          </p:cNvPr>
          <p:cNvSpPr>
            <a:spLocks noGrp="1"/>
          </p:cNvSpPr>
          <p:nvPr>
            <p:ph idx="1"/>
          </p:nvPr>
        </p:nvSpPr>
        <p:spPr/>
        <p:txBody>
          <a:bodyPr vert="horz" lIns="0" tIns="45720" rIns="0" bIns="45720" rtlCol="0" anchor="t">
            <a:normAutofit/>
          </a:bodyPr>
          <a:lstStyle/>
          <a:p>
            <a:r>
              <a:rPr lang="en-US"/>
              <a:t>Inputs = Patient Arrival </a:t>
            </a:r>
          </a:p>
          <a:p>
            <a:r>
              <a:rPr lang="en-US"/>
              <a:t>Process = Case is generated -&gt; Patient is moved to a room -&gt; Physician is assigned to the case -&gt; Patient is diagnosed -&gt; Prescription is ordered, or surgery is scheduled -&gt; Medication is administered, or surgery is conducted -&gt; Patient is monitored  </a:t>
            </a:r>
          </a:p>
          <a:p>
            <a:r>
              <a:rPr lang="en-US"/>
              <a:t>Output = </a:t>
            </a:r>
            <a:r>
              <a:rPr lang="en-US">
                <a:ea typeface="+mn-lt"/>
                <a:cs typeface="+mn-lt"/>
              </a:rPr>
              <a:t>Bill and discharge notes are generated -&gt;</a:t>
            </a:r>
            <a:r>
              <a:rPr lang="en-US"/>
              <a:t>Patient is billed and discharged</a:t>
            </a:r>
          </a:p>
        </p:txBody>
      </p:sp>
    </p:spTree>
    <p:extLst>
      <p:ext uri="{BB962C8B-B14F-4D97-AF65-F5344CB8AC3E}">
        <p14:creationId xmlns:p14="http://schemas.microsoft.com/office/powerpoint/2010/main" val="161167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tint val="90000"/>
            <a:shade val="97000"/>
            <a:satMod val="13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58724" y="457200"/>
            <a:ext cx="11274552" cy="59436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FD586C-70EE-89EB-E63A-50282AF06D09}"/>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5600">
                <a:solidFill>
                  <a:schemeClr val="tx1">
                    <a:lumMod val="85000"/>
                    <a:lumOff val="15000"/>
                  </a:schemeClr>
                </a:solidFill>
              </a:rPr>
              <a:t>DMAIC Interpretation </a:t>
            </a:r>
          </a:p>
        </p:txBody>
      </p:sp>
      <p:cxnSp>
        <p:nvCxnSpPr>
          <p:cNvPr id="15" name="Straight Connector 14">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07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E08FE-3B71-D6F1-B83C-ACFD7508873D}"/>
              </a:ext>
            </a:extLst>
          </p:cNvPr>
          <p:cNvSpPr>
            <a:spLocks noGrp="1"/>
          </p:cNvSpPr>
          <p:nvPr>
            <p:ph type="title"/>
          </p:nvPr>
        </p:nvSpPr>
        <p:spPr/>
        <p:txBody>
          <a:bodyPr/>
          <a:lstStyle/>
          <a:p>
            <a:r>
              <a:rPr lang="en-US"/>
              <a:t>General DMAIC Process</a:t>
            </a:r>
          </a:p>
        </p:txBody>
      </p:sp>
      <p:sp>
        <p:nvSpPr>
          <p:cNvPr id="3" name="Content Placeholder 2">
            <a:extLst>
              <a:ext uri="{FF2B5EF4-FFF2-40B4-BE49-F238E27FC236}">
                <a16:creationId xmlns:a16="http://schemas.microsoft.com/office/drawing/2014/main" id="{D5560CB5-9164-FE56-A5CF-3E7B602F27E1}"/>
              </a:ext>
            </a:extLst>
          </p:cNvPr>
          <p:cNvSpPr>
            <a:spLocks noGrp="1"/>
          </p:cNvSpPr>
          <p:nvPr>
            <p:ph idx="1"/>
          </p:nvPr>
        </p:nvSpPr>
        <p:spPr/>
        <p:txBody>
          <a:bodyPr vert="horz" lIns="0" tIns="45720" rIns="0" bIns="45720" rtlCol="0" anchor="t">
            <a:normAutofit/>
          </a:bodyPr>
          <a:lstStyle/>
          <a:p>
            <a:r>
              <a:rPr lang="en-US"/>
              <a:t>D – Define the problems that is occurring in the healthcare system</a:t>
            </a:r>
          </a:p>
          <a:p>
            <a:r>
              <a:rPr lang="en-US"/>
              <a:t>M – Measure the waste in the healthcare system in terms of numerical data</a:t>
            </a:r>
          </a:p>
          <a:p>
            <a:r>
              <a:rPr lang="en-US"/>
              <a:t>A – Analyze the data to generate better hypotheses on why the errors are happening in the healthcare</a:t>
            </a:r>
          </a:p>
          <a:p>
            <a:r>
              <a:rPr lang="en-US"/>
              <a:t>I – Improve the healthcare process after the analysis of the data</a:t>
            </a:r>
          </a:p>
          <a:p>
            <a:r>
              <a:rPr lang="en-US"/>
              <a:t>C – Control the process to ensure continuous improvement in the healthcare system</a:t>
            </a:r>
          </a:p>
          <a:p>
            <a:pPr marL="0" indent="0">
              <a:buNone/>
            </a:pPr>
            <a:endParaRPr lang="en-US"/>
          </a:p>
          <a:p>
            <a:endParaRPr lang="en-US"/>
          </a:p>
        </p:txBody>
      </p:sp>
    </p:spTree>
    <p:extLst>
      <p:ext uri="{BB962C8B-B14F-4D97-AF65-F5344CB8AC3E}">
        <p14:creationId xmlns:p14="http://schemas.microsoft.com/office/powerpoint/2010/main" val="40195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B49A-E8A6-D58B-EA16-B8A512E67C1E}"/>
              </a:ext>
            </a:extLst>
          </p:cNvPr>
          <p:cNvSpPr>
            <a:spLocks noGrp="1"/>
          </p:cNvSpPr>
          <p:nvPr>
            <p:ph type="title"/>
          </p:nvPr>
        </p:nvSpPr>
        <p:spPr/>
        <p:txBody>
          <a:bodyPr/>
          <a:lstStyle/>
          <a:p>
            <a:r>
              <a:rPr lang="en-US">
                <a:ea typeface="+mj-lt"/>
                <a:cs typeface="+mj-lt"/>
              </a:rPr>
              <a:t>DMAIC For Long Wait Time</a:t>
            </a:r>
            <a:endParaRPr lang="en-US"/>
          </a:p>
        </p:txBody>
      </p:sp>
      <p:sp>
        <p:nvSpPr>
          <p:cNvPr id="3" name="Content Placeholder 2">
            <a:extLst>
              <a:ext uri="{FF2B5EF4-FFF2-40B4-BE49-F238E27FC236}">
                <a16:creationId xmlns:a16="http://schemas.microsoft.com/office/drawing/2014/main" id="{BC325FF6-975E-B5B8-BB50-227DDFC3152E}"/>
              </a:ext>
            </a:extLst>
          </p:cNvPr>
          <p:cNvSpPr>
            <a:spLocks noGrp="1"/>
          </p:cNvSpPr>
          <p:nvPr>
            <p:ph idx="1"/>
          </p:nvPr>
        </p:nvSpPr>
        <p:spPr/>
        <p:txBody>
          <a:bodyPr vert="horz" lIns="0" tIns="45720" rIns="0" bIns="45720" rtlCol="0" anchor="t">
            <a:normAutofit/>
          </a:bodyPr>
          <a:lstStyle/>
          <a:p>
            <a:r>
              <a:rPr lang="en-US">
                <a:ea typeface="+mn-lt"/>
                <a:cs typeface="+mn-lt"/>
              </a:rPr>
              <a:t>D – There is excessive wait time in the healthcare system</a:t>
            </a:r>
          </a:p>
          <a:p>
            <a:r>
              <a:rPr lang="en-US">
                <a:ea typeface="+mn-lt"/>
                <a:cs typeface="+mn-lt"/>
              </a:rPr>
              <a:t>M – The average wait time for a consultation was 112 minutes</a:t>
            </a:r>
          </a:p>
          <a:p>
            <a:r>
              <a:rPr lang="en-US">
                <a:ea typeface="+mn-lt"/>
                <a:cs typeface="+mn-lt"/>
              </a:rPr>
              <a:t>A – Out of the total patient time, approximately one-half is spent waiting with consultation taking up most of the waiting time</a:t>
            </a:r>
          </a:p>
          <a:p>
            <a:r>
              <a:rPr lang="en-US">
                <a:ea typeface="+mn-lt"/>
                <a:cs typeface="+mn-lt"/>
              </a:rPr>
              <a:t>I – Create a color code for each patient for the responsible physician and training the physician to identify their own patients with colored dots</a:t>
            </a:r>
          </a:p>
          <a:p>
            <a:r>
              <a:rPr lang="en-US">
                <a:ea typeface="+mn-lt"/>
                <a:cs typeface="+mn-lt"/>
              </a:rPr>
              <a:t>C – Have periodic tests and another DMIAC review of the system to ensure that the new process is functioning to standard</a:t>
            </a:r>
            <a:endParaRPr lang="en-US"/>
          </a:p>
        </p:txBody>
      </p:sp>
    </p:spTree>
    <p:extLst>
      <p:ext uri="{BB962C8B-B14F-4D97-AF65-F5344CB8AC3E}">
        <p14:creationId xmlns:p14="http://schemas.microsoft.com/office/powerpoint/2010/main" val="2260187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tint val="90000"/>
            <a:shade val="97000"/>
            <a:satMod val="13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58724" y="457200"/>
            <a:ext cx="11274552" cy="59436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309EC3-5E6E-18A6-D352-E8A8EC71933B}"/>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6000">
                <a:solidFill>
                  <a:schemeClr val="tx1">
                    <a:lumMod val="85000"/>
                    <a:lumOff val="15000"/>
                  </a:schemeClr>
                </a:solidFill>
              </a:rPr>
              <a:t>Chosen Effective Principle </a:t>
            </a:r>
          </a:p>
        </p:txBody>
      </p:sp>
      <p:cxnSp>
        <p:nvCxnSpPr>
          <p:cNvPr id="15" name="Straight Connector 14">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5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1B06C-A935-20F3-D3F8-D5159E98FBF2}"/>
              </a:ext>
            </a:extLst>
          </p:cNvPr>
          <p:cNvSpPr>
            <a:spLocks noGrp="1"/>
          </p:cNvSpPr>
          <p:nvPr>
            <p:ph type="title"/>
          </p:nvPr>
        </p:nvSpPr>
        <p:spPr/>
        <p:txBody>
          <a:bodyPr/>
          <a:lstStyle/>
          <a:p>
            <a:r>
              <a:rPr lang="en-US"/>
              <a:t>Toyota Principle #12</a:t>
            </a:r>
          </a:p>
        </p:txBody>
      </p:sp>
      <p:sp>
        <p:nvSpPr>
          <p:cNvPr id="3" name="Content Placeholder 2">
            <a:extLst>
              <a:ext uri="{FF2B5EF4-FFF2-40B4-BE49-F238E27FC236}">
                <a16:creationId xmlns:a16="http://schemas.microsoft.com/office/drawing/2014/main" id="{99987600-1EBA-C4FD-94BB-89642D0B4F81}"/>
              </a:ext>
            </a:extLst>
          </p:cNvPr>
          <p:cNvSpPr>
            <a:spLocks noGrp="1"/>
          </p:cNvSpPr>
          <p:nvPr>
            <p:ph idx="1"/>
          </p:nvPr>
        </p:nvSpPr>
        <p:spPr/>
        <p:txBody>
          <a:bodyPr vert="horz" lIns="0" tIns="45720" rIns="0" bIns="45720" rtlCol="0" anchor="t">
            <a:normAutofit/>
          </a:bodyPr>
          <a:lstStyle/>
          <a:p>
            <a:r>
              <a:rPr lang="en-US" sz="3600"/>
              <a:t>"Go and see for yourself to thoroughly understand the situation." Known as '</a:t>
            </a:r>
            <a:r>
              <a:rPr lang="en-US" sz="3600" err="1"/>
              <a:t>Genchi</a:t>
            </a:r>
            <a:r>
              <a:rPr lang="en-US" sz="3600"/>
              <a:t> </a:t>
            </a:r>
            <a:r>
              <a:rPr lang="en-US" sz="3600" err="1"/>
              <a:t>Genbitsu</a:t>
            </a:r>
            <a:r>
              <a:rPr lang="en-US" sz="3600"/>
              <a:t>’</a:t>
            </a:r>
          </a:p>
          <a:p>
            <a:endParaRPr lang="en-US" sz="3600"/>
          </a:p>
          <a:p>
            <a:pPr marL="0" indent="0">
              <a:buNone/>
            </a:pPr>
            <a:endParaRPr lang="en-US" sz="3600"/>
          </a:p>
        </p:txBody>
      </p:sp>
    </p:spTree>
    <p:extLst>
      <p:ext uri="{BB962C8B-B14F-4D97-AF65-F5344CB8AC3E}">
        <p14:creationId xmlns:p14="http://schemas.microsoft.com/office/powerpoint/2010/main" val="4070940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F61B-0B9E-661B-D275-58A9F016726D}"/>
              </a:ext>
            </a:extLst>
          </p:cNvPr>
          <p:cNvSpPr>
            <a:spLocks noGrp="1"/>
          </p:cNvSpPr>
          <p:nvPr>
            <p:ph type="title"/>
          </p:nvPr>
        </p:nvSpPr>
        <p:spPr/>
        <p:txBody>
          <a:bodyPr/>
          <a:lstStyle/>
          <a:p>
            <a:r>
              <a:rPr lang="en-US"/>
              <a:t>Why Principle 12 is Important</a:t>
            </a:r>
          </a:p>
        </p:txBody>
      </p:sp>
      <p:sp>
        <p:nvSpPr>
          <p:cNvPr id="3" name="Content Placeholder 2">
            <a:extLst>
              <a:ext uri="{FF2B5EF4-FFF2-40B4-BE49-F238E27FC236}">
                <a16:creationId xmlns:a16="http://schemas.microsoft.com/office/drawing/2014/main" id="{B8D6497A-CCC2-DDA5-16CA-48C38FD47D78}"/>
              </a:ext>
            </a:extLst>
          </p:cNvPr>
          <p:cNvSpPr>
            <a:spLocks noGrp="1"/>
          </p:cNvSpPr>
          <p:nvPr>
            <p:ph idx="1"/>
          </p:nvPr>
        </p:nvSpPr>
        <p:spPr/>
        <p:txBody>
          <a:bodyPr vert="horz" lIns="0" tIns="45720" rIns="0" bIns="45720" rtlCol="0" anchor="t">
            <a:normAutofit/>
          </a:bodyPr>
          <a:lstStyle/>
          <a:p>
            <a:r>
              <a:rPr lang="en-US">
                <a:ea typeface="+mn-lt"/>
                <a:cs typeface="+mn-lt"/>
              </a:rPr>
              <a:t>It allows observers to see where the mistakes and wastes in a process are and gives them a better understanding of the possible causes. </a:t>
            </a:r>
            <a:endParaRPr lang="en-US"/>
          </a:p>
          <a:p>
            <a:r>
              <a:rPr lang="en-US">
                <a:ea typeface="+mn-lt"/>
                <a:cs typeface="+mn-lt"/>
              </a:rPr>
              <a:t>It is effective because workers can gain a much better understanding of how the process works by seeing it with their own eyes compared to just being told about it.</a:t>
            </a:r>
          </a:p>
          <a:p>
            <a:r>
              <a:rPr lang="en-US">
                <a:ea typeface="+mn-lt"/>
                <a:cs typeface="+mn-lt"/>
              </a:rPr>
              <a:t>Continuous improvement can be implemented on a regular basis and the root cause of the errors will be better identified.</a:t>
            </a:r>
          </a:p>
          <a:p>
            <a:endParaRPr lang="en-US">
              <a:ea typeface="+mn-lt"/>
              <a:cs typeface="+mn-lt"/>
            </a:endParaRPr>
          </a:p>
        </p:txBody>
      </p:sp>
    </p:spTree>
    <p:extLst>
      <p:ext uri="{BB962C8B-B14F-4D97-AF65-F5344CB8AC3E}">
        <p14:creationId xmlns:p14="http://schemas.microsoft.com/office/powerpoint/2010/main" val="1312945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7D09F-F0D6-D499-93E2-C78A755674A5}"/>
              </a:ext>
            </a:extLst>
          </p:cNvPr>
          <p:cNvSpPr>
            <a:spLocks noGrp="1"/>
          </p:cNvSpPr>
          <p:nvPr>
            <p:ph type="title"/>
          </p:nvPr>
        </p:nvSpPr>
        <p:spPr/>
        <p:txBody>
          <a:bodyPr/>
          <a:lstStyle/>
          <a:p>
            <a:pPr algn="ctr"/>
            <a:r>
              <a:rPr lang="en-US" i="1"/>
              <a:t>References</a:t>
            </a:r>
          </a:p>
        </p:txBody>
      </p:sp>
      <p:sp>
        <p:nvSpPr>
          <p:cNvPr id="3" name="Content Placeholder 2">
            <a:extLst>
              <a:ext uri="{FF2B5EF4-FFF2-40B4-BE49-F238E27FC236}">
                <a16:creationId xmlns:a16="http://schemas.microsoft.com/office/drawing/2014/main" id="{20ED8BAF-861F-1037-A22B-8EFCB7D26ED5}"/>
              </a:ext>
            </a:extLst>
          </p:cNvPr>
          <p:cNvSpPr>
            <a:spLocks noGrp="1"/>
          </p:cNvSpPr>
          <p:nvPr>
            <p:ph sz="half" idx="1"/>
          </p:nvPr>
        </p:nvSpPr>
        <p:spPr>
          <a:xfrm>
            <a:off x="1097280" y="2120900"/>
            <a:ext cx="10058400" cy="3748193"/>
          </a:xfrm>
        </p:spPr>
        <p:txBody>
          <a:bodyPr vert="horz" lIns="0" tIns="45720" rIns="0" bIns="45720" rtlCol="0" anchor="t">
            <a:noAutofit/>
          </a:bodyPr>
          <a:lstStyle/>
          <a:p>
            <a:r>
              <a:rPr lang="en-US" sz="1600">
                <a:ea typeface="+mn-lt"/>
                <a:cs typeface="+mn-lt"/>
              </a:rPr>
              <a:t>Sasha Evdokimov RT(N)(CT), personal communication, Nov. 19, 2022</a:t>
            </a:r>
          </a:p>
          <a:p>
            <a:r>
              <a:rPr lang="en-US" sz="1600">
                <a:ea typeface="+mn-lt"/>
                <a:cs typeface="+mn-lt"/>
              </a:rPr>
              <a:t>Sisson, J. and </a:t>
            </a:r>
            <a:r>
              <a:rPr lang="en-US" sz="1600" err="1">
                <a:ea typeface="+mn-lt"/>
                <a:cs typeface="+mn-lt"/>
              </a:rPr>
              <a:t>Elshennawy</a:t>
            </a:r>
            <a:r>
              <a:rPr lang="en-US" sz="1600">
                <a:ea typeface="+mn-lt"/>
                <a:cs typeface="+mn-lt"/>
              </a:rPr>
              <a:t>, A. (2015), "Achieving success with Lean: An analysis of key factors in Lean transformation at Toyota and beyond", International Journal of Lean Six Sigma, Vol. 6 No. 3, pp. 263-280.</a:t>
            </a:r>
          </a:p>
          <a:p>
            <a:r>
              <a:rPr lang="en-US" sz="1600"/>
              <a:t>GoLeanSixSigma.com. (2020, October 29). DMAIC – The 5 Phases of Lean Six Sigma. Retrieved November 9, 2022, from https://goleansixsigma.com/dmaic-five-basic-phases-of-lean-six-sigma/</a:t>
            </a:r>
          </a:p>
          <a:p>
            <a:r>
              <a:rPr lang="en-US" sz="1600"/>
              <a:t>Camp, R. (2016, July 4). Toyota Principle #12: Go and See. Getting to Lean. Retrieved November 10, 2022, from http://gettingtolean.com/toyota-principle-12-go-and-see/</a:t>
            </a:r>
          </a:p>
          <a:p>
            <a:r>
              <a:rPr lang="en-US" sz="1600"/>
              <a:t>Virginia Mason Institute. (2022, January 27). What Is Lean Healthcare? Virginia Mason </a:t>
            </a:r>
            <a:r>
              <a:rPr lang="en-US" sz="1600" err="1"/>
              <a:t>InstituteTM</a:t>
            </a:r>
            <a:r>
              <a:rPr lang="en-US" sz="1600"/>
              <a:t>. Retrieved November 10, 2022, from https://www.virginiamasoninstitute.org/what-is-lean-health-care/</a:t>
            </a:r>
          </a:p>
          <a:p>
            <a:r>
              <a:rPr lang="en-US" sz="1600"/>
              <a:t>Talend. (n.d.). Lean Integration: What it is and Where it’s Going | Talend. Talend - a Leader in Data Integration &amp; Data Integrity. Retrieved November 11, 2022, from </a:t>
            </a:r>
            <a:r>
              <a:rPr lang="en-US" sz="1600">
                <a:hlinkClick r:id="rId2"/>
              </a:rPr>
              <a:t>https://www.talend.com/resources/lean-integration/</a:t>
            </a:r>
            <a:endParaRPr lang="en-US" sz="1600"/>
          </a:p>
          <a:p>
            <a:endParaRPr lang="en-US" sz="1200"/>
          </a:p>
          <a:p>
            <a:endParaRPr lang="en-US" sz="1200"/>
          </a:p>
          <a:p>
            <a:endParaRPr lang="en-US" sz="1200"/>
          </a:p>
        </p:txBody>
      </p:sp>
    </p:spTree>
    <p:extLst>
      <p:ext uri="{BB962C8B-B14F-4D97-AF65-F5344CB8AC3E}">
        <p14:creationId xmlns:p14="http://schemas.microsoft.com/office/powerpoint/2010/main" val="30430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VTI">
  <a:themeElements>
    <a:clrScheme name="AnalogousFromLightSeed_2SEEDS">
      <a:dk1>
        <a:srgbClr val="000000"/>
      </a:dk1>
      <a:lt1>
        <a:srgbClr val="FFFFFF"/>
      </a:lt1>
      <a:dk2>
        <a:srgbClr val="393220"/>
      </a:dk2>
      <a:lt2>
        <a:srgbClr val="E2E4E8"/>
      </a:lt2>
      <a:accent1>
        <a:srgbClr val="B5A065"/>
      </a:accent1>
      <a:accent2>
        <a:srgbClr val="CC9479"/>
      </a:accent2>
      <a:accent3>
        <a:srgbClr val="9DA66D"/>
      </a:accent3>
      <a:accent4>
        <a:srgbClr val="62AFA0"/>
      </a:accent4>
      <a:accent5>
        <a:srgbClr val="62ACC1"/>
      </a:accent5>
      <a:accent6>
        <a:srgbClr val="7090C9"/>
      </a:accent6>
      <a:hlink>
        <a:srgbClr val="697BAE"/>
      </a:hlink>
      <a:folHlink>
        <a:srgbClr val="7F7F7F"/>
      </a:folHlink>
    </a:clrScheme>
    <a:fontScheme name="Retrospect">
      <a:majorFont>
        <a:latin typeface="Garamon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5</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RetrospectVTI</vt:lpstr>
      <vt:lpstr>The Study of Lean in Healthcare Systems</vt:lpstr>
      <vt:lpstr>Integrating Lean in Healthcare</vt:lpstr>
      <vt:lpstr>Top-Down Implementation</vt:lpstr>
      <vt:lpstr>A Culture of Continuous Improvement</vt:lpstr>
      <vt:lpstr>Extra Recommendation </vt:lpstr>
      <vt:lpstr>The Importance of Lean Integration in American Healthcare</vt:lpstr>
      <vt:lpstr>What is Lean? </vt:lpstr>
      <vt:lpstr>Why is Lean Important in Healthcare</vt:lpstr>
      <vt:lpstr>Process Mapping</vt:lpstr>
      <vt:lpstr>Process Map for a Patient Entering the Emergency Room</vt:lpstr>
      <vt:lpstr>The Inputs, Outputs, and Main Process</vt:lpstr>
      <vt:lpstr>DMAIC Interpretation </vt:lpstr>
      <vt:lpstr>General DMAIC Process</vt:lpstr>
      <vt:lpstr>DMAIC For Long Wait Time</vt:lpstr>
      <vt:lpstr>Chosen Effective Principle </vt:lpstr>
      <vt:lpstr>Toyota Principle #12</vt:lpstr>
      <vt:lpstr>Why Principle 12 is Important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Nicholas Ricci</cp:lastModifiedBy>
  <cp:revision>17</cp:revision>
  <dcterms:created xsi:type="dcterms:W3CDTF">2022-11-02T14:44:10Z</dcterms:created>
  <dcterms:modified xsi:type="dcterms:W3CDTF">2022-12-03T21:44:59Z</dcterms:modified>
</cp:coreProperties>
</file>