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2" r:id="rId6"/>
    <p:sldId id="300" r:id="rId7"/>
    <p:sldId id="258" r:id="rId8"/>
    <p:sldId id="270" r:id="rId9"/>
    <p:sldId id="259" r:id="rId10"/>
    <p:sldId id="271" r:id="rId11"/>
    <p:sldId id="263" r:id="rId12"/>
    <p:sldId id="275" r:id="rId13"/>
    <p:sldId id="277" r:id="rId14"/>
    <p:sldId id="279" r:id="rId15"/>
    <p:sldId id="281" r:id="rId16"/>
    <p:sldId id="283" r:id="rId17"/>
    <p:sldId id="285" r:id="rId18"/>
    <p:sldId id="301" r:id="rId19"/>
    <p:sldId id="302" r:id="rId20"/>
    <p:sldId id="293" r:id="rId21"/>
    <p:sldId id="294" r:id="rId22"/>
    <p:sldId id="299" r:id="rId23"/>
    <p:sldId id="295" r:id="rId24"/>
    <p:sldId id="296" r:id="rId25"/>
    <p:sldId id="291" r:id="rId26"/>
    <p:sldId id="29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8F2D6-AE8D-4630-8916-AB6B2AA55544}" v="137" dt="2024-10-25T21:55:33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7437-7F8F-B1B9-1004-E21DF97F7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FFE38-E124-B4BF-016C-143CD91D5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EAB9C-9A5A-6076-1EF9-1EB5A567F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C7894-5C41-C935-81E6-EE280EFC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3BD1-60EA-8D19-6012-1031C629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6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3DB3-B7EB-176D-C03E-037DFCCD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4F3FD-49A5-E642-DBA9-651B19FA6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D856B-255F-7497-270B-D0F8E495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7861-6C09-97FE-E587-0B583544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489E5-346F-0214-1B9B-9F19B46C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4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C544-5E3B-1BF4-D559-D71667BEF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CDC22-A054-96D3-AF74-597E75E2D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BB2AE-9A1C-BFD6-0E79-A619D9E5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03209-A2D8-3E37-2B43-83703A8F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A3F54-F8CE-1168-2738-06688D9B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7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46E0-AA90-7A3A-682F-85199C51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C198-8535-0ECA-59BD-B57E27883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2C2CF-862B-CFCD-9C60-D7786C9A1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6F84F-4D42-8D78-86C0-8A40A11D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116E2-C2B2-4358-DC32-9F2064F4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2492F-7249-C666-4FF6-3D20DEC2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4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864D-E0BC-7A83-5E8A-9E14AA9F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B287F-058D-E7BB-B731-321BD0BC9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36C5-98F3-DB6C-5F97-280FAF7CF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93F8F-A14D-5649-6690-53016A042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9F16E-50B8-99A6-4679-1016AD62E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61087-CA97-E3F4-2C85-FB5D1CDE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D6885-5EDB-61A3-320D-32B594C9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E6E77F-F90E-E63D-8B2C-2A39C852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0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B50D-CA20-2B71-0D5C-B03B702C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9AE55-6649-D7AC-077D-9CD5EC797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48F-38B0-8AA7-38AA-1DDDDAE0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97A11-6AEC-3294-EF87-F5B4A28A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0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4D083-CB00-4F4F-200F-94C406CB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290EF-F593-853F-2035-7D3E113C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7EAE2-71FE-4F3B-D528-4B74066E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4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B880-EE50-1972-7C2F-AB1154B5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004F-5E80-6DAC-31FC-D7B8BDAEE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4A3B4-1C23-06B3-FC76-A44204C30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78528-D143-F5CD-4051-A8038E1D1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5A28A-5973-EA57-3DA4-A19FD339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D0D5F-59D3-7F46-0C32-FE193506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5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EA86-729C-CD62-9AE6-68EE2188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AD4554-194C-4890-6A92-58FDAB1F7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EC0D6-4BB6-70DC-1A41-164085E4E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CB0B1-D410-E387-49F3-D1450713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8A22F-4CB3-9D92-D53E-D7CE6667D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0FF3-3C4C-9936-B205-D9FCEDEF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1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8B86-A4EE-E92E-8A0B-AB0CAD19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9D9B9-5237-4FB0-26BB-1E594BA07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000E7-579D-1871-A416-3C21AF9A5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C5CFA-B1C9-31D9-06B5-8E2CA65E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C0CD-16E4-AC0D-4DE4-CC016739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8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69106F-67EC-5EE2-048B-2718BAC5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B22AA-D07D-1500-7B05-F47950623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2E845-D379-135E-6B90-23218C7E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32408-8509-8FF4-585C-31F40E35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AB213-0F13-3397-B429-1829EFA4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67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B3271-865E-30E5-AAF6-AD4C1C99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085E0-F3E0-652B-60AE-CCDF14A95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F3CF-46C7-DF3E-1BC2-9F84E2E74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EFABC-93DC-4538-99E2-9E8E939414C2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0F777-BD6C-0A1F-3761-BA96DD33E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70FAA-2ED6-BDE5-235B-8AC93E19F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65D73-66A5-4A90-9B0C-BFB6ED6D5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0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hex.tech/blog/comparing-density-based-methods/" TargetMode="External"/><Relationship Id="rId2" Type="http://schemas.openxmlformats.org/officeDocument/2006/relationships/hyperlink" Target="https://machinelearningmastery.com/dimensionality-reduction-algorithms-with-pyth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avatpoint.com/packages-of-data-visualization-in-python" TargetMode="External"/><Relationship Id="rId4" Type="http://schemas.openxmlformats.org/officeDocument/2006/relationships/hyperlink" Target="https://www.analyticsvidhya.com/blog/2019/10/gaussian-mixture-models-cluster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205A2-FACE-0ECA-5066-090308CF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481" y="818984"/>
            <a:ext cx="11311560" cy="3178689"/>
          </a:xfrm>
        </p:spPr>
        <p:txBody>
          <a:bodyPr>
            <a:noAutofit/>
          </a:bodyPr>
          <a:lstStyle/>
          <a:p>
            <a:r>
              <a:rPr lang="en-US" sz="15500" dirty="0">
                <a:solidFill>
                  <a:srgbClr val="FFFFFF"/>
                </a:solidFill>
              </a:rPr>
              <a:t>Crime In India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5EFFD-7C31-947C-4390-50E913671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80" y="4271490"/>
            <a:ext cx="11936361" cy="1078054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By: Daniel Phelps, Nicholas Ricci, Tyler Willis</a:t>
            </a:r>
          </a:p>
        </p:txBody>
      </p:sp>
    </p:spTree>
    <p:extLst>
      <p:ext uri="{BB962C8B-B14F-4D97-AF65-F5344CB8AC3E}">
        <p14:creationId xmlns:p14="http://schemas.microsoft.com/office/powerpoint/2010/main" val="419312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AF9CB-D2AF-7ED7-7D6F-57C4A998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Topic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DBFAA-C061-962C-40A3-FA9709ED12A8}"/>
              </a:ext>
            </a:extLst>
          </p:cNvPr>
          <p:cNvSpPr txBox="1"/>
          <p:nvPr/>
        </p:nvSpPr>
        <p:spPr>
          <a:xfrm>
            <a:off x="216310" y="1885279"/>
            <a:ext cx="1164139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Basic Data Mining Visualizations </a:t>
            </a:r>
          </a:p>
          <a:p>
            <a:r>
              <a:rPr lang="en-US" sz="2500" dirty="0"/>
              <a:t>Fundamental data visualizations, including bar graphs, line graphs, scatter plots, histograms, correlation matrices, and box plots.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/>
          </a:p>
          <a:p>
            <a:r>
              <a:rPr lang="en-US" sz="2500" b="1" dirty="0"/>
              <a:t>Dimensionality Reduction</a:t>
            </a:r>
            <a:endParaRPr lang="en-US" sz="2500" dirty="0"/>
          </a:p>
          <a:p>
            <a:r>
              <a:rPr lang="en-US" sz="2500" dirty="0"/>
              <a:t>Techniques such as PCA, LDA, and t-SNE to simplify data while retaining core patterns.</a:t>
            </a:r>
          </a:p>
          <a:p>
            <a:endParaRPr lang="en-US" sz="2500" dirty="0"/>
          </a:p>
          <a:p>
            <a:r>
              <a:rPr lang="en-US" sz="2500" b="1" dirty="0"/>
              <a:t>Clustering Algorithms</a:t>
            </a:r>
            <a:endParaRPr lang="en-US" sz="2500" dirty="0"/>
          </a:p>
          <a:p>
            <a:r>
              <a:rPr lang="en-US" sz="2500" dirty="0"/>
              <a:t>Analyzing clusters using iterative clustering, hierarchical clustering, density-based clustering, and probability-based clustering to uncover regional crime patterns and associations.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862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AF9CB-D2AF-7ED7-7D6F-57C4A998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Importing Necessary Libraries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3075A5BF-C09A-F3CE-4CE4-886F50D3D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0741"/>
            <a:ext cx="7118555" cy="534208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CA296B4-1244-B141-9A69-6A3A9CFA576E}"/>
              </a:ext>
            </a:extLst>
          </p:cNvPr>
          <p:cNvSpPr txBox="1"/>
          <p:nvPr/>
        </p:nvSpPr>
        <p:spPr>
          <a:xfrm>
            <a:off x="7236542" y="1730477"/>
            <a:ext cx="480797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following code </a:t>
            </a:r>
            <a:r>
              <a:rPr lang="en-US" sz="2200" b="1" dirty="0"/>
              <a:t>i</a:t>
            </a:r>
            <a:r>
              <a:rPr lang="en-US" sz="2200" dirty="0"/>
              <a:t>mports essential libraries for data manipulation, visualization, scaling, dimensionality reduction, and clustering algorithms.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following code configures matplotlib for inline plotting with Seaborn for enhanced and consistent visualizations.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following code suppresses warnings to maintain a cleaner output for easier code readability and analysis.</a:t>
            </a:r>
          </a:p>
        </p:txBody>
      </p:sp>
    </p:spTree>
    <p:extLst>
      <p:ext uri="{BB962C8B-B14F-4D97-AF65-F5344CB8AC3E}">
        <p14:creationId xmlns:p14="http://schemas.microsoft.com/office/powerpoint/2010/main" val="23883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4731B1-BA82-6F74-906E-49667858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Extracting the Zip File and Loading the Data</a:t>
            </a:r>
          </a:p>
        </p:txBody>
      </p:sp>
      <p:pic>
        <p:nvPicPr>
          <p:cNvPr id="9" name="Content Placeholder 8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A3636E10-E36C-A938-49D5-02EC9A1BD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5461"/>
            <a:ext cx="5673213" cy="5282539"/>
          </a:xfrm>
          <a:prstGeom prst="rect">
            <a:avLst/>
          </a:prstGeom>
        </p:spPr>
      </p:pic>
      <p:pic>
        <p:nvPicPr>
          <p:cNvPr id="11" name="Picture 10" descr="A computer screen with text and images&#10;&#10;Description automatically generated">
            <a:extLst>
              <a:ext uri="{FF2B5EF4-FFF2-40B4-BE49-F238E27FC236}">
                <a16:creationId xmlns:a16="http://schemas.microsoft.com/office/drawing/2014/main" id="{275AA2AA-1E5A-59FD-4072-C3039CE3B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13" y="1575461"/>
            <a:ext cx="6525815" cy="52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0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731B1-BA82-6F74-906E-49667858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Extracting the Zip File and Loading the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5492-4FED-1F5B-D203-56B6EFA704B5}"/>
              </a:ext>
            </a:extLst>
          </p:cNvPr>
          <p:cNvSpPr txBox="1"/>
          <p:nvPr/>
        </p:nvSpPr>
        <p:spPr>
          <a:xfrm>
            <a:off x="206477" y="1877961"/>
            <a:ext cx="1173264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Kaggle Installation and Dataset Download </a:t>
            </a:r>
          </a:p>
          <a:p>
            <a:r>
              <a:rPr lang="en-US" sz="2500" dirty="0"/>
              <a:t>The following code in the first picture installs Kaggle, sets up API credentials, and downloads the Crime in India dataset directly to </a:t>
            </a:r>
            <a:r>
              <a:rPr lang="en-US" sz="2500" dirty="0" err="1"/>
              <a:t>Colab</a:t>
            </a:r>
            <a:r>
              <a:rPr lang="en-US" sz="2500" dirty="0"/>
              <a:t>.</a:t>
            </a:r>
          </a:p>
          <a:p>
            <a:endParaRPr lang="en-US" sz="2500" dirty="0"/>
          </a:p>
          <a:p>
            <a:r>
              <a:rPr lang="en-US" sz="2500" b="1" dirty="0"/>
              <a:t>File Extraction and Consolidation</a:t>
            </a:r>
          </a:p>
          <a:p>
            <a:r>
              <a:rPr lang="en-US" sz="2500" dirty="0"/>
              <a:t>The following code in the first picture extracts the dataset and consolidates all CSV files into a central directory for organized access.</a:t>
            </a:r>
          </a:p>
          <a:p>
            <a:endParaRPr lang="en-US" sz="2500" dirty="0"/>
          </a:p>
          <a:p>
            <a:r>
              <a:rPr lang="en-US" sz="2500" b="1" dirty="0"/>
              <a:t>Data Loading into </a:t>
            </a:r>
            <a:r>
              <a:rPr lang="en-US" sz="2500" b="1" dirty="0" err="1"/>
              <a:t>DataFrames</a:t>
            </a:r>
            <a:endParaRPr lang="en-US" sz="2500" b="1" dirty="0"/>
          </a:p>
          <a:p>
            <a:r>
              <a:rPr lang="en-US" sz="2500" dirty="0"/>
              <a:t> The following code in the second picture loads each CSV file into separate </a:t>
            </a:r>
            <a:r>
              <a:rPr lang="en-US" sz="2500" dirty="0" err="1"/>
              <a:t>DataFrames</a:t>
            </a:r>
            <a:r>
              <a:rPr lang="en-US" sz="2500" dirty="0"/>
              <a:t>, handling any misaligned fields, and prints the names of loaded </a:t>
            </a:r>
            <a:r>
              <a:rPr lang="en-US" sz="2500" dirty="0" err="1"/>
              <a:t>DataFrames</a:t>
            </a:r>
            <a:r>
              <a:rPr lang="en-US" sz="2500" dirty="0"/>
              <a:t> to confirm successful import.</a:t>
            </a:r>
          </a:p>
        </p:txBody>
      </p:sp>
    </p:spTree>
    <p:extLst>
      <p:ext uri="{BB962C8B-B14F-4D97-AF65-F5344CB8AC3E}">
        <p14:creationId xmlns:p14="http://schemas.microsoft.com/office/powerpoint/2010/main" val="356218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F0C9F-E988-0436-4580-5BCCE02F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353160"/>
            <a:ext cx="10469731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Cleaning and Normalizing the Data</a:t>
            </a:r>
          </a:p>
        </p:txBody>
      </p:sp>
      <p:pic>
        <p:nvPicPr>
          <p:cNvPr id="7" name="Picture 6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D1C88DE5-9849-E7E7-A0E2-4E00D0A40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447"/>
            <a:ext cx="6095997" cy="5281553"/>
          </a:xfrm>
          <a:prstGeom prst="rect">
            <a:avLst/>
          </a:prstGeom>
        </p:spPr>
      </p:pic>
      <p:pic>
        <p:nvPicPr>
          <p:cNvPr id="5" name="Content Placeholder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670FDFB1-FDCD-B0FC-8D2C-D3F890487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75461"/>
            <a:ext cx="6095997" cy="52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15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F0C9F-E988-0436-4580-5BCCE02F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Cleaning and Normalizing the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3F7AE-BCFF-10E5-CFA8-0263EE8D0F95}"/>
              </a:ext>
            </a:extLst>
          </p:cNvPr>
          <p:cNvSpPr txBox="1"/>
          <p:nvPr/>
        </p:nvSpPr>
        <p:spPr>
          <a:xfrm>
            <a:off x="98323" y="1769806"/>
            <a:ext cx="11887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Data Loading and Cleaning</a:t>
            </a:r>
          </a:p>
          <a:p>
            <a:r>
              <a:rPr lang="en-US" sz="2800" dirty="0"/>
              <a:t>The following code in the first picture loads all CSV files into </a:t>
            </a:r>
            <a:r>
              <a:rPr lang="en-US" sz="2800" dirty="0" err="1"/>
              <a:t>DataFrames</a:t>
            </a:r>
            <a:r>
              <a:rPr lang="en-US" sz="2800" dirty="0"/>
              <a:t>, drops rows with </a:t>
            </a:r>
            <a:r>
              <a:rPr lang="en-US" sz="2800" dirty="0" err="1"/>
              <a:t>NaN</a:t>
            </a:r>
            <a:r>
              <a:rPr lang="en-US" sz="2800" dirty="0"/>
              <a:t> values, and prints the names and shapes of the cleaned </a:t>
            </a:r>
            <a:r>
              <a:rPr lang="en-US" sz="2800" dirty="0" err="1"/>
              <a:t>DataFrames</a:t>
            </a:r>
            <a:r>
              <a:rPr lang="en-US" sz="2800" dirty="0"/>
              <a:t> to confirm successful cleaning.</a:t>
            </a:r>
          </a:p>
          <a:p>
            <a:endParaRPr lang="en-US" sz="2800" dirty="0"/>
          </a:p>
          <a:p>
            <a:r>
              <a:rPr lang="en-US" sz="2800" b="1" dirty="0"/>
              <a:t>Normalization of </a:t>
            </a:r>
            <a:r>
              <a:rPr lang="en-US" sz="2800" b="1" dirty="0" err="1"/>
              <a:t>DataFrames</a:t>
            </a:r>
            <a:endParaRPr lang="en-US" sz="2800" b="1" dirty="0"/>
          </a:p>
          <a:p>
            <a:r>
              <a:rPr lang="en-US" sz="2800" dirty="0"/>
              <a:t>The following code in the second picture creates a </a:t>
            </a:r>
            <a:r>
              <a:rPr lang="en-US" sz="2800" dirty="0" err="1"/>
              <a:t>MinMaxScaler</a:t>
            </a:r>
            <a:r>
              <a:rPr lang="en-US" sz="2800" dirty="0"/>
              <a:t> instance to normalize numerical columns in each </a:t>
            </a:r>
            <a:r>
              <a:rPr lang="en-US" sz="2800" dirty="0" err="1"/>
              <a:t>DataFrame</a:t>
            </a:r>
            <a:r>
              <a:rPr lang="en-US" sz="2800" dirty="0"/>
              <a:t>, updating them accordingly and displaying the first few rows of the normalized </a:t>
            </a:r>
            <a:r>
              <a:rPr lang="en-US" sz="2800" dirty="0" err="1"/>
              <a:t>DataFrames</a:t>
            </a:r>
            <a:r>
              <a:rPr lang="en-US" sz="2800" dirty="0"/>
              <a:t> for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651219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23D7E-9C7F-75E3-7A3B-31973F0C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Bar Graph Analysis</a:t>
            </a:r>
          </a:p>
        </p:txBody>
      </p:sp>
      <p:pic>
        <p:nvPicPr>
          <p:cNvPr id="5" name="Content Placeholder 4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9110E30B-D14A-76D9-3F8B-407619CDF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0741"/>
            <a:ext cx="8115299" cy="526725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888E36-EFFC-D761-8B37-42E8D870DB73}"/>
              </a:ext>
            </a:extLst>
          </p:cNvPr>
          <p:cNvSpPr txBox="1"/>
          <p:nvPr/>
        </p:nvSpPr>
        <p:spPr>
          <a:xfrm>
            <a:off x="8115299" y="1750142"/>
            <a:ext cx="3909553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number of murders and rapes in 2013 were the lowest for the district of </a:t>
            </a:r>
            <a:r>
              <a:rPr lang="en-US" sz="1900" dirty="0" err="1"/>
              <a:t>Guntakal</a:t>
            </a:r>
            <a:r>
              <a:rPr lang="en-US" sz="1900" dirty="0"/>
              <a:t> Railway.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number of murders in 2013 were the highest for the district of </a:t>
            </a:r>
            <a:r>
              <a:rPr lang="en-US" sz="1900" dirty="0" err="1"/>
              <a:t>Amantapur</a:t>
            </a:r>
            <a:r>
              <a:rPr lang="en-US" sz="19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number of rapes in 2013 were the highest for the district of West Godavari.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From the bar graph, it appears that it’s possible there are almost no murders and rapes in </a:t>
            </a:r>
            <a:r>
              <a:rPr lang="en-US" sz="1900" dirty="0" err="1"/>
              <a:t>Guntakal</a:t>
            </a:r>
            <a:r>
              <a:rPr lang="en-US" sz="1900" dirty="0"/>
              <a:t> Railway because of its status of being a railway.</a:t>
            </a:r>
          </a:p>
        </p:txBody>
      </p:sp>
    </p:spTree>
    <p:extLst>
      <p:ext uri="{BB962C8B-B14F-4D97-AF65-F5344CB8AC3E}">
        <p14:creationId xmlns:p14="http://schemas.microsoft.com/office/powerpoint/2010/main" val="176039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AD834-FC88-5F47-A6E6-3D4CF88C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Line Graph Analysis</a:t>
            </a:r>
          </a:p>
        </p:txBody>
      </p:sp>
      <p:pic>
        <p:nvPicPr>
          <p:cNvPr id="7" name="Picture 6" descr="A graph with a line and dots&#10;&#10;Description automatically generated">
            <a:extLst>
              <a:ext uri="{FF2B5EF4-FFF2-40B4-BE49-F238E27FC236}">
                <a16:creationId xmlns:a16="http://schemas.microsoft.com/office/drawing/2014/main" id="{5F6E6CC1-44A9-9AC8-5FD9-E5C0C3426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90741"/>
            <a:ext cx="8115295" cy="52672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04F416-07A4-0F79-15FE-159089E393D6}"/>
              </a:ext>
            </a:extLst>
          </p:cNvPr>
          <p:cNvSpPr txBox="1"/>
          <p:nvPr/>
        </p:nvSpPr>
        <p:spPr>
          <a:xfrm>
            <a:off x="8115294" y="1718619"/>
            <a:ext cx="38407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line graph shows a moderately  positive trend of police personnel killings from year 2000 to year 2007.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Following the massive dip of police personnel killed in 2008, a massive spike of police personnel were killed in 2009.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trend of police personnel killings becomes unstable and hard to tell with the short amount of years given after 2008. </a:t>
            </a:r>
          </a:p>
        </p:txBody>
      </p:sp>
    </p:spTree>
    <p:extLst>
      <p:ext uri="{BB962C8B-B14F-4D97-AF65-F5344CB8AC3E}">
        <p14:creationId xmlns:p14="http://schemas.microsoft.com/office/powerpoint/2010/main" val="316237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4C5F8-A67A-336D-8984-D16AD421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Scatter Plot Analysis</a:t>
            </a:r>
          </a:p>
        </p:txBody>
      </p:sp>
      <p:pic>
        <p:nvPicPr>
          <p:cNvPr id="5" name="Picture 4" descr="A diagram of red dots&#10;&#10;Description automatically generated">
            <a:extLst>
              <a:ext uri="{FF2B5EF4-FFF2-40B4-BE49-F238E27FC236}">
                <a16:creationId xmlns:a16="http://schemas.microsoft.com/office/drawing/2014/main" id="{088E2F05-A2C5-0DE3-C924-E48040339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2745"/>
            <a:ext cx="8115299" cy="52352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0F32C4-97C5-4256-13B0-A8265E11B052}"/>
              </a:ext>
            </a:extLst>
          </p:cNvPr>
          <p:cNvSpPr txBox="1"/>
          <p:nvPr/>
        </p:nvSpPr>
        <p:spPr>
          <a:xfrm>
            <a:off x="8115296" y="1590741"/>
            <a:ext cx="3834798" cy="5189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There seems to be a strong positive trend with the scatterplot depicting total murder victims and victims above 50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Most of the data in the scatterplot is clustered/partitioned around 4000 total victims and 400 victims above 50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The outliers on the upper right area of the graph imply that there is a deeper meaning for these mass killings of an older audience and should be investigated deeper.</a:t>
            </a:r>
          </a:p>
        </p:txBody>
      </p:sp>
    </p:spTree>
    <p:extLst>
      <p:ext uri="{BB962C8B-B14F-4D97-AF65-F5344CB8AC3E}">
        <p14:creationId xmlns:p14="http://schemas.microsoft.com/office/powerpoint/2010/main" val="390894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9E2B4-B3A3-E23E-5492-B232E0365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Histogram Analysis</a:t>
            </a:r>
          </a:p>
        </p:txBody>
      </p:sp>
      <p:pic>
        <p:nvPicPr>
          <p:cNvPr id="5" name="Picture 4" descr="A graph of green squares&#10;&#10;Description automatically generated with medium confidence">
            <a:extLst>
              <a:ext uri="{FF2B5EF4-FFF2-40B4-BE49-F238E27FC236}">
                <a16:creationId xmlns:a16="http://schemas.microsoft.com/office/drawing/2014/main" id="{22B58799-57D1-3EF4-D2B6-2A3AE2817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590741"/>
            <a:ext cx="8115297" cy="5267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443C9-3C65-ACBF-C485-AAC0828DEA1A}"/>
              </a:ext>
            </a:extLst>
          </p:cNvPr>
          <p:cNvSpPr txBox="1"/>
          <p:nvPr/>
        </p:nvSpPr>
        <p:spPr>
          <a:xfrm>
            <a:off x="8229600" y="1740310"/>
            <a:ext cx="38542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appears that there is a high frequency of a very low amount of offenders arrested under recidivism as denoted by the large bin from approximately 0 to roughly 10000 offenders arrested under recidivism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histogram has a large range and contains many centers as seen by the patterns in the spread. For instance, there is a center around 50000, 20000, and even 300000 offenders arrested.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large frequency in the lack of offenders arrested, this histogram is skewed right.</a:t>
            </a:r>
          </a:p>
        </p:txBody>
      </p:sp>
    </p:spTree>
    <p:extLst>
      <p:ext uri="{BB962C8B-B14F-4D97-AF65-F5344CB8AC3E}">
        <p14:creationId xmlns:p14="http://schemas.microsoft.com/office/powerpoint/2010/main" val="1228512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575D9-D543-CF24-EA65-048DEF69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Correlation Matrix Analysis</a:t>
            </a:r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DBDDC945-D712-FA7F-41FA-D9E40457E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432"/>
            <a:ext cx="8115299" cy="5260568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2D76A2-2BBB-3CE4-6FFA-ADB0AC3E01D4}"/>
              </a:ext>
            </a:extLst>
          </p:cNvPr>
          <p:cNvSpPr txBox="1"/>
          <p:nvPr/>
        </p:nvSpPr>
        <p:spPr>
          <a:xfrm>
            <a:off x="8115299" y="1622745"/>
            <a:ext cx="3746308" cy="5193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50" dirty="0"/>
              <a:t>In terms of Juveniles Arrested (Education), the most correlated events seem to be between </a:t>
            </a:r>
            <a:r>
              <a:rPr lang="en-US" sz="1950" dirty="0" err="1"/>
              <a:t>Education_Total</a:t>
            </a:r>
            <a:r>
              <a:rPr lang="en-US" sz="1950" dirty="0"/>
              <a:t> and </a:t>
            </a:r>
            <a:r>
              <a:rPr lang="en-US" sz="1950" dirty="0" err="1"/>
              <a:t>education_Upto_primary</a:t>
            </a:r>
            <a:r>
              <a:rPr lang="en-US" sz="195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50" dirty="0"/>
              <a:t>Meanwhile, the least correlated events seem to be between </a:t>
            </a:r>
            <a:r>
              <a:rPr lang="en-US" sz="1950" dirty="0" err="1"/>
              <a:t>Education_Total</a:t>
            </a:r>
            <a:r>
              <a:rPr lang="en-US" sz="1950" dirty="0"/>
              <a:t> and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50" dirty="0"/>
              <a:t>Furthermore, a juvenile in educations that are in secondary and/or higher also experience large correlations to being arrested especially if they are illiterate.</a:t>
            </a:r>
          </a:p>
        </p:txBody>
      </p:sp>
    </p:spTree>
    <p:extLst>
      <p:ext uri="{BB962C8B-B14F-4D97-AF65-F5344CB8AC3E}">
        <p14:creationId xmlns:p14="http://schemas.microsoft.com/office/powerpoint/2010/main" val="3162136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4BE0C-A730-221E-8421-1562AA368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Boxplot Analysis</a:t>
            </a:r>
          </a:p>
        </p:txBody>
      </p:sp>
      <p:pic>
        <p:nvPicPr>
          <p:cNvPr id="11" name="Content Placeholder 10" descr="A graph of a number of people&#10;&#10;Description automatically generated">
            <a:extLst>
              <a:ext uri="{FF2B5EF4-FFF2-40B4-BE49-F238E27FC236}">
                <a16:creationId xmlns:a16="http://schemas.microsoft.com/office/drawing/2014/main" id="{A613D37F-79DD-18E0-DC4A-93D3E5F73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2744"/>
            <a:ext cx="8115299" cy="5235255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C60C54-BD72-F867-10C3-311AB93BC9F9}"/>
              </a:ext>
            </a:extLst>
          </p:cNvPr>
          <p:cNvSpPr txBox="1"/>
          <p:nvPr/>
        </p:nvSpPr>
        <p:spPr>
          <a:xfrm>
            <a:off x="7993625" y="1578187"/>
            <a:ext cx="387391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Delhi had the largest IQR in the boxplots of police housing by units, furthermore, the IQRs of this csv were much larger compared to the other csv’s chosen.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Delhi had a much higher maximum value at around 10000 to be precise than all the other boxplots.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There appear to be considerably more outliers in boxplots that have very tiny IQRs than large IQR boxplots. For instance, places like Mizoram, Assam, and the Andaman &amp; Nicobar Islands seem to have a very small number of houses provided by the department and have more outliers than the places with a larger amount of houses provided. </a:t>
            </a:r>
          </a:p>
        </p:txBody>
      </p:sp>
    </p:spTree>
    <p:extLst>
      <p:ext uri="{BB962C8B-B14F-4D97-AF65-F5344CB8AC3E}">
        <p14:creationId xmlns:p14="http://schemas.microsoft.com/office/powerpoint/2010/main" val="114614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8EC38-DCB4-96CA-D878-4EEA26F1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Applying PCA, LDA, and t-SNE</a:t>
            </a:r>
          </a:p>
        </p:txBody>
      </p:sp>
      <p:pic>
        <p:nvPicPr>
          <p:cNvPr id="5" name="Picture 4" descr="A graph of blue dots&#10;&#10;Description automatically generated">
            <a:extLst>
              <a:ext uri="{FF2B5EF4-FFF2-40B4-BE49-F238E27FC236}">
                <a16:creationId xmlns:a16="http://schemas.microsoft.com/office/drawing/2014/main" id="{47C89A74-EEA7-C8DE-F812-649DAC36D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90741"/>
            <a:ext cx="8115294" cy="52672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9527FF9-9F2A-F945-7236-C45434BBB652}"/>
              </a:ext>
            </a:extLst>
          </p:cNvPr>
          <p:cNvSpPr txBox="1"/>
          <p:nvPr/>
        </p:nvSpPr>
        <p:spPr>
          <a:xfrm>
            <a:off x="7678994" y="1685213"/>
            <a:ext cx="446076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50" dirty="0"/>
              <a:t>Data is projected onto two principal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50" dirty="0"/>
              <a:t>Linear separation exists in this projection, but the data points are highly compressed in a sloping pattern.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50" dirty="0"/>
              <a:t>The data shows variance but lacks clear clustering, indicating that the primary goal is dimensional reduction rather than classification.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50" dirty="0"/>
              <a:t>PCA simplifies the data, but no distinct class separations or clusters are evident in this projection.</a:t>
            </a:r>
          </a:p>
        </p:txBody>
      </p:sp>
    </p:spTree>
    <p:extLst>
      <p:ext uri="{BB962C8B-B14F-4D97-AF65-F5344CB8AC3E}">
        <p14:creationId xmlns:p14="http://schemas.microsoft.com/office/powerpoint/2010/main" val="2135977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8EC38-DCB4-96CA-D878-4EEA26F1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Applying PCA, LDA, and t-SNE</a:t>
            </a:r>
          </a:p>
        </p:txBody>
      </p:sp>
      <p:pic>
        <p:nvPicPr>
          <p:cNvPr id="7" name="Picture 6" descr="A graph with many colored dots&#10;&#10;Description automatically generated">
            <a:extLst>
              <a:ext uri="{FF2B5EF4-FFF2-40B4-BE49-F238E27FC236}">
                <a16:creationId xmlns:a16="http://schemas.microsoft.com/office/drawing/2014/main" id="{423EF428-3D97-2C32-4784-0F7B4986C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590741"/>
            <a:ext cx="8134352" cy="52672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49C6A7-06C5-207F-755E-08F0F1767FE6}"/>
              </a:ext>
            </a:extLst>
          </p:cNvPr>
          <p:cNvSpPr txBox="1"/>
          <p:nvPr/>
        </p:nvSpPr>
        <p:spPr>
          <a:xfrm>
            <a:off x="8209935" y="1710813"/>
            <a:ext cx="384441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clustering patterns can be observed across the two linear discriminants.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categories (actual vs. sanctioned police strength) are well-separated into distinct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LDA maximizes class separability, indicating it is effective for classification tasks within this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LDA shows that the police strength categories can be clearly differentiated, making it suitable for supervised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9134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8EC38-DCB4-96CA-D878-4EEA26F1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Applying PCA, LDA, and t-SNE</a:t>
            </a:r>
          </a:p>
        </p:txBody>
      </p:sp>
      <p:pic>
        <p:nvPicPr>
          <p:cNvPr id="11" name="Picture 10" descr="A map of different colored dots&#10;&#10;Description automatically generated">
            <a:extLst>
              <a:ext uri="{FF2B5EF4-FFF2-40B4-BE49-F238E27FC236}">
                <a16:creationId xmlns:a16="http://schemas.microsoft.com/office/drawing/2014/main" id="{2BC270F1-BF49-8C11-54A4-3A0C9E729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22745"/>
            <a:ext cx="8115299" cy="5233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A9637A-5FED-DD15-7C36-9B18F4AA5489}"/>
              </a:ext>
            </a:extLst>
          </p:cNvPr>
          <p:cNvSpPr txBox="1"/>
          <p:nvPr/>
        </p:nvSpPr>
        <p:spPr>
          <a:xfrm>
            <a:off x="8115298" y="1629433"/>
            <a:ext cx="3801399" cy="4932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Distinct clusters of data points are evident, with some data groups overlapping in the center.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More effective at capturing non-linear relationships between different data categories compared to PCA and LDA.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Each cluster represents similar categories, showing that t-SNE uncovers complex groupings.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t-SNE provides a more detailed clustering and visualization of the data, ideal for exploring complex, non-linear patterns.</a:t>
            </a:r>
          </a:p>
        </p:txBody>
      </p:sp>
    </p:spTree>
    <p:extLst>
      <p:ext uri="{BB962C8B-B14F-4D97-AF65-F5344CB8AC3E}">
        <p14:creationId xmlns:p14="http://schemas.microsoft.com/office/powerpoint/2010/main" val="2971889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69C3F-F117-345A-02ED-183380E5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Iterative Clustering Analysis</a:t>
            </a:r>
          </a:p>
        </p:txBody>
      </p:sp>
      <p:pic>
        <p:nvPicPr>
          <p:cNvPr id="5" name="Picture 4" descr="A graph with colored dots&#10;&#10;Description automatically generated">
            <a:extLst>
              <a:ext uri="{FF2B5EF4-FFF2-40B4-BE49-F238E27FC236}">
                <a16:creationId xmlns:a16="http://schemas.microsoft.com/office/drawing/2014/main" id="{6AA383CD-8801-7343-4BAD-9B7E406B9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0741"/>
            <a:ext cx="8115295" cy="5267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9E8B11-03CA-F284-0522-493358FD3896}"/>
              </a:ext>
            </a:extLst>
          </p:cNvPr>
          <p:cNvSpPr txBox="1"/>
          <p:nvPr/>
        </p:nvSpPr>
        <p:spPr>
          <a:xfrm>
            <a:off x="8209935" y="1750142"/>
            <a:ext cx="37460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K-Means is an iterative clustering algorithm that partitions data into k-distinct clusters based on feature similarity. The algorithm iteratively assigns data points to the nearest cluster center and updates the cluster centers until convergence.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K-means clustering seems to do a good job in taking the data shown from earlier from the scatterplot and breaking it up into three reasonable clusters.</a:t>
            </a:r>
          </a:p>
        </p:txBody>
      </p:sp>
    </p:spTree>
    <p:extLst>
      <p:ext uri="{BB962C8B-B14F-4D97-AF65-F5344CB8AC3E}">
        <p14:creationId xmlns:p14="http://schemas.microsoft.com/office/powerpoint/2010/main" val="3473907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66A6E-3482-80F1-2565-86A70282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Hierarchical Clustering Analysis</a:t>
            </a:r>
          </a:p>
        </p:txBody>
      </p:sp>
      <p:pic>
        <p:nvPicPr>
          <p:cNvPr id="5" name="Content Placeholder 4" descr="A graph with colored lines and numbers&#10;&#10;Description automatically generated">
            <a:extLst>
              <a:ext uri="{FF2B5EF4-FFF2-40B4-BE49-F238E27FC236}">
                <a16:creationId xmlns:a16="http://schemas.microsoft.com/office/drawing/2014/main" id="{C5420BA2-9EEC-F042-18FA-E9445C7A7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1590741"/>
            <a:ext cx="8115297" cy="526725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711419-5482-BA0E-7722-2355C5F6BC51}"/>
              </a:ext>
            </a:extLst>
          </p:cNvPr>
          <p:cNvSpPr txBox="1"/>
          <p:nvPr/>
        </p:nvSpPr>
        <p:spPr>
          <a:xfrm>
            <a:off x="8239432" y="1759974"/>
            <a:ext cx="3716594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dendrogram provides a visual representation of the relationships between data points.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In order to focus on broader groupings, our team took the original dendrogram and truncated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dendrogram illustrates how closely related different samples are, which can provide insights into the characteristics of murder victims across various age groups.</a:t>
            </a:r>
            <a:endParaRPr lang="en-US" sz="1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88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66A6E-3482-80F1-2565-86A70282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Hierarchical Clustering Analysis</a:t>
            </a:r>
          </a:p>
        </p:txBody>
      </p:sp>
      <p:pic>
        <p:nvPicPr>
          <p:cNvPr id="5" name="Picture 4" descr="A graph with colored dots&#10;&#10;Description automatically generated">
            <a:extLst>
              <a:ext uri="{FF2B5EF4-FFF2-40B4-BE49-F238E27FC236}">
                <a16:creationId xmlns:a16="http://schemas.microsoft.com/office/drawing/2014/main" id="{EF6B7ED0-8499-5708-B826-94784CD73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0742"/>
            <a:ext cx="8115295" cy="5267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8A9C0F-B0A9-B6ED-A27D-D714BC1C25FF}"/>
              </a:ext>
            </a:extLst>
          </p:cNvPr>
          <p:cNvSpPr txBox="1"/>
          <p:nvPr/>
        </p:nvSpPr>
        <p:spPr>
          <a:xfrm>
            <a:off x="8115295" y="1789076"/>
            <a:ext cx="3929222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data appears to be clustered in a similar manner as the K-means clustering and does a good job with partitioning.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appear to be very few points that are differently clustered than the K-means approach.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implies that both iterative clustering and hierarchical clustering are good approaches to this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24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A10AE-8053-3D50-85AE-473A3010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Density Based Clustering Analysis</a:t>
            </a:r>
          </a:p>
        </p:txBody>
      </p:sp>
      <p:pic>
        <p:nvPicPr>
          <p:cNvPr id="5" name="Picture 4" descr="A graph with blue dots and red dots&#10;&#10;Description automatically generated">
            <a:extLst>
              <a:ext uri="{FF2B5EF4-FFF2-40B4-BE49-F238E27FC236}">
                <a16:creationId xmlns:a16="http://schemas.microsoft.com/office/drawing/2014/main" id="{BF318904-FA7A-76B7-0837-050E5C86E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0741"/>
            <a:ext cx="8115295" cy="5267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527258-1DD3-F6F7-CDC3-1A52A742A228}"/>
              </a:ext>
            </a:extLst>
          </p:cNvPr>
          <p:cNvSpPr txBox="1"/>
          <p:nvPr/>
        </p:nvSpPr>
        <p:spPr>
          <a:xfrm>
            <a:off x="8200103" y="1759974"/>
            <a:ext cx="37952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50" dirty="0"/>
              <a:t>DBSCAN identifies clusters based on the density of data points in the feature space. It groups closely packed points while marking sparse regions as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50" dirty="0"/>
              <a:t>It appears that this approach wasn’t particularly as useful in clustering as the K-means or Hierarchical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50" dirty="0"/>
              <a:t>The one point in red may have some significance in terms of this approach, but it seems like DBSCAN is not the best here.</a:t>
            </a:r>
          </a:p>
        </p:txBody>
      </p:sp>
    </p:spTree>
    <p:extLst>
      <p:ext uri="{BB962C8B-B14F-4D97-AF65-F5344CB8AC3E}">
        <p14:creationId xmlns:p14="http://schemas.microsoft.com/office/powerpoint/2010/main" val="1189060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6D3B5-5BE9-5BC7-0445-DF406B1D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Probability Based Clustering Analysis</a:t>
            </a:r>
          </a:p>
        </p:txBody>
      </p:sp>
      <p:pic>
        <p:nvPicPr>
          <p:cNvPr id="5" name="Picture 4" descr="A graph with red and green dots&#10;&#10;Description automatically generated">
            <a:extLst>
              <a:ext uri="{FF2B5EF4-FFF2-40B4-BE49-F238E27FC236}">
                <a16:creationId xmlns:a16="http://schemas.microsoft.com/office/drawing/2014/main" id="{2FF5D800-7803-6061-F07C-9CF3F0196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90741"/>
            <a:ext cx="8115295" cy="5267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154A17-591C-8AC6-41DC-8E6199FB4D62}"/>
              </a:ext>
            </a:extLst>
          </p:cNvPr>
          <p:cNvSpPr txBox="1"/>
          <p:nvPr/>
        </p:nvSpPr>
        <p:spPr>
          <a:xfrm>
            <a:off x="8259097" y="1740310"/>
            <a:ext cx="38149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GMM is a probabilistic model that assumes data points are generated from a mixture of several Gaussian distributions. It provides a soft clustering approach where each data point has a probability of belonging to each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this approach of clustering, it appears that a good attempt was made to cluster the data based on probability as it does include three clusters and the clusters are almost similar to the ones generated in K-means and Hierarchical clustering.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29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98E1F-2336-DC0D-AE11-DE08272D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B9F01D-27EE-CB59-E007-1D09B4F7FBB4}"/>
              </a:ext>
            </a:extLst>
          </p:cNvPr>
          <p:cNvSpPr txBox="1"/>
          <p:nvPr/>
        </p:nvSpPr>
        <p:spPr>
          <a:xfrm>
            <a:off x="-4" y="1622745"/>
            <a:ext cx="12044519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/>
              <a:t>Data Visualizations</a:t>
            </a:r>
          </a:p>
          <a:p>
            <a:r>
              <a:rPr lang="en-US" sz="1700" dirty="0"/>
              <a:t>Various visualization techniques, including bar graphs, line graphs, scatter plots, histograms, correlation matrices, and boxplots, effectively illustrated crime trends and relationships within the dataset, facilitating a clearer understanding of the data.</a:t>
            </a:r>
          </a:p>
          <a:p>
            <a:endParaRPr lang="en-US" sz="1700" dirty="0"/>
          </a:p>
          <a:p>
            <a:r>
              <a:rPr lang="en-US" sz="1700" b="1" dirty="0"/>
              <a:t>Dimensionality Reduction</a:t>
            </a:r>
          </a:p>
          <a:p>
            <a:r>
              <a:rPr lang="en-US" sz="1700" dirty="0"/>
              <a:t>Techniques like PCA, LDA, and t-SNE were instrumental in simplifying complex datasets, highlighting significant variables while preserving essential information for further analysis.</a:t>
            </a:r>
          </a:p>
          <a:p>
            <a:endParaRPr lang="en-US" sz="1700" dirty="0"/>
          </a:p>
          <a:p>
            <a:r>
              <a:rPr lang="en-US" sz="1700" b="1" dirty="0"/>
              <a:t>Clustering Approaches</a:t>
            </a:r>
          </a:p>
          <a:p>
            <a:r>
              <a:rPr lang="en-US" sz="1700" dirty="0"/>
              <a:t>Implementing iterative, hierarchical, density-based, and probability-based clustering methods revealed distinct patterns and groupings within the data, offering insights into crime demographics and behaviors.</a:t>
            </a:r>
          </a:p>
          <a:p>
            <a:endParaRPr lang="en-US" sz="1700" dirty="0"/>
          </a:p>
          <a:p>
            <a:r>
              <a:rPr lang="en-US" sz="1700" b="1" dirty="0"/>
              <a:t>Key Insights</a:t>
            </a:r>
          </a:p>
          <a:p>
            <a:r>
              <a:rPr lang="en-US" sz="1700" dirty="0"/>
              <a:t>The combination of visualizations and advanced analysis techniques enhanced our understanding of crime data, identifying critical trends and anomalies that can inform decision-making.</a:t>
            </a:r>
          </a:p>
          <a:p>
            <a:endParaRPr lang="en-US" sz="1700" dirty="0"/>
          </a:p>
          <a:p>
            <a:r>
              <a:rPr lang="en-US" sz="1700" b="1" dirty="0"/>
              <a:t>Future Directions</a:t>
            </a:r>
          </a:p>
          <a:p>
            <a:r>
              <a:rPr lang="en-US" sz="1700" dirty="0"/>
              <a:t>Continued exploration of advanced techniques and integration of additional datasets can further deepen insights and support effective crime prevention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859417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1A844-3194-AF36-71DD-3C86653B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Works Cited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37478-1294-EED7-319A-65327132371B}"/>
              </a:ext>
            </a:extLst>
          </p:cNvPr>
          <p:cNvSpPr txBox="1"/>
          <p:nvPr/>
        </p:nvSpPr>
        <p:spPr>
          <a:xfrm>
            <a:off x="117987" y="1759974"/>
            <a:ext cx="118970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https://machinelearningmastery.com/dimensionality-reduction-algorithms-with-python/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hlinkClick r:id="rId3"/>
              </a:rPr>
              <a:t>https://hex.tech/blog/comparing-density-based-methods/</a:t>
            </a:r>
            <a:endParaRPr lang="en-US" dirty="0"/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>
                <a:hlinkClick r:id="rId4"/>
              </a:rPr>
              <a:t>https://www.analyticsvidhya.com/blog/2019/10/gaussian-mixture-models-clustering/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hlinkClick r:id="rId5"/>
              </a:rPr>
              <a:t>https://www.javatpoint.com/packages-of-data-visualization-in-python</a:t>
            </a:r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936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5ca9bd-47bd-4ede-a832-fc65fa9e78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C360F130E1A24B8483E00CDB095E27" ma:contentTypeVersion="17" ma:contentTypeDescription="Create a new document." ma:contentTypeScope="" ma:versionID="c6711d8609d2fc8b92f03d2ffaf06bfe">
  <xsd:schema xmlns:xsd="http://www.w3.org/2001/XMLSchema" xmlns:xs="http://www.w3.org/2001/XMLSchema" xmlns:p="http://schemas.microsoft.com/office/2006/metadata/properties" xmlns:ns3="755ca9bd-47bd-4ede-a832-fc65fa9e78de" xmlns:ns4="e2d12f73-0dc8-4a2c-8a70-f7a65740b432" targetNamespace="http://schemas.microsoft.com/office/2006/metadata/properties" ma:root="true" ma:fieldsID="01044b4fd3a37fcab81fc2b1515cf92f" ns3:_="" ns4:_="">
    <xsd:import namespace="755ca9bd-47bd-4ede-a832-fc65fa9e78de"/>
    <xsd:import namespace="e2d12f73-0dc8-4a2c-8a70-f7a65740b4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5ca9bd-47bd-4ede-a832-fc65fa9e7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d12f73-0dc8-4a2c-8a70-f7a65740b43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2892E6-D47F-4BCF-8E0A-032C3FCF61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14AAA6-84F8-42F3-B648-1E7A0EB00313}">
  <ds:schemaRefs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e2d12f73-0dc8-4a2c-8a70-f7a65740b432"/>
    <ds:schemaRef ds:uri="755ca9bd-47bd-4ede-a832-fc65fa9e78d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1248601-7C9D-4F81-9886-4174F16B2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5ca9bd-47bd-4ede-a832-fc65fa9e78de"/>
    <ds:schemaRef ds:uri="e2d12f73-0dc8-4a2c-8a70-f7a65740b4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2968</TotalTime>
  <Words>1597</Words>
  <Application>Microsoft Office PowerPoint</Application>
  <PresentationFormat>Widescreen</PresentationFormat>
  <Paragraphs>147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Crime In India</vt:lpstr>
      <vt:lpstr>Topic Selection</vt:lpstr>
      <vt:lpstr>Importing Necessary Libraries</vt:lpstr>
      <vt:lpstr>Extracting the Zip File and Loading the Data</vt:lpstr>
      <vt:lpstr>Extracting the Zip File and Loading the Data</vt:lpstr>
      <vt:lpstr>Cleaning and Normalizing the Data</vt:lpstr>
      <vt:lpstr>Cleaning and Normalizing the Data</vt:lpstr>
      <vt:lpstr>Bar Graph Analysis</vt:lpstr>
      <vt:lpstr>Line Graph Analysis</vt:lpstr>
      <vt:lpstr>Scatter Plot Analysis</vt:lpstr>
      <vt:lpstr>Histogram Analysis</vt:lpstr>
      <vt:lpstr>Correlation Matrix Analysis</vt:lpstr>
      <vt:lpstr>Boxplot Analysis</vt:lpstr>
      <vt:lpstr>Applying PCA, LDA, and t-SNE</vt:lpstr>
      <vt:lpstr>Applying PCA, LDA, and t-SNE</vt:lpstr>
      <vt:lpstr>Applying PCA, LDA, and t-SNE</vt:lpstr>
      <vt:lpstr>Iterative Clustering Analysis</vt:lpstr>
      <vt:lpstr>Hierarchical Clustering Analysis</vt:lpstr>
      <vt:lpstr>Hierarchical Clustering Analysis</vt:lpstr>
      <vt:lpstr>Density Based Clustering Analysis</vt:lpstr>
      <vt:lpstr>Probability Based Clustering Analysis</vt:lpstr>
      <vt:lpstr>Conclusion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Ricci, Nicholas</dc:creator>
  <cp:lastModifiedBy>Ricci, Nicholas</cp:lastModifiedBy>
  <cp:revision>2</cp:revision>
  <dcterms:created xsi:type="dcterms:W3CDTF">2024-10-23T14:58:41Z</dcterms:created>
  <dcterms:modified xsi:type="dcterms:W3CDTF">2024-12-29T17:00:25Z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0x0101000AC360F130E1A24B8483E00CDB095E27</vt:lpwstr>
  </property>
</Properties>
</file>